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82" r:id="rId4"/>
    <p:sldId id="283" r:id="rId5"/>
    <p:sldId id="284" r:id="rId6"/>
    <p:sldId id="285" r:id="rId7"/>
    <p:sldId id="286" r:id="rId8"/>
    <p:sldId id="287" r:id="rId9"/>
    <p:sldId id="288"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3" r:id="rId23"/>
    <p:sldId id="274" r:id="rId24"/>
    <p:sldId id="275" r:id="rId25"/>
    <p:sldId id="276" r:id="rId26"/>
    <p:sldId id="277" r:id="rId27"/>
    <p:sldId id="278" r:id="rId28"/>
    <p:sldId id="270" r:id="rId29"/>
    <p:sldId id="279" r:id="rId30"/>
    <p:sldId id="280" r:id="rId31"/>
    <p:sldId id="281" r:id="rId32"/>
    <p:sldId id="271" r:id="rId33"/>
    <p:sldId id="272"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4" d="100"/>
          <a:sy n="114" d="100"/>
        </p:scale>
        <p:origin x="41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D17805-8720-4903-9247-03555E1E128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F29DF25-6177-4061-81CE-CF569A6AF35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3B49325-B290-4C29-AA4D-3C4905DF1854}"/>
              </a:ext>
            </a:extLst>
          </p:cNvPr>
          <p:cNvSpPr>
            <a:spLocks noGrp="1"/>
          </p:cNvSpPr>
          <p:nvPr>
            <p:ph type="dt" sz="half" idx="10"/>
          </p:nvPr>
        </p:nvSpPr>
        <p:spPr/>
        <p:txBody>
          <a:bodyPr/>
          <a:lstStyle/>
          <a:p>
            <a:fld id="{B6DE617D-A115-46CC-9C53-2DF8D63C43FE}" type="datetimeFigureOut">
              <a:rPr lang="en-US" smtClean="0"/>
              <a:t>3/18/2024</a:t>
            </a:fld>
            <a:endParaRPr lang="en-US"/>
          </a:p>
        </p:txBody>
      </p:sp>
      <p:sp>
        <p:nvSpPr>
          <p:cNvPr id="5" name="Footer Placeholder 4">
            <a:extLst>
              <a:ext uri="{FF2B5EF4-FFF2-40B4-BE49-F238E27FC236}">
                <a16:creationId xmlns:a16="http://schemas.microsoft.com/office/drawing/2014/main" id="{2DE8EDD9-099C-4A47-95B4-176A26FDC5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4E0A6C-621A-4155-983B-ED8628D9B8D1}"/>
              </a:ext>
            </a:extLst>
          </p:cNvPr>
          <p:cNvSpPr>
            <a:spLocks noGrp="1"/>
          </p:cNvSpPr>
          <p:nvPr>
            <p:ph type="sldNum" sz="quarter" idx="12"/>
          </p:nvPr>
        </p:nvSpPr>
        <p:spPr/>
        <p:txBody>
          <a:bodyPr/>
          <a:lstStyle/>
          <a:p>
            <a:fld id="{879C4BC6-B49A-4AAE-894B-36E1053772A9}" type="slidenum">
              <a:rPr lang="en-US" smtClean="0"/>
              <a:t>‹#›</a:t>
            </a:fld>
            <a:endParaRPr lang="en-US"/>
          </a:p>
        </p:txBody>
      </p:sp>
    </p:spTree>
    <p:extLst>
      <p:ext uri="{BB962C8B-B14F-4D97-AF65-F5344CB8AC3E}">
        <p14:creationId xmlns:p14="http://schemas.microsoft.com/office/powerpoint/2010/main" val="35981669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CA49DB-F68C-4C58-A36D-6A184CF5655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E7EEC65-E540-46B6-AC39-E5A22D63D7F6}"/>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E94221-B0B7-4F3B-974E-9C318EA4B128}"/>
              </a:ext>
            </a:extLst>
          </p:cNvPr>
          <p:cNvSpPr>
            <a:spLocks noGrp="1"/>
          </p:cNvSpPr>
          <p:nvPr>
            <p:ph type="dt" sz="half" idx="10"/>
          </p:nvPr>
        </p:nvSpPr>
        <p:spPr/>
        <p:txBody>
          <a:bodyPr/>
          <a:lstStyle/>
          <a:p>
            <a:fld id="{B6DE617D-A115-46CC-9C53-2DF8D63C43FE}" type="datetimeFigureOut">
              <a:rPr lang="en-US" smtClean="0"/>
              <a:t>3/18/2024</a:t>
            </a:fld>
            <a:endParaRPr lang="en-US"/>
          </a:p>
        </p:txBody>
      </p:sp>
      <p:sp>
        <p:nvSpPr>
          <p:cNvPr id="5" name="Footer Placeholder 4">
            <a:extLst>
              <a:ext uri="{FF2B5EF4-FFF2-40B4-BE49-F238E27FC236}">
                <a16:creationId xmlns:a16="http://schemas.microsoft.com/office/drawing/2014/main" id="{C2E85365-1D4D-4AAE-ADD4-BA75E56F9F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CEB6AD-A4BA-4B2B-AD62-8269C5E5032C}"/>
              </a:ext>
            </a:extLst>
          </p:cNvPr>
          <p:cNvSpPr>
            <a:spLocks noGrp="1"/>
          </p:cNvSpPr>
          <p:nvPr>
            <p:ph type="sldNum" sz="quarter" idx="12"/>
          </p:nvPr>
        </p:nvSpPr>
        <p:spPr/>
        <p:txBody>
          <a:bodyPr/>
          <a:lstStyle/>
          <a:p>
            <a:fld id="{879C4BC6-B49A-4AAE-894B-36E1053772A9}" type="slidenum">
              <a:rPr lang="en-US" smtClean="0"/>
              <a:t>‹#›</a:t>
            </a:fld>
            <a:endParaRPr lang="en-US"/>
          </a:p>
        </p:txBody>
      </p:sp>
    </p:spTree>
    <p:extLst>
      <p:ext uri="{BB962C8B-B14F-4D97-AF65-F5344CB8AC3E}">
        <p14:creationId xmlns:p14="http://schemas.microsoft.com/office/powerpoint/2010/main" val="35443589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F3289-1A95-4884-97DC-BF9AE21D731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3E4A145-AD0F-493F-8C17-60432318822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A02A1667-020C-426D-B960-2CA95D527F35}"/>
              </a:ext>
            </a:extLst>
          </p:cNvPr>
          <p:cNvSpPr>
            <a:spLocks noGrp="1"/>
          </p:cNvSpPr>
          <p:nvPr>
            <p:ph type="dt" sz="half" idx="10"/>
          </p:nvPr>
        </p:nvSpPr>
        <p:spPr/>
        <p:txBody>
          <a:bodyPr/>
          <a:lstStyle/>
          <a:p>
            <a:fld id="{B6DE617D-A115-46CC-9C53-2DF8D63C43FE}" type="datetimeFigureOut">
              <a:rPr lang="en-US" smtClean="0"/>
              <a:t>3/18/2024</a:t>
            </a:fld>
            <a:endParaRPr lang="en-US"/>
          </a:p>
        </p:txBody>
      </p:sp>
      <p:sp>
        <p:nvSpPr>
          <p:cNvPr id="5" name="Footer Placeholder 4">
            <a:extLst>
              <a:ext uri="{FF2B5EF4-FFF2-40B4-BE49-F238E27FC236}">
                <a16:creationId xmlns:a16="http://schemas.microsoft.com/office/drawing/2014/main" id="{C3241210-5E3B-47F1-AC4C-BEA36C5A44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6613F10-5CB8-4C2A-9E4B-9F1032C9D245}"/>
              </a:ext>
            </a:extLst>
          </p:cNvPr>
          <p:cNvSpPr>
            <a:spLocks noGrp="1"/>
          </p:cNvSpPr>
          <p:nvPr>
            <p:ph type="sldNum" sz="quarter" idx="12"/>
          </p:nvPr>
        </p:nvSpPr>
        <p:spPr/>
        <p:txBody>
          <a:bodyPr/>
          <a:lstStyle/>
          <a:p>
            <a:fld id="{879C4BC6-B49A-4AAE-894B-36E1053772A9}" type="slidenum">
              <a:rPr lang="en-US" smtClean="0"/>
              <a:t>‹#›</a:t>
            </a:fld>
            <a:endParaRPr lang="en-US"/>
          </a:p>
        </p:txBody>
      </p:sp>
    </p:spTree>
    <p:extLst>
      <p:ext uri="{BB962C8B-B14F-4D97-AF65-F5344CB8AC3E}">
        <p14:creationId xmlns:p14="http://schemas.microsoft.com/office/powerpoint/2010/main" val="22851036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98B95-12C7-4905-BBC9-F06C8B4B40E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D10194C-010B-4AB3-ADD2-85E43084E998}"/>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0780646-B98E-44EA-9FF3-4DF8AC4F7C1C}"/>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B509906-FA1C-4FD3-8CFC-669AC3BCF6AE}"/>
              </a:ext>
            </a:extLst>
          </p:cNvPr>
          <p:cNvSpPr>
            <a:spLocks noGrp="1"/>
          </p:cNvSpPr>
          <p:nvPr>
            <p:ph type="dt" sz="half" idx="10"/>
          </p:nvPr>
        </p:nvSpPr>
        <p:spPr/>
        <p:txBody>
          <a:bodyPr/>
          <a:lstStyle/>
          <a:p>
            <a:fld id="{B6DE617D-A115-46CC-9C53-2DF8D63C43FE}" type="datetimeFigureOut">
              <a:rPr lang="en-US" smtClean="0"/>
              <a:t>3/18/2024</a:t>
            </a:fld>
            <a:endParaRPr lang="en-US"/>
          </a:p>
        </p:txBody>
      </p:sp>
      <p:sp>
        <p:nvSpPr>
          <p:cNvPr id="6" name="Footer Placeholder 5">
            <a:extLst>
              <a:ext uri="{FF2B5EF4-FFF2-40B4-BE49-F238E27FC236}">
                <a16:creationId xmlns:a16="http://schemas.microsoft.com/office/drawing/2014/main" id="{09D3580A-71B2-4224-8F39-0E854299296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B37347D-3A07-4C1A-B6B9-F370255FA738}"/>
              </a:ext>
            </a:extLst>
          </p:cNvPr>
          <p:cNvSpPr>
            <a:spLocks noGrp="1"/>
          </p:cNvSpPr>
          <p:nvPr>
            <p:ph type="sldNum" sz="quarter" idx="12"/>
          </p:nvPr>
        </p:nvSpPr>
        <p:spPr/>
        <p:txBody>
          <a:bodyPr/>
          <a:lstStyle/>
          <a:p>
            <a:fld id="{879C4BC6-B49A-4AAE-894B-36E1053772A9}" type="slidenum">
              <a:rPr lang="en-US" smtClean="0"/>
              <a:t>‹#›</a:t>
            </a:fld>
            <a:endParaRPr lang="en-US"/>
          </a:p>
        </p:txBody>
      </p:sp>
    </p:spTree>
    <p:extLst>
      <p:ext uri="{BB962C8B-B14F-4D97-AF65-F5344CB8AC3E}">
        <p14:creationId xmlns:p14="http://schemas.microsoft.com/office/powerpoint/2010/main" val="21886859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D70074-6330-4EBB-B3DC-4C8683F3FBD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8136429-FED6-4332-B381-E5A85E4B1BA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AC8C12BC-C0AA-4DF0-8335-31334DEF8445}"/>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87780E6-A145-45FD-8976-FFB960BD003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FBF3FCB2-BD36-40E2-AA69-C8DF1FDA4C68}"/>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B4DE418-339F-4DD0-BE5E-B8538CCA75AC}"/>
              </a:ext>
            </a:extLst>
          </p:cNvPr>
          <p:cNvSpPr>
            <a:spLocks noGrp="1"/>
          </p:cNvSpPr>
          <p:nvPr>
            <p:ph type="dt" sz="half" idx="10"/>
          </p:nvPr>
        </p:nvSpPr>
        <p:spPr/>
        <p:txBody>
          <a:bodyPr/>
          <a:lstStyle/>
          <a:p>
            <a:fld id="{B6DE617D-A115-46CC-9C53-2DF8D63C43FE}" type="datetimeFigureOut">
              <a:rPr lang="en-US" smtClean="0"/>
              <a:t>3/18/2024</a:t>
            </a:fld>
            <a:endParaRPr lang="en-US"/>
          </a:p>
        </p:txBody>
      </p:sp>
      <p:sp>
        <p:nvSpPr>
          <p:cNvPr id="8" name="Footer Placeholder 7">
            <a:extLst>
              <a:ext uri="{FF2B5EF4-FFF2-40B4-BE49-F238E27FC236}">
                <a16:creationId xmlns:a16="http://schemas.microsoft.com/office/drawing/2014/main" id="{93EE4A58-CCCB-4924-A1BD-23BA83DA044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A9ED9E9-05B0-4C34-B200-5096CE624EE2}"/>
              </a:ext>
            </a:extLst>
          </p:cNvPr>
          <p:cNvSpPr>
            <a:spLocks noGrp="1"/>
          </p:cNvSpPr>
          <p:nvPr>
            <p:ph type="sldNum" sz="quarter" idx="12"/>
          </p:nvPr>
        </p:nvSpPr>
        <p:spPr/>
        <p:txBody>
          <a:bodyPr/>
          <a:lstStyle/>
          <a:p>
            <a:fld id="{879C4BC6-B49A-4AAE-894B-36E1053772A9}" type="slidenum">
              <a:rPr lang="en-US" smtClean="0"/>
              <a:t>‹#›</a:t>
            </a:fld>
            <a:endParaRPr lang="en-US"/>
          </a:p>
        </p:txBody>
      </p:sp>
    </p:spTree>
    <p:extLst>
      <p:ext uri="{BB962C8B-B14F-4D97-AF65-F5344CB8AC3E}">
        <p14:creationId xmlns:p14="http://schemas.microsoft.com/office/powerpoint/2010/main" val="7388518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D02445-654F-47C5-A2AD-EB34D049547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120137E-6BE6-4800-B1FF-81833D9BEB48}"/>
              </a:ext>
            </a:extLst>
          </p:cNvPr>
          <p:cNvSpPr>
            <a:spLocks noGrp="1"/>
          </p:cNvSpPr>
          <p:nvPr>
            <p:ph type="dt" sz="half" idx="10"/>
          </p:nvPr>
        </p:nvSpPr>
        <p:spPr/>
        <p:txBody>
          <a:bodyPr/>
          <a:lstStyle/>
          <a:p>
            <a:fld id="{B6DE617D-A115-46CC-9C53-2DF8D63C43FE}" type="datetimeFigureOut">
              <a:rPr lang="en-US" smtClean="0"/>
              <a:t>3/18/2024</a:t>
            </a:fld>
            <a:endParaRPr lang="en-US"/>
          </a:p>
        </p:txBody>
      </p:sp>
      <p:sp>
        <p:nvSpPr>
          <p:cNvPr id="4" name="Footer Placeholder 3">
            <a:extLst>
              <a:ext uri="{FF2B5EF4-FFF2-40B4-BE49-F238E27FC236}">
                <a16:creationId xmlns:a16="http://schemas.microsoft.com/office/drawing/2014/main" id="{4AD1FAD0-A915-403C-8FAB-71628240CB8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79A226F-DD88-4D2C-B1FE-DF777996B96C}"/>
              </a:ext>
            </a:extLst>
          </p:cNvPr>
          <p:cNvSpPr>
            <a:spLocks noGrp="1"/>
          </p:cNvSpPr>
          <p:nvPr>
            <p:ph type="sldNum" sz="quarter" idx="12"/>
          </p:nvPr>
        </p:nvSpPr>
        <p:spPr/>
        <p:txBody>
          <a:bodyPr/>
          <a:lstStyle/>
          <a:p>
            <a:fld id="{879C4BC6-B49A-4AAE-894B-36E1053772A9}" type="slidenum">
              <a:rPr lang="en-US" smtClean="0"/>
              <a:t>‹#›</a:t>
            </a:fld>
            <a:endParaRPr lang="en-US"/>
          </a:p>
        </p:txBody>
      </p:sp>
    </p:spTree>
    <p:extLst>
      <p:ext uri="{BB962C8B-B14F-4D97-AF65-F5344CB8AC3E}">
        <p14:creationId xmlns:p14="http://schemas.microsoft.com/office/powerpoint/2010/main" val="42015227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5319DB6-0773-4E89-8E81-69CD534B000C}"/>
              </a:ext>
            </a:extLst>
          </p:cNvPr>
          <p:cNvSpPr>
            <a:spLocks noGrp="1"/>
          </p:cNvSpPr>
          <p:nvPr>
            <p:ph type="dt" sz="half" idx="10"/>
          </p:nvPr>
        </p:nvSpPr>
        <p:spPr/>
        <p:txBody>
          <a:bodyPr/>
          <a:lstStyle/>
          <a:p>
            <a:fld id="{B6DE617D-A115-46CC-9C53-2DF8D63C43FE}" type="datetimeFigureOut">
              <a:rPr lang="en-US" smtClean="0"/>
              <a:t>3/18/2024</a:t>
            </a:fld>
            <a:endParaRPr lang="en-US"/>
          </a:p>
        </p:txBody>
      </p:sp>
      <p:sp>
        <p:nvSpPr>
          <p:cNvPr id="3" name="Footer Placeholder 2">
            <a:extLst>
              <a:ext uri="{FF2B5EF4-FFF2-40B4-BE49-F238E27FC236}">
                <a16:creationId xmlns:a16="http://schemas.microsoft.com/office/drawing/2014/main" id="{FA776931-8568-4894-A0CD-E518623CB46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5D93553-F114-446A-AAC1-2A16B729C71C}"/>
              </a:ext>
            </a:extLst>
          </p:cNvPr>
          <p:cNvSpPr>
            <a:spLocks noGrp="1"/>
          </p:cNvSpPr>
          <p:nvPr>
            <p:ph type="sldNum" sz="quarter" idx="12"/>
          </p:nvPr>
        </p:nvSpPr>
        <p:spPr/>
        <p:txBody>
          <a:bodyPr/>
          <a:lstStyle/>
          <a:p>
            <a:fld id="{879C4BC6-B49A-4AAE-894B-36E1053772A9}" type="slidenum">
              <a:rPr lang="en-US" smtClean="0"/>
              <a:t>‹#›</a:t>
            </a:fld>
            <a:endParaRPr lang="en-US"/>
          </a:p>
        </p:txBody>
      </p:sp>
    </p:spTree>
    <p:extLst>
      <p:ext uri="{BB962C8B-B14F-4D97-AF65-F5344CB8AC3E}">
        <p14:creationId xmlns:p14="http://schemas.microsoft.com/office/powerpoint/2010/main" val="28008942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CA412-7149-4082-9B61-C637FF82B59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A6416EF-87D1-418D-A331-FAD33B791BB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1CDAB4C-0A8E-4448-A927-A018A44731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1DA113AC-852A-4580-8164-10013EEE3D80}"/>
              </a:ext>
            </a:extLst>
          </p:cNvPr>
          <p:cNvSpPr>
            <a:spLocks noGrp="1"/>
          </p:cNvSpPr>
          <p:nvPr>
            <p:ph type="dt" sz="half" idx="10"/>
          </p:nvPr>
        </p:nvSpPr>
        <p:spPr/>
        <p:txBody>
          <a:bodyPr/>
          <a:lstStyle/>
          <a:p>
            <a:fld id="{B6DE617D-A115-46CC-9C53-2DF8D63C43FE}" type="datetimeFigureOut">
              <a:rPr lang="en-US" smtClean="0"/>
              <a:t>3/18/2024</a:t>
            </a:fld>
            <a:endParaRPr lang="en-US"/>
          </a:p>
        </p:txBody>
      </p:sp>
      <p:sp>
        <p:nvSpPr>
          <p:cNvPr id="6" name="Footer Placeholder 5">
            <a:extLst>
              <a:ext uri="{FF2B5EF4-FFF2-40B4-BE49-F238E27FC236}">
                <a16:creationId xmlns:a16="http://schemas.microsoft.com/office/drawing/2014/main" id="{8BBE77C6-A471-4280-A330-8BF59964B20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7885C1D-9764-4B73-9355-747CF506310C}"/>
              </a:ext>
            </a:extLst>
          </p:cNvPr>
          <p:cNvSpPr>
            <a:spLocks noGrp="1"/>
          </p:cNvSpPr>
          <p:nvPr>
            <p:ph type="sldNum" sz="quarter" idx="12"/>
          </p:nvPr>
        </p:nvSpPr>
        <p:spPr/>
        <p:txBody>
          <a:bodyPr/>
          <a:lstStyle/>
          <a:p>
            <a:fld id="{879C4BC6-B49A-4AAE-894B-36E1053772A9}" type="slidenum">
              <a:rPr lang="en-US" smtClean="0"/>
              <a:t>‹#›</a:t>
            </a:fld>
            <a:endParaRPr lang="en-US"/>
          </a:p>
        </p:txBody>
      </p:sp>
    </p:spTree>
    <p:extLst>
      <p:ext uri="{BB962C8B-B14F-4D97-AF65-F5344CB8AC3E}">
        <p14:creationId xmlns:p14="http://schemas.microsoft.com/office/powerpoint/2010/main" val="21416442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46590A-AEE5-4A26-A43C-F1EDB9C58F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2899B31-7D79-4EDF-9181-AC3F2508C82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EE3BD25-0C25-4316-B8BE-484FCB645A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5A5CBE7-DA3E-4A57-B217-6538C14B88CD}"/>
              </a:ext>
            </a:extLst>
          </p:cNvPr>
          <p:cNvSpPr>
            <a:spLocks noGrp="1"/>
          </p:cNvSpPr>
          <p:nvPr>
            <p:ph type="dt" sz="half" idx="10"/>
          </p:nvPr>
        </p:nvSpPr>
        <p:spPr/>
        <p:txBody>
          <a:bodyPr/>
          <a:lstStyle/>
          <a:p>
            <a:fld id="{B6DE617D-A115-46CC-9C53-2DF8D63C43FE}" type="datetimeFigureOut">
              <a:rPr lang="en-US" smtClean="0"/>
              <a:t>3/18/2024</a:t>
            </a:fld>
            <a:endParaRPr lang="en-US"/>
          </a:p>
        </p:txBody>
      </p:sp>
      <p:sp>
        <p:nvSpPr>
          <p:cNvPr id="6" name="Footer Placeholder 5">
            <a:extLst>
              <a:ext uri="{FF2B5EF4-FFF2-40B4-BE49-F238E27FC236}">
                <a16:creationId xmlns:a16="http://schemas.microsoft.com/office/drawing/2014/main" id="{8329B703-F025-4848-8CDE-292F908B3E1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C67880F-86D5-4DCB-AA44-D234E55DDB54}"/>
              </a:ext>
            </a:extLst>
          </p:cNvPr>
          <p:cNvSpPr>
            <a:spLocks noGrp="1"/>
          </p:cNvSpPr>
          <p:nvPr>
            <p:ph type="sldNum" sz="quarter" idx="12"/>
          </p:nvPr>
        </p:nvSpPr>
        <p:spPr/>
        <p:txBody>
          <a:bodyPr/>
          <a:lstStyle/>
          <a:p>
            <a:fld id="{879C4BC6-B49A-4AAE-894B-36E1053772A9}" type="slidenum">
              <a:rPr lang="en-US" smtClean="0"/>
              <a:t>‹#›</a:t>
            </a:fld>
            <a:endParaRPr lang="en-US"/>
          </a:p>
        </p:txBody>
      </p:sp>
    </p:spTree>
    <p:extLst>
      <p:ext uri="{BB962C8B-B14F-4D97-AF65-F5344CB8AC3E}">
        <p14:creationId xmlns:p14="http://schemas.microsoft.com/office/powerpoint/2010/main" val="34689311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C2F53-8B89-4FB4-B30B-D9A8B2C30EC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32BBCC4-75A6-474C-8008-77ED47861C83}"/>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BDF314-230E-49A5-9211-C81E742ED806}"/>
              </a:ext>
            </a:extLst>
          </p:cNvPr>
          <p:cNvSpPr>
            <a:spLocks noGrp="1"/>
          </p:cNvSpPr>
          <p:nvPr>
            <p:ph type="dt" sz="half" idx="10"/>
          </p:nvPr>
        </p:nvSpPr>
        <p:spPr/>
        <p:txBody>
          <a:bodyPr/>
          <a:lstStyle/>
          <a:p>
            <a:fld id="{B6DE617D-A115-46CC-9C53-2DF8D63C43FE}" type="datetimeFigureOut">
              <a:rPr lang="en-US" smtClean="0"/>
              <a:t>3/18/2024</a:t>
            </a:fld>
            <a:endParaRPr lang="en-US"/>
          </a:p>
        </p:txBody>
      </p:sp>
      <p:sp>
        <p:nvSpPr>
          <p:cNvPr id="5" name="Footer Placeholder 4">
            <a:extLst>
              <a:ext uri="{FF2B5EF4-FFF2-40B4-BE49-F238E27FC236}">
                <a16:creationId xmlns:a16="http://schemas.microsoft.com/office/drawing/2014/main" id="{9B514054-2BA5-4A80-9791-B5694CD62D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4122ED-DDA5-49F8-922D-EB0EEBDBB11B}"/>
              </a:ext>
            </a:extLst>
          </p:cNvPr>
          <p:cNvSpPr>
            <a:spLocks noGrp="1"/>
          </p:cNvSpPr>
          <p:nvPr>
            <p:ph type="sldNum" sz="quarter" idx="12"/>
          </p:nvPr>
        </p:nvSpPr>
        <p:spPr/>
        <p:txBody>
          <a:bodyPr/>
          <a:lstStyle/>
          <a:p>
            <a:fld id="{879C4BC6-B49A-4AAE-894B-36E1053772A9}" type="slidenum">
              <a:rPr lang="en-US" smtClean="0"/>
              <a:t>‹#›</a:t>
            </a:fld>
            <a:endParaRPr lang="en-US"/>
          </a:p>
        </p:txBody>
      </p:sp>
    </p:spTree>
    <p:extLst>
      <p:ext uri="{BB962C8B-B14F-4D97-AF65-F5344CB8AC3E}">
        <p14:creationId xmlns:p14="http://schemas.microsoft.com/office/powerpoint/2010/main" val="16658474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EE4BEAB-9ABA-45C6-A570-9E19B88C188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7CFE1BE-3B9A-4274-A078-24C5F4D59D90}"/>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F0966B-D81D-40E8-BBDA-5CCED6ED571F}"/>
              </a:ext>
            </a:extLst>
          </p:cNvPr>
          <p:cNvSpPr>
            <a:spLocks noGrp="1"/>
          </p:cNvSpPr>
          <p:nvPr>
            <p:ph type="dt" sz="half" idx="10"/>
          </p:nvPr>
        </p:nvSpPr>
        <p:spPr/>
        <p:txBody>
          <a:bodyPr/>
          <a:lstStyle/>
          <a:p>
            <a:fld id="{B6DE617D-A115-46CC-9C53-2DF8D63C43FE}" type="datetimeFigureOut">
              <a:rPr lang="en-US" smtClean="0"/>
              <a:t>3/18/2024</a:t>
            </a:fld>
            <a:endParaRPr lang="en-US"/>
          </a:p>
        </p:txBody>
      </p:sp>
      <p:sp>
        <p:nvSpPr>
          <p:cNvPr id="5" name="Footer Placeholder 4">
            <a:extLst>
              <a:ext uri="{FF2B5EF4-FFF2-40B4-BE49-F238E27FC236}">
                <a16:creationId xmlns:a16="http://schemas.microsoft.com/office/drawing/2014/main" id="{AC7A849B-5B81-4DAD-9BCA-3F30749D4B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4C07A6-2FBB-493B-AC26-56392F04ACC4}"/>
              </a:ext>
            </a:extLst>
          </p:cNvPr>
          <p:cNvSpPr>
            <a:spLocks noGrp="1"/>
          </p:cNvSpPr>
          <p:nvPr>
            <p:ph type="sldNum" sz="quarter" idx="12"/>
          </p:nvPr>
        </p:nvSpPr>
        <p:spPr/>
        <p:txBody>
          <a:bodyPr/>
          <a:lstStyle/>
          <a:p>
            <a:fld id="{879C4BC6-B49A-4AAE-894B-36E1053772A9}" type="slidenum">
              <a:rPr lang="en-US" smtClean="0"/>
              <a:t>‹#›</a:t>
            </a:fld>
            <a:endParaRPr lang="en-US"/>
          </a:p>
        </p:txBody>
      </p:sp>
    </p:spTree>
    <p:extLst>
      <p:ext uri="{BB962C8B-B14F-4D97-AF65-F5344CB8AC3E}">
        <p14:creationId xmlns:p14="http://schemas.microsoft.com/office/powerpoint/2010/main" val="24422688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4CEC1EF-CCD3-4B5A-ADAC-3D57C0CABE4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1430BE8-5ABF-4888-9A61-16555D3D87D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657AE2-31CA-4A81-B1F7-8E80647A766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DE617D-A115-46CC-9C53-2DF8D63C43FE}" type="datetimeFigureOut">
              <a:rPr lang="en-US" smtClean="0"/>
              <a:t>3/18/2024</a:t>
            </a:fld>
            <a:endParaRPr lang="en-US"/>
          </a:p>
        </p:txBody>
      </p:sp>
      <p:sp>
        <p:nvSpPr>
          <p:cNvPr id="5" name="Footer Placeholder 4">
            <a:extLst>
              <a:ext uri="{FF2B5EF4-FFF2-40B4-BE49-F238E27FC236}">
                <a16:creationId xmlns:a16="http://schemas.microsoft.com/office/drawing/2014/main" id="{70E390E1-3010-474B-9452-1E19C0D40EE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6BE2435-C74C-45B0-B017-9C7DF8C9300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9C4BC6-B49A-4AAE-894B-36E1053772A9}" type="slidenum">
              <a:rPr lang="en-US" smtClean="0"/>
              <a:t>‹#›</a:t>
            </a:fld>
            <a:endParaRPr lang="en-US"/>
          </a:p>
        </p:txBody>
      </p:sp>
    </p:spTree>
    <p:extLst>
      <p:ext uri="{BB962C8B-B14F-4D97-AF65-F5344CB8AC3E}">
        <p14:creationId xmlns:p14="http://schemas.microsoft.com/office/powerpoint/2010/main" val="28726930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B46674-3A83-42F3-9405-6E96FFA5367A}"/>
              </a:ext>
            </a:extLst>
          </p:cNvPr>
          <p:cNvSpPr>
            <a:spLocks noGrp="1"/>
          </p:cNvSpPr>
          <p:nvPr>
            <p:ph type="ctrTitle"/>
          </p:nvPr>
        </p:nvSpPr>
        <p:spPr/>
        <p:txBody>
          <a:bodyPr/>
          <a:lstStyle/>
          <a:p>
            <a:r>
              <a:rPr lang="en-US" dirty="0"/>
              <a:t>Design Patterns</a:t>
            </a:r>
          </a:p>
        </p:txBody>
      </p:sp>
      <p:sp>
        <p:nvSpPr>
          <p:cNvPr id="3" name="Subtitle 2">
            <a:extLst>
              <a:ext uri="{FF2B5EF4-FFF2-40B4-BE49-F238E27FC236}">
                <a16:creationId xmlns:a16="http://schemas.microsoft.com/office/drawing/2014/main" id="{6A63A9F3-7731-434E-B10C-B3C5D7682E5A}"/>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20355708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39FA27-5904-4CCC-9BDE-37FBEB3FFFAE}"/>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AB0B7320-71F4-44BE-8BAC-E8EC67931500}"/>
              </a:ext>
            </a:extLst>
          </p:cNvPr>
          <p:cNvSpPr>
            <a:spLocks noGrp="1"/>
          </p:cNvSpPr>
          <p:nvPr>
            <p:ph idx="1"/>
          </p:nvPr>
        </p:nvSpPr>
        <p:spPr/>
        <p:txBody>
          <a:bodyPr/>
          <a:lstStyle/>
          <a:p>
            <a:r>
              <a:rPr lang="en-US" dirty="0"/>
              <a:t>Design patterns are </a:t>
            </a:r>
            <a:r>
              <a:rPr lang="en-US" b="1" i="1" dirty="0"/>
              <a:t>standardized solutions to common problems </a:t>
            </a:r>
            <a:r>
              <a:rPr lang="en-US" dirty="0"/>
              <a:t>in software design. </a:t>
            </a:r>
          </a:p>
          <a:p>
            <a:r>
              <a:rPr lang="en-US" dirty="0"/>
              <a:t>Design patterns provide a </a:t>
            </a:r>
            <a:r>
              <a:rPr lang="en-US" b="1" i="1" dirty="0"/>
              <a:t>reusable</a:t>
            </a:r>
            <a:r>
              <a:rPr lang="en-US" dirty="0"/>
              <a:t> solution to common problems, </a:t>
            </a:r>
            <a:r>
              <a:rPr lang="en-US" b="1" i="1" dirty="0"/>
              <a:t>improving code readability, scalability, and maintainability</a:t>
            </a:r>
            <a:r>
              <a:rPr lang="en-US" dirty="0"/>
              <a:t>.</a:t>
            </a:r>
          </a:p>
        </p:txBody>
      </p:sp>
    </p:spTree>
    <p:extLst>
      <p:ext uri="{BB962C8B-B14F-4D97-AF65-F5344CB8AC3E}">
        <p14:creationId xmlns:p14="http://schemas.microsoft.com/office/powerpoint/2010/main" val="14370407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54DB65-52CA-4210-95B7-818B82CDAC44}"/>
              </a:ext>
            </a:extLst>
          </p:cNvPr>
          <p:cNvSpPr>
            <a:spLocks noGrp="1"/>
          </p:cNvSpPr>
          <p:nvPr>
            <p:ph type="title"/>
          </p:nvPr>
        </p:nvSpPr>
        <p:spPr/>
        <p:txBody>
          <a:bodyPr/>
          <a:lstStyle/>
          <a:p>
            <a:r>
              <a:rPr lang="en-US" dirty="0"/>
              <a:t>Categories:</a:t>
            </a:r>
          </a:p>
        </p:txBody>
      </p:sp>
      <p:sp>
        <p:nvSpPr>
          <p:cNvPr id="3" name="Content Placeholder 2">
            <a:extLst>
              <a:ext uri="{FF2B5EF4-FFF2-40B4-BE49-F238E27FC236}">
                <a16:creationId xmlns:a16="http://schemas.microsoft.com/office/drawing/2014/main" id="{F581609C-2EBF-41FD-8622-06C8F5144C11}"/>
              </a:ext>
            </a:extLst>
          </p:cNvPr>
          <p:cNvSpPr>
            <a:spLocks noGrp="1"/>
          </p:cNvSpPr>
          <p:nvPr>
            <p:ph idx="1"/>
          </p:nvPr>
        </p:nvSpPr>
        <p:spPr/>
        <p:txBody>
          <a:bodyPr/>
          <a:lstStyle/>
          <a:p>
            <a:r>
              <a:rPr lang="en-US" dirty="0"/>
              <a:t>Creational Patterns</a:t>
            </a:r>
          </a:p>
          <a:p>
            <a:r>
              <a:rPr lang="en-US" dirty="0"/>
              <a:t>Structural Patterns</a:t>
            </a:r>
          </a:p>
          <a:p>
            <a:r>
              <a:rPr lang="en-US" dirty="0"/>
              <a:t>Behavioral Patterns</a:t>
            </a:r>
          </a:p>
          <a:p>
            <a:endParaRPr lang="en-US" dirty="0"/>
          </a:p>
        </p:txBody>
      </p:sp>
    </p:spTree>
    <p:extLst>
      <p:ext uri="{BB962C8B-B14F-4D97-AF65-F5344CB8AC3E}">
        <p14:creationId xmlns:p14="http://schemas.microsoft.com/office/powerpoint/2010/main" val="1815673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3D1A07-41D3-4013-8FB4-13BA13BBEC43}"/>
              </a:ext>
            </a:extLst>
          </p:cNvPr>
          <p:cNvSpPr>
            <a:spLocks noGrp="1"/>
          </p:cNvSpPr>
          <p:nvPr>
            <p:ph type="title"/>
          </p:nvPr>
        </p:nvSpPr>
        <p:spPr/>
        <p:txBody>
          <a:bodyPr/>
          <a:lstStyle/>
          <a:p>
            <a:r>
              <a:rPr lang="en-US" dirty="0"/>
              <a:t>Creational Patterns:</a:t>
            </a:r>
          </a:p>
        </p:txBody>
      </p:sp>
      <p:sp>
        <p:nvSpPr>
          <p:cNvPr id="3" name="Content Placeholder 2">
            <a:extLst>
              <a:ext uri="{FF2B5EF4-FFF2-40B4-BE49-F238E27FC236}">
                <a16:creationId xmlns:a16="http://schemas.microsoft.com/office/drawing/2014/main" id="{88CDCC17-6F27-455E-B6FF-1BD4BFFB269C}"/>
              </a:ext>
            </a:extLst>
          </p:cNvPr>
          <p:cNvSpPr>
            <a:spLocks noGrp="1"/>
          </p:cNvSpPr>
          <p:nvPr>
            <p:ph idx="1"/>
          </p:nvPr>
        </p:nvSpPr>
        <p:spPr/>
        <p:txBody>
          <a:bodyPr/>
          <a:lstStyle/>
          <a:p>
            <a:r>
              <a:rPr lang="en-US" dirty="0"/>
              <a:t>Creational patterns deal with object creation mechanisms, trying to create objects in a manner suitable to the situation. The basic form of object creation could result in design problems or added complexity to the design. Creational patterns solve this problem by somehow controlling this object creation. </a:t>
            </a:r>
          </a:p>
        </p:txBody>
      </p:sp>
    </p:spTree>
    <p:extLst>
      <p:ext uri="{BB962C8B-B14F-4D97-AF65-F5344CB8AC3E}">
        <p14:creationId xmlns:p14="http://schemas.microsoft.com/office/powerpoint/2010/main" val="39750455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65868-E815-4EBA-8D56-818D3968F751}"/>
              </a:ext>
            </a:extLst>
          </p:cNvPr>
          <p:cNvSpPr>
            <a:spLocks noGrp="1"/>
          </p:cNvSpPr>
          <p:nvPr>
            <p:ph type="title"/>
          </p:nvPr>
        </p:nvSpPr>
        <p:spPr/>
        <p:txBody>
          <a:bodyPr/>
          <a:lstStyle/>
          <a:p>
            <a:r>
              <a:rPr lang="en-US" dirty="0"/>
              <a:t>Creational Patterns Example:</a:t>
            </a:r>
          </a:p>
        </p:txBody>
      </p:sp>
      <p:sp>
        <p:nvSpPr>
          <p:cNvPr id="3" name="Content Placeholder 2">
            <a:extLst>
              <a:ext uri="{FF2B5EF4-FFF2-40B4-BE49-F238E27FC236}">
                <a16:creationId xmlns:a16="http://schemas.microsoft.com/office/drawing/2014/main" id="{20C58ECA-F17C-4B11-B019-65AA1F1CC07D}"/>
              </a:ext>
            </a:extLst>
          </p:cNvPr>
          <p:cNvSpPr>
            <a:spLocks noGrp="1"/>
          </p:cNvSpPr>
          <p:nvPr>
            <p:ph idx="1"/>
          </p:nvPr>
        </p:nvSpPr>
        <p:spPr/>
        <p:txBody>
          <a:bodyPr>
            <a:normAutofit fontScale="92500"/>
          </a:bodyPr>
          <a:lstStyle/>
          <a:p>
            <a:r>
              <a:rPr lang="en-US" b="1" dirty="0"/>
              <a:t>Singleton Pattern:</a:t>
            </a:r>
            <a:r>
              <a:rPr lang="en-US" dirty="0"/>
              <a:t> Ensures that a class has only one instance and provides a global point of access to it.</a:t>
            </a:r>
          </a:p>
          <a:p>
            <a:r>
              <a:rPr lang="en-US" b="1" dirty="0"/>
              <a:t>Factory Method Pattern:</a:t>
            </a:r>
            <a:r>
              <a:rPr lang="en-US" dirty="0"/>
              <a:t> Defines an interface for creating an object, but </a:t>
            </a:r>
            <a:r>
              <a:rPr lang="en-US" dirty="0" err="1"/>
              <a:t>lets</a:t>
            </a:r>
            <a:r>
              <a:rPr lang="en-US" dirty="0"/>
              <a:t> subclasses alter the type of objects that will be created.</a:t>
            </a:r>
          </a:p>
          <a:p>
            <a:r>
              <a:rPr lang="en-US" b="1" dirty="0"/>
              <a:t>Abstract Factory Pattern:</a:t>
            </a:r>
            <a:r>
              <a:rPr lang="en-US" dirty="0"/>
              <a:t> Provides an interface for creating families of related or dependent objects without specifying their concrete classes.</a:t>
            </a:r>
          </a:p>
          <a:p>
            <a:r>
              <a:rPr lang="en-US" b="1" dirty="0"/>
              <a:t>Builder Pattern:</a:t>
            </a:r>
            <a:r>
              <a:rPr lang="en-US" dirty="0"/>
              <a:t> Allows the creation of complex objects step by step, separating the construction of a complex object from its representation.</a:t>
            </a:r>
          </a:p>
          <a:p>
            <a:r>
              <a:rPr lang="en-US" b="1" dirty="0"/>
              <a:t>Prototype Pattern:</a:t>
            </a:r>
            <a:r>
              <a:rPr lang="en-US" dirty="0"/>
              <a:t> Creates new objects by copying an existing object, known as a prototype.</a:t>
            </a:r>
          </a:p>
          <a:p>
            <a:endParaRPr lang="en-US" dirty="0"/>
          </a:p>
        </p:txBody>
      </p:sp>
    </p:spTree>
    <p:extLst>
      <p:ext uri="{BB962C8B-B14F-4D97-AF65-F5344CB8AC3E}">
        <p14:creationId xmlns:p14="http://schemas.microsoft.com/office/powerpoint/2010/main" val="5325221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4175C-D91D-4CCE-825D-8DEA085DF52B}"/>
              </a:ext>
            </a:extLst>
          </p:cNvPr>
          <p:cNvSpPr>
            <a:spLocks noGrp="1"/>
          </p:cNvSpPr>
          <p:nvPr>
            <p:ph type="title"/>
          </p:nvPr>
        </p:nvSpPr>
        <p:spPr/>
        <p:txBody>
          <a:bodyPr/>
          <a:lstStyle/>
          <a:p>
            <a:r>
              <a:rPr lang="en-US" dirty="0"/>
              <a:t>Structural Patterns</a:t>
            </a:r>
          </a:p>
        </p:txBody>
      </p:sp>
      <p:sp>
        <p:nvSpPr>
          <p:cNvPr id="3" name="Content Placeholder 2">
            <a:extLst>
              <a:ext uri="{FF2B5EF4-FFF2-40B4-BE49-F238E27FC236}">
                <a16:creationId xmlns:a16="http://schemas.microsoft.com/office/drawing/2014/main" id="{3227B3F8-A5E3-450F-87D7-F40E333DF4CF}"/>
              </a:ext>
            </a:extLst>
          </p:cNvPr>
          <p:cNvSpPr>
            <a:spLocks noGrp="1"/>
          </p:cNvSpPr>
          <p:nvPr>
            <p:ph idx="1"/>
          </p:nvPr>
        </p:nvSpPr>
        <p:spPr/>
        <p:txBody>
          <a:bodyPr/>
          <a:lstStyle/>
          <a:p>
            <a:r>
              <a:rPr lang="en-US" dirty="0"/>
              <a:t>Structural patterns concern class and object composition. They help ensure that if one part of a system changes, the entire system doesn't need to do the same. They help to define easy ways to realize relationships between entities. </a:t>
            </a:r>
          </a:p>
        </p:txBody>
      </p:sp>
    </p:spTree>
    <p:extLst>
      <p:ext uri="{BB962C8B-B14F-4D97-AF65-F5344CB8AC3E}">
        <p14:creationId xmlns:p14="http://schemas.microsoft.com/office/powerpoint/2010/main" val="540201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676D99-C260-4DEB-BA1F-2C004BAF0614}"/>
              </a:ext>
            </a:extLst>
          </p:cNvPr>
          <p:cNvSpPr>
            <a:spLocks noGrp="1"/>
          </p:cNvSpPr>
          <p:nvPr>
            <p:ph type="title"/>
          </p:nvPr>
        </p:nvSpPr>
        <p:spPr/>
        <p:txBody>
          <a:bodyPr/>
          <a:lstStyle/>
          <a:p>
            <a:r>
              <a:rPr lang="en-US" dirty="0"/>
              <a:t>Structural Patterns Examples</a:t>
            </a:r>
          </a:p>
        </p:txBody>
      </p:sp>
      <p:sp>
        <p:nvSpPr>
          <p:cNvPr id="3" name="Content Placeholder 2">
            <a:extLst>
              <a:ext uri="{FF2B5EF4-FFF2-40B4-BE49-F238E27FC236}">
                <a16:creationId xmlns:a16="http://schemas.microsoft.com/office/drawing/2014/main" id="{94F694CF-6363-4936-8082-5246E5C6E7EA}"/>
              </a:ext>
            </a:extLst>
          </p:cNvPr>
          <p:cNvSpPr>
            <a:spLocks noGrp="1"/>
          </p:cNvSpPr>
          <p:nvPr>
            <p:ph idx="1"/>
          </p:nvPr>
        </p:nvSpPr>
        <p:spPr/>
        <p:txBody>
          <a:bodyPr>
            <a:normAutofit fontScale="77500" lnSpcReduction="20000"/>
          </a:bodyPr>
          <a:lstStyle/>
          <a:p>
            <a:r>
              <a:rPr lang="en-US" b="1" dirty="0"/>
              <a:t>Adapter Pattern (or Wrapper Pattern):</a:t>
            </a:r>
            <a:r>
              <a:rPr lang="en-US" dirty="0"/>
              <a:t> Allows the interface of an existing class to be used as another interface. It is often used to make existing classes work with others without modifying their source code.</a:t>
            </a:r>
          </a:p>
          <a:p>
            <a:r>
              <a:rPr lang="en-US" b="1" dirty="0"/>
              <a:t>Composite Pattern:</a:t>
            </a:r>
            <a:r>
              <a:rPr lang="en-US" dirty="0"/>
              <a:t> Composes objects into tree structures to represent part-whole hierarchies. It lets clients treat individual objects and compositions of objects uniformly.</a:t>
            </a:r>
          </a:p>
          <a:p>
            <a:r>
              <a:rPr lang="en-US" b="1" dirty="0"/>
              <a:t>Proxy Pattern:</a:t>
            </a:r>
            <a:r>
              <a:rPr lang="en-US" dirty="0"/>
              <a:t> Provides a surrogate or placeholder for another object to control access to it. This is used when you want to add some level of control over the interaction with an object.</a:t>
            </a:r>
          </a:p>
          <a:p>
            <a:r>
              <a:rPr lang="en-US" b="1" dirty="0"/>
              <a:t>Flyweight Pattern:</a:t>
            </a:r>
            <a:r>
              <a:rPr lang="en-US" dirty="0"/>
              <a:t> Reduces the cost of creating and manipulating a large number of similar objects.</a:t>
            </a:r>
          </a:p>
          <a:p>
            <a:r>
              <a:rPr lang="en-US" b="1" dirty="0"/>
              <a:t>Bridge Pattern:</a:t>
            </a:r>
            <a:r>
              <a:rPr lang="en-US" dirty="0"/>
              <a:t> Separates an object’s abstraction from its implementation so that the two can vary independently.</a:t>
            </a:r>
          </a:p>
          <a:p>
            <a:r>
              <a:rPr lang="en-US" b="1" dirty="0"/>
              <a:t>Decorator Pattern:</a:t>
            </a:r>
            <a:r>
              <a:rPr lang="en-US" dirty="0"/>
              <a:t> Allows behavior to be added to an individual object, either statically or dynamically, without affecting the behavior of other objects from the same class.</a:t>
            </a:r>
          </a:p>
          <a:p>
            <a:endParaRPr lang="en-US" dirty="0"/>
          </a:p>
        </p:txBody>
      </p:sp>
    </p:spTree>
    <p:extLst>
      <p:ext uri="{BB962C8B-B14F-4D97-AF65-F5344CB8AC3E}">
        <p14:creationId xmlns:p14="http://schemas.microsoft.com/office/powerpoint/2010/main" val="36503813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DF8A27-5B19-4BB6-AD96-7CE54A8571B0}"/>
              </a:ext>
            </a:extLst>
          </p:cNvPr>
          <p:cNvSpPr>
            <a:spLocks noGrp="1"/>
          </p:cNvSpPr>
          <p:nvPr>
            <p:ph type="title"/>
          </p:nvPr>
        </p:nvSpPr>
        <p:spPr/>
        <p:txBody>
          <a:bodyPr/>
          <a:lstStyle/>
          <a:p>
            <a:r>
              <a:rPr lang="en-US" dirty="0"/>
              <a:t>Behavioral Patterns</a:t>
            </a:r>
          </a:p>
        </p:txBody>
      </p:sp>
      <p:sp>
        <p:nvSpPr>
          <p:cNvPr id="3" name="Content Placeholder 2">
            <a:extLst>
              <a:ext uri="{FF2B5EF4-FFF2-40B4-BE49-F238E27FC236}">
                <a16:creationId xmlns:a16="http://schemas.microsoft.com/office/drawing/2014/main" id="{A1700456-885C-49E7-9A74-3851A560C051}"/>
              </a:ext>
            </a:extLst>
          </p:cNvPr>
          <p:cNvSpPr>
            <a:spLocks noGrp="1"/>
          </p:cNvSpPr>
          <p:nvPr>
            <p:ph idx="1"/>
          </p:nvPr>
        </p:nvSpPr>
        <p:spPr/>
        <p:txBody>
          <a:bodyPr/>
          <a:lstStyle/>
          <a:p>
            <a:r>
              <a:rPr lang="en-US" dirty="0"/>
              <a:t>Behavioral patterns are concerned with algorithms and the assignment of responsibilities between objects. They characterize complex control flow that's difficult to follow at run-time. They shift your focus away from flow of control to let you concentrate just on the way objects are interconnected. </a:t>
            </a:r>
          </a:p>
        </p:txBody>
      </p:sp>
    </p:spTree>
    <p:extLst>
      <p:ext uri="{BB962C8B-B14F-4D97-AF65-F5344CB8AC3E}">
        <p14:creationId xmlns:p14="http://schemas.microsoft.com/office/powerpoint/2010/main" val="39985587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3BA1F0-277F-4A2D-824A-19A07DC0C0E1}"/>
              </a:ext>
            </a:extLst>
          </p:cNvPr>
          <p:cNvSpPr>
            <a:spLocks noGrp="1"/>
          </p:cNvSpPr>
          <p:nvPr>
            <p:ph type="title"/>
          </p:nvPr>
        </p:nvSpPr>
        <p:spPr/>
        <p:txBody>
          <a:bodyPr/>
          <a:lstStyle/>
          <a:p>
            <a:r>
              <a:rPr lang="en-US" dirty="0"/>
              <a:t>Behavioral Patterns Examples</a:t>
            </a:r>
          </a:p>
        </p:txBody>
      </p:sp>
      <p:sp>
        <p:nvSpPr>
          <p:cNvPr id="3" name="Content Placeholder 2">
            <a:extLst>
              <a:ext uri="{FF2B5EF4-FFF2-40B4-BE49-F238E27FC236}">
                <a16:creationId xmlns:a16="http://schemas.microsoft.com/office/drawing/2014/main" id="{2E2A5FE6-A760-488E-9D39-BDC45A9E411D}"/>
              </a:ext>
            </a:extLst>
          </p:cNvPr>
          <p:cNvSpPr>
            <a:spLocks noGrp="1"/>
          </p:cNvSpPr>
          <p:nvPr>
            <p:ph idx="1"/>
          </p:nvPr>
        </p:nvSpPr>
        <p:spPr/>
        <p:txBody>
          <a:bodyPr>
            <a:normAutofit fontScale="70000" lnSpcReduction="20000"/>
          </a:bodyPr>
          <a:lstStyle/>
          <a:p>
            <a:r>
              <a:rPr lang="en-US" b="1" dirty="0"/>
              <a:t>Observer Pattern:</a:t>
            </a:r>
            <a:r>
              <a:rPr lang="en-US" dirty="0"/>
              <a:t> Defines a dependency between objects so that whenever an object changes its state, all its dependents are notified and updated automatically.</a:t>
            </a:r>
          </a:p>
          <a:p>
            <a:r>
              <a:rPr lang="en-US" b="1" dirty="0"/>
              <a:t>Strategy Pattern:</a:t>
            </a:r>
            <a:r>
              <a:rPr lang="en-US" dirty="0"/>
              <a:t> Defines a family of algorithms, encapsulates each one, and makes them interchangeable. Strategy lets the algorithm vary independently from clients that use it.</a:t>
            </a:r>
          </a:p>
          <a:p>
            <a:r>
              <a:rPr lang="en-US" b="1" dirty="0"/>
              <a:t>Command Pattern:</a:t>
            </a:r>
            <a:r>
              <a:rPr lang="en-US" dirty="0"/>
              <a:t> Encapsulates a command request as an object, thereby allowing for the parameterization of clients with queues, requests, and operations.</a:t>
            </a:r>
          </a:p>
          <a:p>
            <a:r>
              <a:rPr lang="en-US" b="1" dirty="0"/>
              <a:t>State Pattern:</a:t>
            </a:r>
            <a:r>
              <a:rPr lang="en-US" dirty="0"/>
              <a:t> Allows an object to alter its behavior when its internal state changes. The object will appear to change its class.</a:t>
            </a:r>
          </a:p>
          <a:p>
            <a:r>
              <a:rPr lang="en-US" b="1" dirty="0"/>
              <a:t>Iterator Pattern:</a:t>
            </a:r>
            <a:r>
              <a:rPr lang="en-US" dirty="0"/>
              <a:t> Provides a way to access the elements of an aggregate object sequentially without exposing its underlying representation.</a:t>
            </a:r>
          </a:p>
          <a:p>
            <a:r>
              <a:rPr lang="en-US" b="1" dirty="0"/>
              <a:t>Mediator Pattern:</a:t>
            </a:r>
            <a:r>
              <a:rPr lang="en-US" dirty="0"/>
              <a:t> Defines an object that encapsulates how a set of objects interact. It promotes loose coupling by keeping objects from referring to each other explicitly.</a:t>
            </a:r>
          </a:p>
          <a:p>
            <a:r>
              <a:rPr lang="en-US" b="1" dirty="0"/>
              <a:t>Chain of Responsibility Pattern:</a:t>
            </a:r>
            <a:r>
              <a:rPr lang="en-US" dirty="0"/>
              <a:t> Passes the request along a chain of handlers. Upon receiving a request, each handler decides either to process the request or to pass it to the next handler in the chain.</a:t>
            </a:r>
          </a:p>
          <a:p>
            <a:endParaRPr lang="en-US" dirty="0"/>
          </a:p>
        </p:txBody>
      </p:sp>
    </p:spTree>
    <p:extLst>
      <p:ext uri="{BB962C8B-B14F-4D97-AF65-F5344CB8AC3E}">
        <p14:creationId xmlns:p14="http://schemas.microsoft.com/office/powerpoint/2010/main" val="41285545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EDFE5-6CCD-46DC-A2B8-7FA0342779DC}"/>
              </a:ext>
            </a:extLst>
          </p:cNvPr>
          <p:cNvSpPr>
            <a:spLocks noGrp="1"/>
          </p:cNvSpPr>
          <p:nvPr>
            <p:ph type="ctrTitle"/>
          </p:nvPr>
        </p:nvSpPr>
        <p:spPr/>
        <p:txBody>
          <a:bodyPr>
            <a:normAutofit fontScale="90000"/>
          </a:bodyPr>
          <a:lstStyle/>
          <a:p>
            <a:r>
              <a:rPr lang="en-US" dirty="0"/>
              <a:t>Model-View-Controller</a:t>
            </a:r>
            <a:br>
              <a:rPr lang="en-US" dirty="0"/>
            </a:br>
            <a:r>
              <a:rPr lang="en-US" dirty="0"/>
              <a:t>(MVC)</a:t>
            </a:r>
            <a:br>
              <a:rPr lang="en-US" dirty="0"/>
            </a:br>
            <a:r>
              <a:rPr lang="en-US" dirty="0"/>
              <a:t>Design Pattern</a:t>
            </a:r>
          </a:p>
        </p:txBody>
      </p:sp>
      <p:sp>
        <p:nvSpPr>
          <p:cNvPr id="3" name="Subtitle 2">
            <a:extLst>
              <a:ext uri="{FF2B5EF4-FFF2-40B4-BE49-F238E27FC236}">
                <a16:creationId xmlns:a16="http://schemas.microsoft.com/office/drawing/2014/main" id="{5144E51B-BD85-4FD3-95F3-EB9B5AF5A0D7}"/>
              </a:ext>
            </a:extLst>
          </p:cNvPr>
          <p:cNvSpPr>
            <a:spLocks noGrp="1"/>
          </p:cNvSpPr>
          <p:nvPr>
            <p:ph type="subTitle" idx="1"/>
          </p:nvPr>
        </p:nvSpPr>
        <p:spPr/>
        <p:txBody>
          <a:bodyPr/>
          <a:lstStyle/>
          <a:p>
            <a:r>
              <a:rPr lang="en-US" dirty="0"/>
              <a:t>An Architectural Pattern</a:t>
            </a:r>
          </a:p>
          <a:p>
            <a:r>
              <a:rPr lang="en-US" dirty="0"/>
              <a:t>Not part of the three categories</a:t>
            </a:r>
          </a:p>
        </p:txBody>
      </p:sp>
    </p:spTree>
    <p:extLst>
      <p:ext uri="{BB962C8B-B14F-4D97-AF65-F5344CB8AC3E}">
        <p14:creationId xmlns:p14="http://schemas.microsoft.com/office/powerpoint/2010/main" val="38107259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2B460-27CD-4817-905E-7E490353A356}"/>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E59D2325-4281-486B-B857-294BE9743D98}"/>
              </a:ext>
            </a:extLst>
          </p:cNvPr>
          <p:cNvSpPr>
            <a:spLocks noGrp="1"/>
          </p:cNvSpPr>
          <p:nvPr>
            <p:ph idx="1"/>
          </p:nvPr>
        </p:nvSpPr>
        <p:spPr/>
        <p:txBody>
          <a:bodyPr/>
          <a:lstStyle/>
          <a:p>
            <a:r>
              <a:rPr lang="en-US" dirty="0"/>
              <a:t>The Model-View-Controller (MVC) design pattern is a powerful and widely used </a:t>
            </a:r>
            <a:r>
              <a:rPr lang="en-US" b="1" i="1" dirty="0"/>
              <a:t>architectural</a:t>
            </a:r>
            <a:r>
              <a:rPr lang="en-US" dirty="0"/>
              <a:t> pattern that separates an application into three interconnected components: </a:t>
            </a:r>
            <a:r>
              <a:rPr lang="en-US" b="1" i="1" dirty="0"/>
              <a:t>Model, View, and Controller</a:t>
            </a:r>
            <a:r>
              <a:rPr lang="en-US" dirty="0"/>
              <a:t>. </a:t>
            </a:r>
          </a:p>
          <a:p>
            <a:r>
              <a:rPr lang="en-US" dirty="0"/>
              <a:t>This separation helps manage complexity in large applications, promotes organized code development, and supports scalability and maintainability. </a:t>
            </a:r>
          </a:p>
        </p:txBody>
      </p:sp>
    </p:spTree>
    <p:extLst>
      <p:ext uri="{BB962C8B-B14F-4D97-AF65-F5344CB8AC3E}">
        <p14:creationId xmlns:p14="http://schemas.microsoft.com/office/powerpoint/2010/main" val="3162204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CDA270-F7A4-40C2-9075-31830453FBBC}"/>
              </a:ext>
            </a:extLst>
          </p:cNvPr>
          <p:cNvSpPr>
            <a:spLocks noGrp="1"/>
          </p:cNvSpPr>
          <p:nvPr>
            <p:ph type="title"/>
          </p:nvPr>
        </p:nvSpPr>
        <p:spPr/>
        <p:txBody>
          <a:bodyPr/>
          <a:lstStyle/>
          <a:p>
            <a:r>
              <a:rPr lang="en-US" dirty="0"/>
              <a:t>Model</a:t>
            </a:r>
          </a:p>
        </p:txBody>
      </p:sp>
      <p:sp>
        <p:nvSpPr>
          <p:cNvPr id="3" name="Content Placeholder 2">
            <a:extLst>
              <a:ext uri="{FF2B5EF4-FFF2-40B4-BE49-F238E27FC236}">
                <a16:creationId xmlns:a16="http://schemas.microsoft.com/office/drawing/2014/main" id="{F3D2625D-EC66-4BA8-98FF-42EA212AE4D6}"/>
              </a:ext>
            </a:extLst>
          </p:cNvPr>
          <p:cNvSpPr>
            <a:spLocks noGrp="1"/>
          </p:cNvSpPr>
          <p:nvPr>
            <p:ph idx="1"/>
          </p:nvPr>
        </p:nvSpPr>
        <p:spPr/>
        <p:txBody>
          <a:bodyPr/>
          <a:lstStyle/>
          <a:p>
            <a:r>
              <a:rPr lang="en-US" dirty="0"/>
              <a:t>The Model represents the application's dynamic data structure, independent of the user interface. It directly manages the data, logic, and rules of the application.</a:t>
            </a:r>
          </a:p>
        </p:txBody>
      </p:sp>
    </p:spTree>
    <p:extLst>
      <p:ext uri="{BB962C8B-B14F-4D97-AF65-F5344CB8AC3E}">
        <p14:creationId xmlns:p14="http://schemas.microsoft.com/office/powerpoint/2010/main" val="20302444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A6545F-0411-4A89-B571-F27D6AE53F90}"/>
              </a:ext>
            </a:extLst>
          </p:cNvPr>
          <p:cNvSpPr>
            <a:spLocks noGrp="1"/>
          </p:cNvSpPr>
          <p:nvPr>
            <p:ph type="title"/>
          </p:nvPr>
        </p:nvSpPr>
        <p:spPr/>
        <p:txBody>
          <a:bodyPr/>
          <a:lstStyle/>
          <a:p>
            <a:r>
              <a:rPr lang="en-US" dirty="0"/>
              <a:t>Model’s Key Responsibilities</a:t>
            </a:r>
          </a:p>
        </p:txBody>
      </p:sp>
      <p:sp>
        <p:nvSpPr>
          <p:cNvPr id="3" name="Content Placeholder 2">
            <a:extLst>
              <a:ext uri="{FF2B5EF4-FFF2-40B4-BE49-F238E27FC236}">
                <a16:creationId xmlns:a16="http://schemas.microsoft.com/office/drawing/2014/main" id="{B4247131-166F-459F-805D-40E642525B7C}"/>
              </a:ext>
            </a:extLst>
          </p:cNvPr>
          <p:cNvSpPr>
            <a:spLocks noGrp="1"/>
          </p:cNvSpPr>
          <p:nvPr>
            <p:ph idx="1"/>
          </p:nvPr>
        </p:nvSpPr>
        <p:spPr/>
        <p:txBody>
          <a:bodyPr/>
          <a:lstStyle/>
          <a:p>
            <a:r>
              <a:rPr lang="en-US" b="1" dirty="0"/>
              <a:t>Data Management:</a:t>
            </a:r>
            <a:r>
              <a:rPr lang="en-US" dirty="0"/>
              <a:t> Stores data that is retrieved according to commands from the controller and displayed in the view.</a:t>
            </a:r>
          </a:p>
          <a:p>
            <a:r>
              <a:rPr lang="en-US" b="1" dirty="0"/>
              <a:t>Business Logic:</a:t>
            </a:r>
            <a:r>
              <a:rPr lang="en-US" dirty="0"/>
              <a:t> Encapsulates the application's business logic, including data validation, calculations, and overall data processing.</a:t>
            </a:r>
          </a:p>
          <a:p>
            <a:r>
              <a:rPr lang="en-US" b="1" dirty="0"/>
              <a:t>State Management:</a:t>
            </a:r>
            <a:r>
              <a:rPr lang="en-US" dirty="0"/>
              <a:t> Maintains the state of the application, often including the ability to notify the view of any changes to enable dynamic updates.</a:t>
            </a:r>
          </a:p>
          <a:p>
            <a:endParaRPr lang="en-US" dirty="0"/>
          </a:p>
        </p:txBody>
      </p:sp>
    </p:spTree>
    <p:extLst>
      <p:ext uri="{BB962C8B-B14F-4D97-AF65-F5344CB8AC3E}">
        <p14:creationId xmlns:p14="http://schemas.microsoft.com/office/powerpoint/2010/main" val="16072514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9242A-15C3-4644-A70C-265D197753B2}"/>
              </a:ext>
            </a:extLst>
          </p:cNvPr>
          <p:cNvSpPr>
            <a:spLocks noGrp="1"/>
          </p:cNvSpPr>
          <p:nvPr>
            <p:ph type="title"/>
          </p:nvPr>
        </p:nvSpPr>
        <p:spPr/>
        <p:txBody>
          <a:bodyPr/>
          <a:lstStyle/>
          <a:p>
            <a:r>
              <a:rPr lang="en-US" dirty="0"/>
              <a:t>Model in OOP</a:t>
            </a:r>
          </a:p>
        </p:txBody>
      </p:sp>
      <p:sp>
        <p:nvSpPr>
          <p:cNvPr id="3" name="Content Placeholder 2">
            <a:extLst>
              <a:ext uri="{FF2B5EF4-FFF2-40B4-BE49-F238E27FC236}">
                <a16:creationId xmlns:a16="http://schemas.microsoft.com/office/drawing/2014/main" id="{BA7C3CB4-FEFE-40B5-A515-6BB340DE9E68}"/>
              </a:ext>
            </a:extLst>
          </p:cNvPr>
          <p:cNvSpPr>
            <a:spLocks noGrp="1"/>
          </p:cNvSpPr>
          <p:nvPr>
            <p:ph idx="1"/>
          </p:nvPr>
        </p:nvSpPr>
        <p:spPr/>
        <p:txBody>
          <a:bodyPr/>
          <a:lstStyle/>
          <a:p>
            <a:r>
              <a:rPr lang="en-US" dirty="0"/>
              <a:t>Think classes and objects.</a:t>
            </a:r>
          </a:p>
          <a:p>
            <a:r>
              <a:rPr lang="en-US" dirty="0"/>
              <a:t>Fields and methods</a:t>
            </a:r>
          </a:p>
        </p:txBody>
      </p:sp>
    </p:spTree>
    <p:extLst>
      <p:ext uri="{BB962C8B-B14F-4D97-AF65-F5344CB8AC3E}">
        <p14:creationId xmlns:p14="http://schemas.microsoft.com/office/powerpoint/2010/main" val="6177275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EB20B4-4983-42BF-9E1F-D126B8D94C9F}"/>
              </a:ext>
            </a:extLst>
          </p:cNvPr>
          <p:cNvSpPr>
            <a:spLocks noGrp="1"/>
          </p:cNvSpPr>
          <p:nvPr>
            <p:ph type="title"/>
          </p:nvPr>
        </p:nvSpPr>
        <p:spPr/>
        <p:txBody>
          <a:bodyPr/>
          <a:lstStyle/>
          <a:p>
            <a:r>
              <a:rPr lang="en-US" dirty="0"/>
              <a:t>View</a:t>
            </a:r>
          </a:p>
        </p:txBody>
      </p:sp>
      <p:sp>
        <p:nvSpPr>
          <p:cNvPr id="3" name="Content Placeholder 2">
            <a:extLst>
              <a:ext uri="{FF2B5EF4-FFF2-40B4-BE49-F238E27FC236}">
                <a16:creationId xmlns:a16="http://schemas.microsoft.com/office/drawing/2014/main" id="{969576E3-C2CA-4927-AD1F-AF04B465C97C}"/>
              </a:ext>
            </a:extLst>
          </p:cNvPr>
          <p:cNvSpPr>
            <a:spLocks noGrp="1"/>
          </p:cNvSpPr>
          <p:nvPr>
            <p:ph idx="1"/>
          </p:nvPr>
        </p:nvSpPr>
        <p:spPr/>
        <p:txBody>
          <a:bodyPr/>
          <a:lstStyle/>
          <a:p>
            <a:r>
              <a:rPr lang="en-US" dirty="0"/>
              <a:t>The View component is used for all the </a:t>
            </a:r>
            <a:r>
              <a:rPr lang="en-US" b="1" i="1" dirty="0"/>
              <a:t>UI logic </a:t>
            </a:r>
            <a:r>
              <a:rPr lang="en-US" dirty="0"/>
              <a:t>of the application. It presents the model data to the user, but does</a:t>
            </a:r>
            <a:r>
              <a:rPr lang="en-US" b="1" i="1" dirty="0"/>
              <a:t> not </a:t>
            </a:r>
            <a:r>
              <a:rPr lang="en-US" dirty="0"/>
              <a:t>handle processing.</a:t>
            </a:r>
          </a:p>
        </p:txBody>
      </p:sp>
    </p:spTree>
    <p:extLst>
      <p:ext uri="{BB962C8B-B14F-4D97-AF65-F5344CB8AC3E}">
        <p14:creationId xmlns:p14="http://schemas.microsoft.com/office/powerpoint/2010/main" val="11011926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57825-A29C-447F-BA89-25F3FD95FDE6}"/>
              </a:ext>
            </a:extLst>
          </p:cNvPr>
          <p:cNvSpPr>
            <a:spLocks noGrp="1"/>
          </p:cNvSpPr>
          <p:nvPr>
            <p:ph type="title"/>
          </p:nvPr>
        </p:nvSpPr>
        <p:spPr/>
        <p:txBody>
          <a:bodyPr/>
          <a:lstStyle/>
          <a:p>
            <a:r>
              <a:rPr lang="en-US" dirty="0"/>
              <a:t>View: Key Responsibilities:</a:t>
            </a:r>
          </a:p>
        </p:txBody>
      </p:sp>
      <p:sp>
        <p:nvSpPr>
          <p:cNvPr id="3" name="Content Placeholder 2">
            <a:extLst>
              <a:ext uri="{FF2B5EF4-FFF2-40B4-BE49-F238E27FC236}">
                <a16:creationId xmlns:a16="http://schemas.microsoft.com/office/drawing/2014/main" id="{ABDF2975-99B6-40C0-8749-A16D1E890473}"/>
              </a:ext>
            </a:extLst>
          </p:cNvPr>
          <p:cNvSpPr>
            <a:spLocks noGrp="1"/>
          </p:cNvSpPr>
          <p:nvPr>
            <p:ph idx="1"/>
          </p:nvPr>
        </p:nvSpPr>
        <p:spPr/>
        <p:txBody>
          <a:bodyPr/>
          <a:lstStyle/>
          <a:p>
            <a:r>
              <a:rPr lang="en-US" b="1" dirty="0"/>
              <a:t>Data Presentation:</a:t>
            </a:r>
            <a:r>
              <a:rPr lang="en-US" dirty="0"/>
              <a:t> Displays data to the user, which it receives from the model, and sends user commands to the controller.</a:t>
            </a:r>
          </a:p>
          <a:p>
            <a:endParaRPr lang="en-US" dirty="0"/>
          </a:p>
          <a:p>
            <a:r>
              <a:rPr lang="en-US" b="1" dirty="0"/>
              <a:t>User Interface Elements:</a:t>
            </a:r>
            <a:r>
              <a:rPr lang="en-US" dirty="0"/>
              <a:t> Manages how the user interface looks and feels, including layout, colors, and fonts.</a:t>
            </a:r>
          </a:p>
          <a:p>
            <a:endParaRPr lang="en-US" dirty="0"/>
          </a:p>
          <a:p>
            <a:r>
              <a:rPr lang="en-US" b="1" dirty="0"/>
              <a:t>Dynamic Updates:</a:t>
            </a:r>
            <a:r>
              <a:rPr lang="en-US" dirty="0"/>
              <a:t> Reacts to model changes (via observer patterns or similar mechanisms) to update the UI dynamically without user input.</a:t>
            </a:r>
          </a:p>
          <a:p>
            <a:endParaRPr lang="en-US" dirty="0"/>
          </a:p>
        </p:txBody>
      </p:sp>
    </p:spTree>
    <p:extLst>
      <p:ext uri="{BB962C8B-B14F-4D97-AF65-F5344CB8AC3E}">
        <p14:creationId xmlns:p14="http://schemas.microsoft.com/office/powerpoint/2010/main" val="28000320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CFE234-DE48-4B58-B084-C0F2A8A6CB71}"/>
              </a:ext>
            </a:extLst>
          </p:cNvPr>
          <p:cNvSpPr>
            <a:spLocks noGrp="1"/>
          </p:cNvSpPr>
          <p:nvPr>
            <p:ph type="title"/>
          </p:nvPr>
        </p:nvSpPr>
        <p:spPr/>
        <p:txBody>
          <a:bodyPr/>
          <a:lstStyle/>
          <a:p>
            <a:r>
              <a:rPr lang="en-US" dirty="0"/>
              <a:t>View in Java OOP</a:t>
            </a:r>
          </a:p>
        </p:txBody>
      </p:sp>
      <p:sp>
        <p:nvSpPr>
          <p:cNvPr id="3" name="Content Placeholder 2">
            <a:extLst>
              <a:ext uri="{FF2B5EF4-FFF2-40B4-BE49-F238E27FC236}">
                <a16:creationId xmlns:a16="http://schemas.microsoft.com/office/drawing/2014/main" id="{4D3EADA8-446F-4AA3-956F-8D7540A4DF34}"/>
              </a:ext>
            </a:extLst>
          </p:cNvPr>
          <p:cNvSpPr>
            <a:spLocks noGrp="1"/>
          </p:cNvSpPr>
          <p:nvPr>
            <p:ph idx="1"/>
          </p:nvPr>
        </p:nvSpPr>
        <p:spPr/>
        <p:txBody>
          <a:bodyPr/>
          <a:lstStyle/>
          <a:p>
            <a:r>
              <a:rPr lang="en-US" dirty="0"/>
              <a:t>Think JavaFX: Stages, Scenes, Containers, Controls</a:t>
            </a:r>
          </a:p>
          <a:p>
            <a:endParaRPr lang="en-US" dirty="0"/>
          </a:p>
        </p:txBody>
      </p:sp>
    </p:spTree>
    <p:extLst>
      <p:ext uri="{BB962C8B-B14F-4D97-AF65-F5344CB8AC3E}">
        <p14:creationId xmlns:p14="http://schemas.microsoft.com/office/powerpoint/2010/main" val="33387214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84F54-B533-42ED-842C-33349BACCA63}"/>
              </a:ext>
            </a:extLst>
          </p:cNvPr>
          <p:cNvSpPr>
            <a:spLocks noGrp="1"/>
          </p:cNvSpPr>
          <p:nvPr>
            <p:ph type="title"/>
          </p:nvPr>
        </p:nvSpPr>
        <p:spPr/>
        <p:txBody>
          <a:bodyPr/>
          <a:lstStyle/>
          <a:p>
            <a:r>
              <a:rPr lang="en-US" dirty="0"/>
              <a:t>Controller</a:t>
            </a:r>
          </a:p>
        </p:txBody>
      </p:sp>
      <p:sp>
        <p:nvSpPr>
          <p:cNvPr id="3" name="Content Placeholder 2">
            <a:extLst>
              <a:ext uri="{FF2B5EF4-FFF2-40B4-BE49-F238E27FC236}">
                <a16:creationId xmlns:a16="http://schemas.microsoft.com/office/drawing/2014/main" id="{14F09B61-DB61-481C-92E0-B8E884372CE1}"/>
              </a:ext>
            </a:extLst>
          </p:cNvPr>
          <p:cNvSpPr>
            <a:spLocks noGrp="1"/>
          </p:cNvSpPr>
          <p:nvPr>
            <p:ph idx="1"/>
          </p:nvPr>
        </p:nvSpPr>
        <p:spPr/>
        <p:txBody>
          <a:bodyPr/>
          <a:lstStyle/>
          <a:p>
            <a:r>
              <a:rPr lang="en-US" dirty="0"/>
              <a:t>The Controller acts as an </a:t>
            </a:r>
            <a:r>
              <a:rPr lang="en-US" b="1" i="1" dirty="0"/>
              <a:t>intermediary</a:t>
            </a:r>
            <a:r>
              <a:rPr lang="en-US" dirty="0"/>
              <a:t> between the model and the view. It listens to the input from the users, via the view, and executes the necessary reactions to these inputs by making calls to model objects.</a:t>
            </a:r>
          </a:p>
        </p:txBody>
      </p:sp>
    </p:spTree>
    <p:extLst>
      <p:ext uri="{BB962C8B-B14F-4D97-AF65-F5344CB8AC3E}">
        <p14:creationId xmlns:p14="http://schemas.microsoft.com/office/powerpoint/2010/main" val="36223093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5F50DC-6EAD-4031-9D92-FF71E7D8B4BC}"/>
              </a:ext>
            </a:extLst>
          </p:cNvPr>
          <p:cNvSpPr>
            <a:spLocks noGrp="1"/>
          </p:cNvSpPr>
          <p:nvPr>
            <p:ph type="title"/>
          </p:nvPr>
        </p:nvSpPr>
        <p:spPr/>
        <p:txBody>
          <a:bodyPr/>
          <a:lstStyle/>
          <a:p>
            <a:r>
              <a:rPr lang="en-US" dirty="0"/>
              <a:t>Controller: Key Responsibilities:</a:t>
            </a:r>
          </a:p>
        </p:txBody>
      </p:sp>
      <p:sp>
        <p:nvSpPr>
          <p:cNvPr id="3" name="Content Placeholder 2">
            <a:extLst>
              <a:ext uri="{FF2B5EF4-FFF2-40B4-BE49-F238E27FC236}">
                <a16:creationId xmlns:a16="http://schemas.microsoft.com/office/drawing/2014/main" id="{B4065636-9306-4822-808B-06FBFD3E63EB}"/>
              </a:ext>
            </a:extLst>
          </p:cNvPr>
          <p:cNvSpPr>
            <a:spLocks noGrp="1"/>
          </p:cNvSpPr>
          <p:nvPr>
            <p:ph idx="1"/>
          </p:nvPr>
        </p:nvSpPr>
        <p:spPr/>
        <p:txBody>
          <a:bodyPr/>
          <a:lstStyle/>
          <a:p>
            <a:r>
              <a:rPr lang="en-US" b="1" dirty="0"/>
              <a:t>Input Handling:</a:t>
            </a:r>
            <a:r>
              <a:rPr lang="en-US" dirty="0"/>
              <a:t> Processes all the user inputs or interactions, such as mouse clicks and keyboard inputs.</a:t>
            </a:r>
          </a:p>
          <a:p>
            <a:endParaRPr lang="en-US" dirty="0"/>
          </a:p>
          <a:p>
            <a:r>
              <a:rPr lang="en-US" b="1" dirty="0"/>
              <a:t>Application Flow Control:</a:t>
            </a:r>
            <a:r>
              <a:rPr lang="en-US" dirty="0"/>
              <a:t> Determines what response to send back to the user when the user makes a (browser) request.</a:t>
            </a:r>
          </a:p>
          <a:p>
            <a:endParaRPr lang="en-US" dirty="0"/>
          </a:p>
          <a:p>
            <a:r>
              <a:rPr lang="en-US" b="1" dirty="0"/>
              <a:t>Model-View Coordination:</a:t>
            </a:r>
            <a:r>
              <a:rPr lang="en-US" dirty="0"/>
              <a:t> Decides what model data to display and which view to use for presentation.</a:t>
            </a:r>
          </a:p>
          <a:p>
            <a:endParaRPr lang="en-US" dirty="0"/>
          </a:p>
        </p:txBody>
      </p:sp>
    </p:spTree>
    <p:extLst>
      <p:ext uri="{BB962C8B-B14F-4D97-AF65-F5344CB8AC3E}">
        <p14:creationId xmlns:p14="http://schemas.microsoft.com/office/powerpoint/2010/main" val="41662174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D35929-72C5-43B2-A27B-47574AA33C22}"/>
              </a:ext>
            </a:extLst>
          </p:cNvPr>
          <p:cNvSpPr>
            <a:spLocks noGrp="1"/>
          </p:cNvSpPr>
          <p:nvPr>
            <p:ph type="title"/>
          </p:nvPr>
        </p:nvSpPr>
        <p:spPr/>
        <p:txBody>
          <a:bodyPr/>
          <a:lstStyle/>
          <a:p>
            <a:r>
              <a:rPr lang="en-US" b="1" dirty="0"/>
              <a:t>Benefits of MVC</a:t>
            </a:r>
            <a:endParaRPr lang="en-US" dirty="0"/>
          </a:p>
        </p:txBody>
      </p:sp>
      <p:sp>
        <p:nvSpPr>
          <p:cNvPr id="3" name="Content Placeholder 2">
            <a:extLst>
              <a:ext uri="{FF2B5EF4-FFF2-40B4-BE49-F238E27FC236}">
                <a16:creationId xmlns:a16="http://schemas.microsoft.com/office/drawing/2014/main" id="{F6D4DE55-4F53-4CE3-A90D-CDE25F05CA9D}"/>
              </a:ext>
            </a:extLst>
          </p:cNvPr>
          <p:cNvSpPr>
            <a:spLocks noGrp="1"/>
          </p:cNvSpPr>
          <p:nvPr>
            <p:ph idx="1"/>
          </p:nvPr>
        </p:nvSpPr>
        <p:spPr/>
        <p:txBody>
          <a:bodyPr>
            <a:normAutofit fontScale="92500" lnSpcReduction="20000"/>
          </a:bodyPr>
          <a:lstStyle/>
          <a:p>
            <a:r>
              <a:rPr lang="en-US" b="1" dirty="0"/>
              <a:t>Separation of Concerns:</a:t>
            </a:r>
            <a:r>
              <a:rPr lang="en-US" dirty="0"/>
              <a:t> By dividing the application into three components, MVC segregates the database and business logic from the user interface. This separation facilitates maintenance and scalability.</a:t>
            </a:r>
          </a:p>
          <a:p>
            <a:r>
              <a:rPr lang="en-US" b="1" dirty="0"/>
              <a:t>Support for Parallel Development:</a:t>
            </a:r>
            <a:r>
              <a:rPr lang="en-US" dirty="0"/>
              <a:t> Different developers can work on the model, view, and controller simultaneously, which reduces the development time.</a:t>
            </a:r>
          </a:p>
          <a:p>
            <a:r>
              <a:rPr lang="en-US" b="1" dirty="0"/>
              <a:t>Ease of Modification:</a:t>
            </a:r>
            <a:r>
              <a:rPr lang="en-US" dirty="0"/>
              <a:t> Changes to the business logic or the UI can be made with minimal impact on the other parts of the application.</a:t>
            </a:r>
          </a:p>
          <a:p>
            <a:r>
              <a:rPr lang="en-US" b="1" dirty="0"/>
              <a:t>Reusability:</a:t>
            </a:r>
            <a:r>
              <a:rPr lang="en-US" dirty="0"/>
              <a:t> The modular nature of the MVC pattern allows for the reuse of models or views across different parts of an application or in different applications.</a:t>
            </a:r>
          </a:p>
          <a:p>
            <a:r>
              <a:rPr lang="en-US" b="1" dirty="0"/>
              <a:t>Testability:</a:t>
            </a:r>
            <a:r>
              <a:rPr lang="en-US" dirty="0"/>
              <a:t> With a clear separation, it becomes easier to unit test individual components in isolation.</a:t>
            </a:r>
          </a:p>
          <a:p>
            <a:endParaRPr lang="en-US" dirty="0"/>
          </a:p>
        </p:txBody>
      </p:sp>
    </p:spTree>
    <p:extLst>
      <p:ext uri="{BB962C8B-B14F-4D97-AF65-F5344CB8AC3E}">
        <p14:creationId xmlns:p14="http://schemas.microsoft.com/office/powerpoint/2010/main" val="15647789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A6136-0C35-4DB4-9A0E-FADBE3C31DB1}"/>
              </a:ext>
            </a:extLst>
          </p:cNvPr>
          <p:cNvSpPr>
            <a:spLocks noGrp="1"/>
          </p:cNvSpPr>
          <p:nvPr>
            <p:ph type="title"/>
          </p:nvPr>
        </p:nvSpPr>
        <p:spPr/>
        <p:txBody>
          <a:bodyPr/>
          <a:lstStyle/>
          <a:p>
            <a:r>
              <a:rPr lang="en-US" dirty="0"/>
              <a:t>MVC in Java</a:t>
            </a:r>
          </a:p>
        </p:txBody>
      </p:sp>
      <p:sp>
        <p:nvSpPr>
          <p:cNvPr id="3" name="Content Placeholder 2">
            <a:extLst>
              <a:ext uri="{FF2B5EF4-FFF2-40B4-BE49-F238E27FC236}">
                <a16:creationId xmlns:a16="http://schemas.microsoft.com/office/drawing/2014/main" id="{64E66F15-12EE-4775-86AE-D34C14336CEB}"/>
              </a:ext>
            </a:extLst>
          </p:cNvPr>
          <p:cNvSpPr>
            <a:spLocks noGrp="1"/>
          </p:cNvSpPr>
          <p:nvPr>
            <p:ph idx="1"/>
          </p:nvPr>
        </p:nvSpPr>
        <p:spPr/>
        <p:txBody>
          <a:bodyPr/>
          <a:lstStyle/>
          <a:p>
            <a:r>
              <a:rPr lang="en-US" dirty="0"/>
              <a:t>In a Java web application, MVC can be implemented using various frameworks, with Spring MVC and </a:t>
            </a:r>
            <a:r>
              <a:rPr lang="en-US" dirty="0" err="1"/>
              <a:t>JavaServer</a:t>
            </a:r>
            <a:r>
              <a:rPr lang="en-US" dirty="0"/>
              <a:t> Faces (JSF) being among the most popular.</a:t>
            </a:r>
          </a:p>
        </p:txBody>
      </p:sp>
    </p:spTree>
    <p:extLst>
      <p:ext uri="{BB962C8B-B14F-4D97-AF65-F5344CB8AC3E}">
        <p14:creationId xmlns:p14="http://schemas.microsoft.com/office/powerpoint/2010/main" val="17900657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AB912-1674-497C-924F-494BDCBB82E7}"/>
              </a:ext>
            </a:extLst>
          </p:cNvPr>
          <p:cNvSpPr>
            <a:spLocks noGrp="1"/>
          </p:cNvSpPr>
          <p:nvPr>
            <p:ph type="title"/>
          </p:nvPr>
        </p:nvSpPr>
        <p:spPr/>
        <p:txBody>
          <a:bodyPr/>
          <a:lstStyle/>
          <a:p>
            <a:r>
              <a:rPr lang="en-US" dirty="0"/>
              <a:t>Spring Framework</a:t>
            </a:r>
          </a:p>
        </p:txBody>
      </p:sp>
      <p:sp>
        <p:nvSpPr>
          <p:cNvPr id="3" name="Content Placeholder 2">
            <a:extLst>
              <a:ext uri="{FF2B5EF4-FFF2-40B4-BE49-F238E27FC236}">
                <a16:creationId xmlns:a16="http://schemas.microsoft.com/office/drawing/2014/main" id="{A33E0F90-C551-4B54-8BBC-B2792929796D}"/>
              </a:ext>
            </a:extLst>
          </p:cNvPr>
          <p:cNvSpPr>
            <a:spLocks noGrp="1"/>
          </p:cNvSpPr>
          <p:nvPr>
            <p:ph idx="1"/>
          </p:nvPr>
        </p:nvSpPr>
        <p:spPr/>
        <p:txBody>
          <a:bodyPr/>
          <a:lstStyle/>
          <a:p>
            <a:r>
              <a:rPr lang="en-US" dirty="0"/>
              <a:t>Spring is a comprehensive framework for developing Java applications. It provides a rich ecosystem covering a wide range of features, including but not limited to dependency injection, aspect-oriented programming, transaction management, and more. Designed to simplify Java EE development, Spring enables developers to build robust, high-performance applications with reduced boilerplate code. It supports a wide variety of application architectures, including web applications through the Spring MVC framework, which implements the Model-View-Controller design pattern for web development.</a:t>
            </a:r>
          </a:p>
        </p:txBody>
      </p:sp>
    </p:spTree>
    <p:extLst>
      <p:ext uri="{BB962C8B-B14F-4D97-AF65-F5344CB8AC3E}">
        <p14:creationId xmlns:p14="http://schemas.microsoft.com/office/powerpoint/2010/main" val="30731529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1EA7B-41F0-4A70-9C16-3B2DAD6312AC}"/>
              </a:ext>
            </a:extLst>
          </p:cNvPr>
          <p:cNvSpPr>
            <a:spLocks noGrp="1"/>
          </p:cNvSpPr>
          <p:nvPr>
            <p:ph type="title"/>
          </p:nvPr>
        </p:nvSpPr>
        <p:spPr/>
        <p:txBody>
          <a:bodyPr/>
          <a:lstStyle/>
          <a:p>
            <a:r>
              <a:rPr lang="en-US" dirty="0"/>
              <a:t>Spring Boot</a:t>
            </a:r>
          </a:p>
        </p:txBody>
      </p:sp>
      <p:sp>
        <p:nvSpPr>
          <p:cNvPr id="3" name="Content Placeholder 2">
            <a:extLst>
              <a:ext uri="{FF2B5EF4-FFF2-40B4-BE49-F238E27FC236}">
                <a16:creationId xmlns:a16="http://schemas.microsoft.com/office/drawing/2014/main" id="{9C0F86F7-C63A-4511-B130-596B6B7DC3E9}"/>
              </a:ext>
            </a:extLst>
          </p:cNvPr>
          <p:cNvSpPr>
            <a:spLocks noGrp="1"/>
          </p:cNvSpPr>
          <p:nvPr>
            <p:ph idx="1"/>
          </p:nvPr>
        </p:nvSpPr>
        <p:spPr/>
        <p:txBody>
          <a:bodyPr/>
          <a:lstStyle/>
          <a:p>
            <a:r>
              <a:rPr lang="en-US" dirty="0"/>
              <a:t>Spring Boot is built on top of the Spring framework and provides a simpler way to start and develop new Spring applications. It is designed to get you up and running as quickly as possible, with minimal upfront configuration of Spring. Spring Boot offers a range of out-of-the-box functionalities for application configuration, along with embedded servers like Tomcat, Jetty, or Undertow, to ease web application development.</a:t>
            </a:r>
          </a:p>
        </p:txBody>
      </p:sp>
    </p:spTree>
    <p:extLst>
      <p:ext uri="{BB962C8B-B14F-4D97-AF65-F5344CB8AC3E}">
        <p14:creationId xmlns:p14="http://schemas.microsoft.com/office/powerpoint/2010/main" val="33822059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09004B-5CCF-49EC-BDAC-405473A7BBBA}"/>
              </a:ext>
            </a:extLst>
          </p:cNvPr>
          <p:cNvSpPr>
            <a:spLocks noGrp="1"/>
          </p:cNvSpPr>
          <p:nvPr>
            <p:ph type="title"/>
          </p:nvPr>
        </p:nvSpPr>
        <p:spPr/>
        <p:txBody>
          <a:bodyPr/>
          <a:lstStyle/>
          <a:p>
            <a:r>
              <a:rPr lang="en-US" dirty="0"/>
              <a:t>Spring Key Features</a:t>
            </a:r>
          </a:p>
        </p:txBody>
      </p:sp>
      <p:sp>
        <p:nvSpPr>
          <p:cNvPr id="3" name="Content Placeholder 2">
            <a:extLst>
              <a:ext uri="{FF2B5EF4-FFF2-40B4-BE49-F238E27FC236}">
                <a16:creationId xmlns:a16="http://schemas.microsoft.com/office/drawing/2014/main" id="{2DF47746-AB63-4FA4-9395-426154ADC919}"/>
              </a:ext>
            </a:extLst>
          </p:cNvPr>
          <p:cNvSpPr>
            <a:spLocks noGrp="1"/>
          </p:cNvSpPr>
          <p:nvPr>
            <p:ph idx="1"/>
          </p:nvPr>
        </p:nvSpPr>
        <p:spPr/>
        <p:txBody>
          <a:bodyPr>
            <a:normAutofit fontScale="92500" lnSpcReduction="10000"/>
          </a:bodyPr>
          <a:lstStyle/>
          <a:p>
            <a:r>
              <a:rPr lang="en-US" b="1" dirty="0"/>
              <a:t>Inversion of Control (</a:t>
            </a:r>
            <a:r>
              <a:rPr lang="en-US" b="1" dirty="0" err="1"/>
              <a:t>IoC</a:t>
            </a:r>
            <a:r>
              <a:rPr lang="en-US" b="1" dirty="0"/>
              <a:t>):</a:t>
            </a:r>
            <a:r>
              <a:rPr lang="en-US" dirty="0"/>
              <a:t> Simplifies the management of Java objects using dependency injection.</a:t>
            </a:r>
          </a:p>
          <a:p>
            <a:r>
              <a:rPr lang="en-US" b="1" dirty="0"/>
              <a:t>Aspect-Oriented Programming (AOP):</a:t>
            </a:r>
            <a:r>
              <a:rPr lang="en-US" dirty="0"/>
              <a:t> Allows defining cross-cutting concerns separate from the business logic.</a:t>
            </a:r>
          </a:p>
          <a:p>
            <a:r>
              <a:rPr lang="en-US" b="1" dirty="0"/>
              <a:t>Data Access:</a:t>
            </a:r>
            <a:r>
              <a:rPr lang="en-US" dirty="0"/>
              <a:t> Streamlines database operations and offers integration with popular ORM (Object-Relational-Mapping) frameworks, e.g. Hibernate (Java).</a:t>
            </a:r>
          </a:p>
          <a:p>
            <a:r>
              <a:rPr lang="en-US" b="1" dirty="0"/>
              <a:t>Transaction Management:</a:t>
            </a:r>
            <a:r>
              <a:rPr lang="en-US" dirty="0"/>
              <a:t> Offers a consistent programming model across different transaction APIs.</a:t>
            </a:r>
          </a:p>
          <a:p>
            <a:r>
              <a:rPr lang="en-US" b="1" dirty="0"/>
              <a:t>Spring MVC:</a:t>
            </a:r>
            <a:r>
              <a:rPr lang="en-US" dirty="0"/>
              <a:t> A web framework for building MVC-based web applications and RESTful web services.</a:t>
            </a:r>
          </a:p>
          <a:p>
            <a:endParaRPr lang="en-US" dirty="0"/>
          </a:p>
        </p:txBody>
      </p:sp>
    </p:spTree>
    <p:extLst>
      <p:ext uri="{BB962C8B-B14F-4D97-AF65-F5344CB8AC3E}">
        <p14:creationId xmlns:p14="http://schemas.microsoft.com/office/powerpoint/2010/main" val="8901545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7AAA4-F50B-4357-A44C-E7C9C3C5371D}"/>
              </a:ext>
            </a:extLst>
          </p:cNvPr>
          <p:cNvSpPr>
            <a:spLocks noGrp="1"/>
          </p:cNvSpPr>
          <p:nvPr>
            <p:ph type="title"/>
          </p:nvPr>
        </p:nvSpPr>
        <p:spPr/>
        <p:txBody>
          <a:bodyPr/>
          <a:lstStyle/>
          <a:p>
            <a:r>
              <a:rPr lang="en-US" b="1" dirty="0" err="1"/>
              <a:t>JavaServer</a:t>
            </a:r>
            <a:r>
              <a:rPr lang="en-US" b="1" dirty="0"/>
              <a:t> Faces (JSF)</a:t>
            </a:r>
            <a:endParaRPr lang="en-US" dirty="0"/>
          </a:p>
        </p:txBody>
      </p:sp>
      <p:sp>
        <p:nvSpPr>
          <p:cNvPr id="3" name="Content Placeholder 2">
            <a:extLst>
              <a:ext uri="{FF2B5EF4-FFF2-40B4-BE49-F238E27FC236}">
                <a16:creationId xmlns:a16="http://schemas.microsoft.com/office/drawing/2014/main" id="{6A4F8085-54B4-422A-99BD-2B11839C2322}"/>
              </a:ext>
            </a:extLst>
          </p:cNvPr>
          <p:cNvSpPr>
            <a:spLocks noGrp="1"/>
          </p:cNvSpPr>
          <p:nvPr>
            <p:ph idx="1"/>
          </p:nvPr>
        </p:nvSpPr>
        <p:spPr/>
        <p:txBody>
          <a:bodyPr/>
          <a:lstStyle/>
          <a:p>
            <a:r>
              <a:rPr lang="en-US" dirty="0" err="1"/>
              <a:t>JavaServer</a:t>
            </a:r>
            <a:r>
              <a:rPr lang="en-US" dirty="0"/>
              <a:t> Faces (JSF) is a Java specification for building component-based user interfaces for web applications. It is part of the Java Platform, Enterprise Edition. JSF simplifies the development of user interfaces for </a:t>
            </a:r>
            <a:r>
              <a:rPr lang="en-US" dirty="0" err="1"/>
              <a:t>JavaEE</a:t>
            </a:r>
            <a:r>
              <a:rPr lang="en-US" dirty="0"/>
              <a:t> applications through its use of a component-based model that allows developers to drag and drop UI components onto a page. It supports event handling, data conversion, validation, and page navigation, offering a standard for building server-side user interfaces.</a:t>
            </a:r>
          </a:p>
          <a:p>
            <a:endParaRPr lang="en-US" dirty="0"/>
          </a:p>
        </p:txBody>
      </p:sp>
    </p:spTree>
    <p:extLst>
      <p:ext uri="{BB962C8B-B14F-4D97-AF65-F5344CB8AC3E}">
        <p14:creationId xmlns:p14="http://schemas.microsoft.com/office/powerpoint/2010/main" val="25240563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C7614B-27A7-4F9D-A15A-259C2687828E}"/>
              </a:ext>
            </a:extLst>
          </p:cNvPr>
          <p:cNvSpPr>
            <a:spLocks noGrp="1"/>
          </p:cNvSpPr>
          <p:nvPr>
            <p:ph type="title"/>
          </p:nvPr>
        </p:nvSpPr>
        <p:spPr/>
        <p:txBody>
          <a:bodyPr/>
          <a:lstStyle/>
          <a:p>
            <a:r>
              <a:rPr lang="en-US" dirty="0" err="1"/>
              <a:t>JavaServer</a:t>
            </a:r>
            <a:r>
              <a:rPr lang="en-US" dirty="0"/>
              <a:t> Faces Key Features</a:t>
            </a:r>
          </a:p>
        </p:txBody>
      </p:sp>
      <p:sp>
        <p:nvSpPr>
          <p:cNvPr id="3" name="Content Placeholder 2">
            <a:extLst>
              <a:ext uri="{FF2B5EF4-FFF2-40B4-BE49-F238E27FC236}">
                <a16:creationId xmlns:a16="http://schemas.microsoft.com/office/drawing/2014/main" id="{D8E66DD9-5414-4359-B29C-1FEB15CDC657}"/>
              </a:ext>
            </a:extLst>
          </p:cNvPr>
          <p:cNvSpPr>
            <a:spLocks noGrp="1"/>
          </p:cNvSpPr>
          <p:nvPr>
            <p:ph idx="1"/>
          </p:nvPr>
        </p:nvSpPr>
        <p:spPr/>
        <p:txBody>
          <a:bodyPr>
            <a:normAutofit lnSpcReduction="10000"/>
          </a:bodyPr>
          <a:lstStyle/>
          <a:p>
            <a:r>
              <a:rPr lang="en-US" b="1" dirty="0"/>
              <a:t>Component-Based UI Development:</a:t>
            </a:r>
            <a:r>
              <a:rPr lang="en-US" dirty="0"/>
              <a:t> Encourages building applications from reusable components.</a:t>
            </a:r>
          </a:p>
          <a:p>
            <a:r>
              <a:rPr lang="en-US" b="1" dirty="0"/>
              <a:t>Event-Driven Programming:</a:t>
            </a:r>
            <a:r>
              <a:rPr lang="en-US" dirty="0"/>
              <a:t> Simplifies handling user actions through managed beans.</a:t>
            </a:r>
          </a:p>
          <a:p>
            <a:r>
              <a:rPr lang="en-US" b="1" dirty="0"/>
              <a:t>Page Navigation:</a:t>
            </a:r>
            <a:r>
              <a:rPr lang="en-US" dirty="0"/>
              <a:t> Defines application flow within pages or between different pages using a declarative approach.</a:t>
            </a:r>
          </a:p>
          <a:p>
            <a:r>
              <a:rPr lang="en-US" b="1" dirty="0"/>
              <a:t>Validation and Conversion:</a:t>
            </a:r>
            <a:r>
              <a:rPr lang="en-US" dirty="0"/>
              <a:t> Supports automatic data conversion and validation, reducing boilerplate code for input processing.</a:t>
            </a:r>
          </a:p>
          <a:p>
            <a:r>
              <a:rPr lang="en-US" b="1" dirty="0"/>
              <a:t>Integration with AJAX:</a:t>
            </a:r>
            <a:r>
              <a:rPr lang="en-US" dirty="0"/>
              <a:t> Enables dynamic updates to the UI without reloading the entire page, improving the user experience.</a:t>
            </a:r>
          </a:p>
          <a:p>
            <a:endParaRPr lang="en-US" dirty="0"/>
          </a:p>
        </p:txBody>
      </p:sp>
    </p:spTree>
    <p:extLst>
      <p:ext uri="{BB962C8B-B14F-4D97-AF65-F5344CB8AC3E}">
        <p14:creationId xmlns:p14="http://schemas.microsoft.com/office/powerpoint/2010/main" val="29359256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AD5D8-8B4A-48F7-BADD-9DAB40BE7A9F}"/>
              </a:ext>
            </a:extLst>
          </p:cNvPr>
          <p:cNvSpPr>
            <a:spLocks noGrp="1"/>
          </p:cNvSpPr>
          <p:nvPr>
            <p:ph type="title"/>
          </p:nvPr>
        </p:nvSpPr>
        <p:spPr/>
        <p:txBody>
          <a:bodyPr/>
          <a:lstStyle/>
          <a:p>
            <a:r>
              <a:rPr lang="en-US" dirty="0"/>
              <a:t>Spring and </a:t>
            </a:r>
            <a:r>
              <a:rPr lang="en-US" dirty="0" err="1"/>
              <a:t>JavaServer</a:t>
            </a:r>
            <a:r>
              <a:rPr lang="en-US" dirty="0"/>
              <a:t> Faces</a:t>
            </a:r>
          </a:p>
        </p:txBody>
      </p:sp>
      <p:sp>
        <p:nvSpPr>
          <p:cNvPr id="3" name="Content Placeholder 2">
            <a:extLst>
              <a:ext uri="{FF2B5EF4-FFF2-40B4-BE49-F238E27FC236}">
                <a16:creationId xmlns:a16="http://schemas.microsoft.com/office/drawing/2014/main" id="{FB710AC1-D685-49B4-8B63-ECC33680B567}"/>
              </a:ext>
            </a:extLst>
          </p:cNvPr>
          <p:cNvSpPr>
            <a:spLocks noGrp="1"/>
          </p:cNvSpPr>
          <p:nvPr>
            <p:ph idx="1"/>
          </p:nvPr>
        </p:nvSpPr>
        <p:spPr/>
        <p:txBody>
          <a:bodyPr/>
          <a:lstStyle/>
          <a:p>
            <a:r>
              <a:rPr lang="en-US" dirty="0"/>
              <a:t>Spring and Spring Boot are more general-purpose frameworks that can be used for a variety of application types, including web, desktop, batch processing, and more.</a:t>
            </a:r>
          </a:p>
          <a:p>
            <a:endParaRPr lang="en-US" dirty="0"/>
          </a:p>
          <a:p>
            <a:r>
              <a:rPr lang="en-US" dirty="0"/>
              <a:t>JSF is specifically tailored for web applications, emphasizing reusable UI components.</a:t>
            </a:r>
          </a:p>
        </p:txBody>
      </p:sp>
    </p:spTree>
    <p:extLst>
      <p:ext uri="{BB962C8B-B14F-4D97-AF65-F5344CB8AC3E}">
        <p14:creationId xmlns:p14="http://schemas.microsoft.com/office/powerpoint/2010/main" val="15481593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E197F-B5A6-4AE5-93C8-5D9C34EF99C3}"/>
              </a:ext>
            </a:extLst>
          </p:cNvPr>
          <p:cNvSpPr>
            <a:spLocks noGrp="1"/>
          </p:cNvSpPr>
          <p:nvPr>
            <p:ph type="title"/>
          </p:nvPr>
        </p:nvSpPr>
        <p:spPr/>
        <p:txBody>
          <a:bodyPr/>
          <a:lstStyle/>
          <a:p>
            <a:r>
              <a:rPr lang="en-US" dirty="0"/>
              <a:t>Java MVC Specifics</a:t>
            </a:r>
          </a:p>
        </p:txBody>
      </p:sp>
      <p:sp>
        <p:nvSpPr>
          <p:cNvPr id="3" name="Content Placeholder 2">
            <a:extLst>
              <a:ext uri="{FF2B5EF4-FFF2-40B4-BE49-F238E27FC236}">
                <a16:creationId xmlns:a16="http://schemas.microsoft.com/office/drawing/2014/main" id="{DCEF071E-F89B-4D91-A51D-00C3C8E0A7A6}"/>
              </a:ext>
            </a:extLst>
          </p:cNvPr>
          <p:cNvSpPr>
            <a:spLocks noGrp="1"/>
          </p:cNvSpPr>
          <p:nvPr>
            <p:ph idx="1"/>
          </p:nvPr>
        </p:nvSpPr>
        <p:spPr/>
        <p:txBody>
          <a:bodyPr>
            <a:normAutofit lnSpcReduction="10000"/>
          </a:bodyPr>
          <a:lstStyle/>
          <a:p>
            <a:r>
              <a:rPr lang="en-US" b="1" dirty="0"/>
              <a:t>Model:</a:t>
            </a:r>
            <a:r>
              <a:rPr lang="en-US" dirty="0"/>
              <a:t> JavaBeans or POJOs (Plain Old Java Objects) are used to represent the model, encapsulating the data and business logic.</a:t>
            </a:r>
          </a:p>
          <a:p>
            <a:endParaRPr lang="en-US" dirty="0"/>
          </a:p>
          <a:p>
            <a:r>
              <a:rPr lang="en-US" b="1" dirty="0"/>
              <a:t>View:</a:t>
            </a:r>
            <a:r>
              <a:rPr lang="en-US" dirty="0"/>
              <a:t> JSPs (</a:t>
            </a:r>
            <a:r>
              <a:rPr lang="en-US" dirty="0" err="1"/>
              <a:t>JavaServer</a:t>
            </a:r>
            <a:r>
              <a:rPr lang="en-US" dirty="0"/>
              <a:t> Pages), </a:t>
            </a:r>
            <a:r>
              <a:rPr lang="en-US" dirty="0" err="1"/>
              <a:t>Thymeleaf</a:t>
            </a:r>
            <a:r>
              <a:rPr lang="en-US" dirty="0"/>
              <a:t>, or other templating engines are used to generate the HTML content that is rendered on the client's browser.</a:t>
            </a:r>
          </a:p>
          <a:p>
            <a:endParaRPr lang="en-US" dirty="0"/>
          </a:p>
          <a:p>
            <a:r>
              <a:rPr lang="en-US" b="1" dirty="0"/>
              <a:t>Controller:</a:t>
            </a:r>
            <a:r>
              <a:rPr lang="en-US" dirty="0"/>
              <a:t> Servlets or framework-specific controllers (like Spring MVC’s ‘@controller’ annotated classes) handle user requests, and select views for response rendering.</a:t>
            </a:r>
          </a:p>
        </p:txBody>
      </p:sp>
    </p:spTree>
    <p:extLst>
      <p:ext uri="{BB962C8B-B14F-4D97-AF65-F5344CB8AC3E}">
        <p14:creationId xmlns:p14="http://schemas.microsoft.com/office/powerpoint/2010/main" val="127986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A447A8-8695-4366-948C-3A75262837E2}"/>
              </a:ext>
            </a:extLst>
          </p:cNvPr>
          <p:cNvSpPr>
            <a:spLocks noGrp="1"/>
          </p:cNvSpPr>
          <p:nvPr>
            <p:ph type="title"/>
          </p:nvPr>
        </p:nvSpPr>
        <p:spPr/>
        <p:txBody>
          <a:bodyPr/>
          <a:lstStyle/>
          <a:p>
            <a:r>
              <a:rPr lang="en-US" dirty="0"/>
              <a:t>Other MVC Development Frameworks</a:t>
            </a:r>
          </a:p>
        </p:txBody>
      </p:sp>
      <p:sp>
        <p:nvSpPr>
          <p:cNvPr id="3" name="Content Placeholder 2">
            <a:extLst>
              <a:ext uri="{FF2B5EF4-FFF2-40B4-BE49-F238E27FC236}">
                <a16:creationId xmlns:a16="http://schemas.microsoft.com/office/drawing/2014/main" id="{78FEA810-0642-4109-84EC-7110CE35E457}"/>
              </a:ext>
            </a:extLst>
          </p:cNvPr>
          <p:cNvSpPr>
            <a:spLocks noGrp="1"/>
          </p:cNvSpPr>
          <p:nvPr>
            <p:ph idx="1"/>
          </p:nvPr>
        </p:nvSpPr>
        <p:spPr/>
        <p:txBody>
          <a:bodyPr>
            <a:normAutofit fontScale="85000" lnSpcReduction="10000"/>
          </a:bodyPr>
          <a:lstStyle/>
          <a:p>
            <a:r>
              <a:rPr lang="en-US" b="1" dirty="0"/>
              <a:t>Java </a:t>
            </a:r>
          </a:p>
          <a:p>
            <a:pPr lvl="1"/>
            <a:r>
              <a:rPr lang="en-US" b="1" dirty="0"/>
              <a:t>Struts:</a:t>
            </a:r>
            <a:r>
              <a:rPr lang="en-US" dirty="0"/>
              <a:t> An open-source framework for creating Java web applications. It uses a plug-in architecture, allowing its configuration to be adapted to any development environment.</a:t>
            </a:r>
          </a:p>
          <a:p>
            <a:r>
              <a:rPr lang="en-US" dirty="0" err="1"/>
              <a:t>.Net</a:t>
            </a:r>
            <a:endParaRPr lang="en-US" dirty="0"/>
          </a:p>
          <a:p>
            <a:pPr lvl="1"/>
            <a:r>
              <a:rPr lang="en-US" b="1" dirty="0"/>
              <a:t>ASP.NET MVC:</a:t>
            </a:r>
            <a:r>
              <a:rPr lang="en-US" dirty="0"/>
              <a:t> A Microsoft framework for building scalable, standards-based web applications using well-established design patterns and the power of the .NET Framework.</a:t>
            </a:r>
          </a:p>
          <a:p>
            <a:r>
              <a:rPr lang="en-US" dirty="0"/>
              <a:t>Python</a:t>
            </a:r>
          </a:p>
          <a:p>
            <a:pPr lvl="1"/>
            <a:r>
              <a:rPr lang="en-US" b="1" dirty="0"/>
              <a:t>Django:</a:t>
            </a:r>
            <a:r>
              <a:rPr lang="en-US" dirty="0"/>
              <a:t> A high-level Python web framework that encourages rapid development and clean, pragmatic design. Built by experienced developers, it takes care of much of the hassle of web development.</a:t>
            </a:r>
          </a:p>
          <a:p>
            <a:pPr lvl="1"/>
            <a:r>
              <a:rPr lang="en-US" b="1" dirty="0"/>
              <a:t>Flask:</a:t>
            </a:r>
            <a:r>
              <a:rPr lang="en-US" dirty="0"/>
              <a:t> A micro web framework written in Python. It is classified as a microframework because it does not require particular tools or libraries. It has no database abstraction layer, form validation, or any other components where pre-existing third-party libraries provide common functions.</a:t>
            </a:r>
          </a:p>
        </p:txBody>
      </p:sp>
    </p:spTree>
    <p:extLst>
      <p:ext uri="{BB962C8B-B14F-4D97-AF65-F5344CB8AC3E}">
        <p14:creationId xmlns:p14="http://schemas.microsoft.com/office/powerpoint/2010/main" val="30781044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BBD575-0CE6-4D3C-B619-BAE7C41940CD}"/>
              </a:ext>
            </a:extLst>
          </p:cNvPr>
          <p:cNvSpPr>
            <a:spLocks noGrp="1"/>
          </p:cNvSpPr>
          <p:nvPr>
            <p:ph type="title"/>
          </p:nvPr>
        </p:nvSpPr>
        <p:spPr/>
        <p:txBody>
          <a:bodyPr/>
          <a:lstStyle/>
          <a:p>
            <a:r>
              <a:rPr lang="en-US" dirty="0"/>
              <a:t>Other MVC Development Frameworks (continue)</a:t>
            </a:r>
          </a:p>
        </p:txBody>
      </p:sp>
      <p:sp>
        <p:nvSpPr>
          <p:cNvPr id="3" name="Content Placeholder 2">
            <a:extLst>
              <a:ext uri="{FF2B5EF4-FFF2-40B4-BE49-F238E27FC236}">
                <a16:creationId xmlns:a16="http://schemas.microsoft.com/office/drawing/2014/main" id="{4AD767D9-32C2-4281-BC70-EF1BD98A44AF}"/>
              </a:ext>
            </a:extLst>
          </p:cNvPr>
          <p:cNvSpPr>
            <a:spLocks noGrp="1"/>
          </p:cNvSpPr>
          <p:nvPr>
            <p:ph idx="1"/>
          </p:nvPr>
        </p:nvSpPr>
        <p:spPr/>
        <p:txBody>
          <a:bodyPr>
            <a:normAutofit fontScale="92500" lnSpcReduction="10000"/>
          </a:bodyPr>
          <a:lstStyle/>
          <a:p>
            <a:r>
              <a:rPr lang="en-US" dirty="0"/>
              <a:t>Ruby</a:t>
            </a:r>
          </a:p>
          <a:p>
            <a:pPr lvl="1"/>
            <a:r>
              <a:rPr lang="en-US" b="1" dirty="0"/>
              <a:t>Ruby on Rails:</a:t>
            </a:r>
            <a:r>
              <a:rPr lang="en-US" dirty="0"/>
              <a:t> A server-side web application framework written in Ruby under the MIT License. Rails is a model-view-controller (MVC) framework, providing default structures for a database, a web service, and web pages.</a:t>
            </a:r>
          </a:p>
          <a:p>
            <a:pPr lvl="1"/>
            <a:endParaRPr lang="en-US" dirty="0"/>
          </a:p>
          <a:p>
            <a:r>
              <a:rPr lang="en-US" dirty="0"/>
              <a:t>PHP</a:t>
            </a:r>
          </a:p>
          <a:p>
            <a:r>
              <a:rPr lang="en-US" b="1" dirty="0"/>
              <a:t>Laravel:</a:t>
            </a:r>
            <a:r>
              <a:rPr lang="en-US" dirty="0"/>
              <a:t> A web application framework with expressive, elegant syntax. Laravel aims to make the development process a pleasing one for the developer without sacrificing application functionality.</a:t>
            </a:r>
          </a:p>
          <a:p>
            <a:r>
              <a:rPr lang="en-US" b="1" dirty="0" err="1"/>
              <a:t>Symfony</a:t>
            </a:r>
            <a:r>
              <a:rPr lang="en-US" b="1" dirty="0"/>
              <a:t>:</a:t>
            </a:r>
            <a:r>
              <a:rPr lang="en-US" dirty="0"/>
              <a:t> A PHP web application framework and a set of reusable PHP components/libraries. </a:t>
            </a:r>
            <a:r>
              <a:rPr lang="en-US" dirty="0" err="1"/>
              <a:t>Symfony</a:t>
            </a:r>
            <a:r>
              <a:rPr lang="en-US" dirty="0"/>
              <a:t> was published as free software and released under the MIT license.</a:t>
            </a:r>
          </a:p>
          <a:p>
            <a:pPr lvl="1"/>
            <a:endParaRPr lang="en-US" dirty="0"/>
          </a:p>
        </p:txBody>
      </p:sp>
    </p:spTree>
    <p:extLst>
      <p:ext uri="{BB962C8B-B14F-4D97-AF65-F5344CB8AC3E}">
        <p14:creationId xmlns:p14="http://schemas.microsoft.com/office/powerpoint/2010/main" val="36429241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D2E6D-3376-477E-999D-5A3EA2CBF187}"/>
              </a:ext>
            </a:extLst>
          </p:cNvPr>
          <p:cNvSpPr>
            <a:spLocks noGrp="1"/>
          </p:cNvSpPr>
          <p:nvPr>
            <p:ph type="title"/>
          </p:nvPr>
        </p:nvSpPr>
        <p:spPr/>
        <p:txBody>
          <a:bodyPr/>
          <a:lstStyle/>
          <a:p>
            <a:r>
              <a:rPr lang="en-US" dirty="0"/>
              <a:t>Other MVC Development Frameworks (continue)</a:t>
            </a:r>
          </a:p>
        </p:txBody>
      </p:sp>
      <p:sp>
        <p:nvSpPr>
          <p:cNvPr id="3" name="Content Placeholder 2">
            <a:extLst>
              <a:ext uri="{FF2B5EF4-FFF2-40B4-BE49-F238E27FC236}">
                <a16:creationId xmlns:a16="http://schemas.microsoft.com/office/drawing/2014/main" id="{12F93602-8ED6-423A-A122-F87072B677DE}"/>
              </a:ext>
            </a:extLst>
          </p:cNvPr>
          <p:cNvSpPr>
            <a:spLocks noGrp="1"/>
          </p:cNvSpPr>
          <p:nvPr>
            <p:ph idx="1"/>
          </p:nvPr>
        </p:nvSpPr>
        <p:spPr/>
        <p:txBody>
          <a:bodyPr>
            <a:normAutofit fontScale="85000" lnSpcReduction="20000"/>
          </a:bodyPr>
          <a:lstStyle/>
          <a:p>
            <a:r>
              <a:rPr lang="en-US" b="1" dirty="0"/>
              <a:t>JavaScript/Node.js</a:t>
            </a:r>
          </a:p>
          <a:p>
            <a:pPr lvl="1"/>
            <a:r>
              <a:rPr lang="en-US" b="1" dirty="0"/>
              <a:t>Express.js:</a:t>
            </a:r>
            <a:r>
              <a:rPr lang="en-US" dirty="0"/>
              <a:t> A minimal and flexible Node.js web application framework that provides a robust set of features for web and mobile applications. It facilitates the rapid development of Node-based web applications.</a:t>
            </a:r>
          </a:p>
          <a:p>
            <a:pPr lvl="1"/>
            <a:r>
              <a:rPr lang="en-US" b="1" dirty="0"/>
              <a:t>AngularJS/Angular:</a:t>
            </a:r>
            <a:r>
              <a:rPr lang="en-US" dirty="0"/>
              <a:t> Although Angular (commonly referred to as "Angular 2+" or simply "Angular") and AngularJS ("Angular 1.x") are more client-side frameworks, they follow the MVC pattern in their architecture. Angular is a platform and framework for building single-page client applications using HTML and TypeScript.</a:t>
            </a:r>
          </a:p>
          <a:p>
            <a:pPr lvl="1"/>
            <a:r>
              <a:rPr lang="en-US" b="1" dirty="0"/>
              <a:t>Vue.js:</a:t>
            </a:r>
            <a:r>
              <a:rPr lang="en-US" dirty="0"/>
              <a:t> A progressive framework for building user interfaces. Unlike other monolithic frameworks, Vue is designed from the ground up to be incrementally adoptable. The core library focuses on the view layer only, and it's easy to pick up and integrate with other libraries or existing projects. Vue is also perfectly capable of powering sophisticated Single-Page Applications when used in combination with modern tooling and supporting libraries.</a:t>
            </a:r>
          </a:p>
          <a:p>
            <a:pPr lvl="1"/>
            <a:r>
              <a:rPr lang="en-US" b="1" dirty="0"/>
              <a:t>React:</a:t>
            </a:r>
            <a:r>
              <a:rPr lang="en-US" dirty="0"/>
              <a:t> While React itself is more of a library for building user interfaces, when used with additional libraries like Redux or React Router, it can also be part of an architecture that follows MVC patterns. React is used for building user interfaces specifically for single-page applications where you need to keep data that changes over time in sync with the view.</a:t>
            </a:r>
          </a:p>
          <a:p>
            <a:pPr lvl="1"/>
            <a:endParaRPr lang="en-US" dirty="0"/>
          </a:p>
        </p:txBody>
      </p:sp>
    </p:spTree>
    <p:extLst>
      <p:ext uri="{BB962C8B-B14F-4D97-AF65-F5344CB8AC3E}">
        <p14:creationId xmlns:p14="http://schemas.microsoft.com/office/powerpoint/2010/main" val="31012802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1D5CC9-F785-4B15-83C3-36FF0B932ED6}"/>
              </a:ext>
            </a:extLst>
          </p:cNvPr>
          <p:cNvSpPr>
            <a:spLocks noGrp="1"/>
          </p:cNvSpPr>
          <p:nvPr>
            <p:ph type="title"/>
          </p:nvPr>
        </p:nvSpPr>
        <p:spPr/>
        <p:txBody>
          <a:bodyPr/>
          <a:lstStyle/>
          <a:p>
            <a:r>
              <a:rPr lang="en-US" dirty="0"/>
              <a:t>Sample Scenario</a:t>
            </a:r>
          </a:p>
        </p:txBody>
      </p:sp>
      <p:sp>
        <p:nvSpPr>
          <p:cNvPr id="3" name="Content Placeholder 2">
            <a:extLst>
              <a:ext uri="{FF2B5EF4-FFF2-40B4-BE49-F238E27FC236}">
                <a16:creationId xmlns:a16="http://schemas.microsoft.com/office/drawing/2014/main" id="{3B45DD12-BE9A-447F-9C70-FDEB1991014C}"/>
              </a:ext>
            </a:extLst>
          </p:cNvPr>
          <p:cNvSpPr>
            <a:spLocks noGrp="1"/>
          </p:cNvSpPr>
          <p:nvPr>
            <p:ph idx="1"/>
          </p:nvPr>
        </p:nvSpPr>
        <p:spPr/>
        <p:txBody>
          <a:bodyPr/>
          <a:lstStyle/>
          <a:p>
            <a:r>
              <a:rPr lang="en-US" dirty="0"/>
              <a:t>Imagine a web application for a bookstore. The model represents the books and their data (title, author, price). The view displays this information in a user-friendly format. The controller handles search requests from users, fetching book data from the model and instructing the view to display the search results.</a:t>
            </a:r>
          </a:p>
        </p:txBody>
      </p:sp>
    </p:spTree>
    <p:extLst>
      <p:ext uri="{BB962C8B-B14F-4D97-AF65-F5344CB8AC3E}">
        <p14:creationId xmlns:p14="http://schemas.microsoft.com/office/powerpoint/2010/main" val="15897189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80B890-D1C1-4181-B2F4-E6E5DE51001A}"/>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8339F244-B0F6-4581-BD2C-46B5F49EAE46}"/>
              </a:ext>
            </a:extLst>
          </p:cNvPr>
          <p:cNvSpPr>
            <a:spLocks noGrp="1"/>
          </p:cNvSpPr>
          <p:nvPr>
            <p:ph idx="1"/>
          </p:nvPr>
        </p:nvSpPr>
        <p:spPr/>
        <p:txBody>
          <a:bodyPr/>
          <a:lstStyle/>
          <a:p>
            <a:r>
              <a:rPr lang="en-US" dirty="0"/>
              <a:t>The MVC pattern is a cornerstone of efficient, effective, and organized software development, particularly in web applications. It enhances collaboration among developers, simplifies complex applications by dividing them into manageable components, and improves the quality and maintainability of the code. Understanding and implementing the MVC pattern is essential for modern software development, providing a structured approach to designing applications that are easy to test, maintain, and extend.</a:t>
            </a:r>
          </a:p>
        </p:txBody>
      </p:sp>
    </p:spTree>
    <p:extLst>
      <p:ext uri="{BB962C8B-B14F-4D97-AF65-F5344CB8AC3E}">
        <p14:creationId xmlns:p14="http://schemas.microsoft.com/office/powerpoint/2010/main" val="32899713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78</TotalTime>
  <Words>2427</Words>
  <Application>Microsoft Office PowerPoint</Application>
  <PresentationFormat>Widescreen</PresentationFormat>
  <Paragraphs>129</Paragraphs>
  <Slides>33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33</vt:i4>
      </vt:variant>
    </vt:vector>
  </HeadingPairs>
  <TitlesOfParts>
    <vt:vector size="37" baseType="lpstr">
      <vt:lpstr>Arial</vt:lpstr>
      <vt:lpstr>Calibri</vt:lpstr>
      <vt:lpstr>Calibri Light</vt:lpstr>
      <vt:lpstr>Office Theme</vt:lpstr>
      <vt:lpstr>Design Patterns</vt:lpstr>
      <vt:lpstr>Introduction</vt:lpstr>
      <vt:lpstr>Categories:</vt:lpstr>
      <vt:lpstr>Creational Patterns:</vt:lpstr>
      <vt:lpstr>Creational Patterns Example:</vt:lpstr>
      <vt:lpstr>Structural Patterns</vt:lpstr>
      <vt:lpstr>Structural Patterns Examples</vt:lpstr>
      <vt:lpstr>Behavioral Patterns</vt:lpstr>
      <vt:lpstr>Behavioral Patterns Examples</vt:lpstr>
      <vt:lpstr>Model-View-Controller (MVC) Design Pattern</vt:lpstr>
      <vt:lpstr>Introduction</vt:lpstr>
      <vt:lpstr>Model</vt:lpstr>
      <vt:lpstr>Model’s Key Responsibilities</vt:lpstr>
      <vt:lpstr>Model in OOP</vt:lpstr>
      <vt:lpstr>View</vt:lpstr>
      <vt:lpstr>View: Key Responsibilities:</vt:lpstr>
      <vt:lpstr>View in Java OOP</vt:lpstr>
      <vt:lpstr>Controller</vt:lpstr>
      <vt:lpstr>Controller: Key Responsibilities:</vt:lpstr>
      <vt:lpstr>Benefits of MVC</vt:lpstr>
      <vt:lpstr>MVC in Java</vt:lpstr>
      <vt:lpstr>Spring Framework</vt:lpstr>
      <vt:lpstr>Spring Boot</vt:lpstr>
      <vt:lpstr>Spring Key Features</vt:lpstr>
      <vt:lpstr>JavaServer Faces (JSF)</vt:lpstr>
      <vt:lpstr>JavaServer Faces Key Features</vt:lpstr>
      <vt:lpstr>Spring and JavaServer Faces</vt:lpstr>
      <vt:lpstr>Java MVC Specifics</vt:lpstr>
      <vt:lpstr>Other MVC Development Frameworks</vt:lpstr>
      <vt:lpstr>Other MVC Development Frameworks (continue)</vt:lpstr>
      <vt:lpstr>Other MVC Development Frameworks (continue)</vt:lpstr>
      <vt:lpstr>Sample Scenario</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Patterns</dc:title>
  <dc:creator>Ben Chen</dc:creator>
  <cp:lastModifiedBy>Ben Chen</cp:lastModifiedBy>
  <cp:revision>17</cp:revision>
  <dcterms:created xsi:type="dcterms:W3CDTF">2024-03-18T13:37:36Z</dcterms:created>
  <dcterms:modified xsi:type="dcterms:W3CDTF">2024-03-18T14:55:42Z</dcterms:modified>
</cp:coreProperties>
</file>