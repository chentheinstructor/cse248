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5" r:id="rId10"/>
    <p:sldId id="264" r:id="rId11"/>
    <p:sldId id="266" r:id="rId12"/>
    <p:sldId id="267" r:id="rId13"/>
    <p:sldId id="268" r:id="rId14"/>
    <p:sldId id="270" r:id="rId15"/>
    <p:sldId id="271" r:id="rId16"/>
    <p:sldId id="272" r:id="rId17"/>
    <p:sldId id="273" r:id="rId18"/>
    <p:sldId id="274" r:id="rId19"/>
    <p:sldId id="275" r:id="rId20"/>
    <p:sldId id="276" r:id="rId21"/>
    <p:sldId id="277" r:id="rId22"/>
    <p:sldId id="278" r:id="rId23"/>
    <p:sldId id="279" r:id="rId24"/>
    <p:sldId id="281" r:id="rId25"/>
    <p:sldId id="280" r:id="rId26"/>
    <p:sldId id="282" r:id="rId27"/>
    <p:sldId id="283" r:id="rId28"/>
    <p:sldId id="284" r:id="rId29"/>
    <p:sldId id="286" r:id="rId30"/>
    <p:sldId id="287" r:id="rId31"/>
    <p:sldId id="288" r:id="rId32"/>
    <p:sldId id="289" r:id="rId33"/>
    <p:sldId id="290" r:id="rId34"/>
    <p:sldId id="291"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p:scale>
          <a:sx n="87" d="100"/>
          <a:sy n="87" d="100"/>
        </p:scale>
        <p:origin x="51" y="4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6949DC-1C8C-4851-ACF2-4E9740E81A9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683C2ED-FB1D-4288-8E55-69286ABFA10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4242BE6-7841-4ECE-BEB2-FB5E09408C6F}"/>
              </a:ext>
            </a:extLst>
          </p:cNvPr>
          <p:cNvSpPr>
            <a:spLocks noGrp="1"/>
          </p:cNvSpPr>
          <p:nvPr>
            <p:ph type="dt" sz="half" idx="10"/>
          </p:nvPr>
        </p:nvSpPr>
        <p:spPr/>
        <p:txBody>
          <a:bodyPr/>
          <a:lstStyle/>
          <a:p>
            <a:fld id="{0D118170-B984-4961-A81B-06FE8ECA584F}" type="datetimeFigureOut">
              <a:rPr lang="en-US" smtClean="0"/>
              <a:t>4/15/2024</a:t>
            </a:fld>
            <a:endParaRPr lang="en-US"/>
          </a:p>
        </p:txBody>
      </p:sp>
      <p:sp>
        <p:nvSpPr>
          <p:cNvPr id="5" name="Footer Placeholder 4">
            <a:extLst>
              <a:ext uri="{FF2B5EF4-FFF2-40B4-BE49-F238E27FC236}">
                <a16:creationId xmlns:a16="http://schemas.microsoft.com/office/drawing/2014/main" id="{9DB07146-F26F-4FC8-AE9E-F9460FD0697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80CFF65-C656-4F7C-ACA1-5E7C739BF7E2}"/>
              </a:ext>
            </a:extLst>
          </p:cNvPr>
          <p:cNvSpPr>
            <a:spLocks noGrp="1"/>
          </p:cNvSpPr>
          <p:nvPr>
            <p:ph type="sldNum" sz="quarter" idx="12"/>
          </p:nvPr>
        </p:nvSpPr>
        <p:spPr/>
        <p:txBody>
          <a:bodyPr/>
          <a:lstStyle/>
          <a:p>
            <a:fld id="{D1E8289A-D16C-421B-8E30-281D892F3B89}" type="slidenum">
              <a:rPr lang="en-US" smtClean="0"/>
              <a:t>‹#›</a:t>
            </a:fld>
            <a:endParaRPr lang="en-US"/>
          </a:p>
        </p:txBody>
      </p:sp>
    </p:spTree>
    <p:extLst>
      <p:ext uri="{BB962C8B-B14F-4D97-AF65-F5344CB8AC3E}">
        <p14:creationId xmlns:p14="http://schemas.microsoft.com/office/powerpoint/2010/main" val="34475626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C7F9CD-C0E4-4C17-A387-574668FBD26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1A4FA2C-6906-4A49-99DD-EF71F93B9914}"/>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0F9644B-F997-4556-845E-7ABE7EFF2C70}"/>
              </a:ext>
            </a:extLst>
          </p:cNvPr>
          <p:cNvSpPr>
            <a:spLocks noGrp="1"/>
          </p:cNvSpPr>
          <p:nvPr>
            <p:ph type="dt" sz="half" idx="10"/>
          </p:nvPr>
        </p:nvSpPr>
        <p:spPr/>
        <p:txBody>
          <a:bodyPr/>
          <a:lstStyle/>
          <a:p>
            <a:fld id="{0D118170-B984-4961-A81B-06FE8ECA584F}" type="datetimeFigureOut">
              <a:rPr lang="en-US" smtClean="0"/>
              <a:t>4/15/2024</a:t>
            </a:fld>
            <a:endParaRPr lang="en-US"/>
          </a:p>
        </p:txBody>
      </p:sp>
      <p:sp>
        <p:nvSpPr>
          <p:cNvPr id="5" name="Footer Placeholder 4">
            <a:extLst>
              <a:ext uri="{FF2B5EF4-FFF2-40B4-BE49-F238E27FC236}">
                <a16:creationId xmlns:a16="http://schemas.microsoft.com/office/drawing/2014/main" id="{12AF6671-B8E7-47F8-8DD3-6BC92612A55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AB5A7FA-94CA-4F08-817C-B69D00E82B12}"/>
              </a:ext>
            </a:extLst>
          </p:cNvPr>
          <p:cNvSpPr>
            <a:spLocks noGrp="1"/>
          </p:cNvSpPr>
          <p:nvPr>
            <p:ph type="sldNum" sz="quarter" idx="12"/>
          </p:nvPr>
        </p:nvSpPr>
        <p:spPr/>
        <p:txBody>
          <a:bodyPr/>
          <a:lstStyle/>
          <a:p>
            <a:fld id="{D1E8289A-D16C-421B-8E30-281D892F3B89}" type="slidenum">
              <a:rPr lang="en-US" smtClean="0"/>
              <a:t>‹#›</a:t>
            </a:fld>
            <a:endParaRPr lang="en-US"/>
          </a:p>
        </p:txBody>
      </p:sp>
    </p:spTree>
    <p:extLst>
      <p:ext uri="{BB962C8B-B14F-4D97-AF65-F5344CB8AC3E}">
        <p14:creationId xmlns:p14="http://schemas.microsoft.com/office/powerpoint/2010/main" val="26230666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6F8183-5927-4B8E-9E6C-6D43BDFFD91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343026A-0401-4703-B24C-718D9EDF326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4C17F907-104F-4446-B781-84DFC110AFFF}"/>
              </a:ext>
            </a:extLst>
          </p:cNvPr>
          <p:cNvSpPr>
            <a:spLocks noGrp="1"/>
          </p:cNvSpPr>
          <p:nvPr>
            <p:ph type="dt" sz="half" idx="10"/>
          </p:nvPr>
        </p:nvSpPr>
        <p:spPr/>
        <p:txBody>
          <a:bodyPr/>
          <a:lstStyle/>
          <a:p>
            <a:fld id="{0D118170-B984-4961-A81B-06FE8ECA584F}" type="datetimeFigureOut">
              <a:rPr lang="en-US" smtClean="0"/>
              <a:t>4/15/2024</a:t>
            </a:fld>
            <a:endParaRPr lang="en-US"/>
          </a:p>
        </p:txBody>
      </p:sp>
      <p:sp>
        <p:nvSpPr>
          <p:cNvPr id="5" name="Footer Placeholder 4">
            <a:extLst>
              <a:ext uri="{FF2B5EF4-FFF2-40B4-BE49-F238E27FC236}">
                <a16:creationId xmlns:a16="http://schemas.microsoft.com/office/drawing/2014/main" id="{445B5EBF-CC52-466F-A079-1D86683DE1C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65765F0-EC88-4CC8-A32F-4B3230271EC8}"/>
              </a:ext>
            </a:extLst>
          </p:cNvPr>
          <p:cNvSpPr>
            <a:spLocks noGrp="1"/>
          </p:cNvSpPr>
          <p:nvPr>
            <p:ph type="sldNum" sz="quarter" idx="12"/>
          </p:nvPr>
        </p:nvSpPr>
        <p:spPr/>
        <p:txBody>
          <a:bodyPr/>
          <a:lstStyle/>
          <a:p>
            <a:fld id="{D1E8289A-D16C-421B-8E30-281D892F3B89}" type="slidenum">
              <a:rPr lang="en-US" smtClean="0"/>
              <a:t>‹#›</a:t>
            </a:fld>
            <a:endParaRPr lang="en-US"/>
          </a:p>
        </p:txBody>
      </p:sp>
    </p:spTree>
    <p:extLst>
      <p:ext uri="{BB962C8B-B14F-4D97-AF65-F5344CB8AC3E}">
        <p14:creationId xmlns:p14="http://schemas.microsoft.com/office/powerpoint/2010/main" val="36474291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9FB3BF-83FB-42D0-90F0-93116CE9D00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AC46E40-DA66-4E36-8D6F-90172DD4C691}"/>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C8D7FB9-CAC5-4257-A191-2E8B07F3798D}"/>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C82FE51-FF53-4326-82BF-0369F84D0E0D}"/>
              </a:ext>
            </a:extLst>
          </p:cNvPr>
          <p:cNvSpPr>
            <a:spLocks noGrp="1"/>
          </p:cNvSpPr>
          <p:nvPr>
            <p:ph type="dt" sz="half" idx="10"/>
          </p:nvPr>
        </p:nvSpPr>
        <p:spPr/>
        <p:txBody>
          <a:bodyPr/>
          <a:lstStyle/>
          <a:p>
            <a:fld id="{0D118170-B984-4961-A81B-06FE8ECA584F}" type="datetimeFigureOut">
              <a:rPr lang="en-US" smtClean="0"/>
              <a:t>4/15/2024</a:t>
            </a:fld>
            <a:endParaRPr lang="en-US"/>
          </a:p>
        </p:txBody>
      </p:sp>
      <p:sp>
        <p:nvSpPr>
          <p:cNvPr id="6" name="Footer Placeholder 5">
            <a:extLst>
              <a:ext uri="{FF2B5EF4-FFF2-40B4-BE49-F238E27FC236}">
                <a16:creationId xmlns:a16="http://schemas.microsoft.com/office/drawing/2014/main" id="{0DE4A730-4336-42D8-9A77-F985A52A75B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E99498D-0406-44DB-B6EB-D96420A86920}"/>
              </a:ext>
            </a:extLst>
          </p:cNvPr>
          <p:cNvSpPr>
            <a:spLocks noGrp="1"/>
          </p:cNvSpPr>
          <p:nvPr>
            <p:ph type="sldNum" sz="quarter" idx="12"/>
          </p:nvPr>
        </p:nvSpPr>
        <p:spPr/>
        <p:txBody>
          <a:bodyPr/>
          <a:lstStyle/>
          <a:p>
            <a:fld id="{D1E8289A-D16C-421B-8E30-281D892F3B89}" type="slidenum">
              <a:rPr lang="en-US" smtClean="0"/>
              <a:t>‹#›</a:t>
            </a:fld>
            <a:endParaRPr lang="en-US"/>
          </a:p>
        </p:txBody>
      </p:sp>
    </p:spTree>
    <p:extLst>
      <p:ext uri="{BB962C8B-B14F-4D97-AF65-F5344CB8AC3E}">
        <p14:creationId xmlns:p14="http://schemas.microsoft.com/office/powerpoint/2010/main" val="10778231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DDB520-264E-4ED9-8680-C3062102E27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9DCBFEC-4484-430C-A562-C656EE9FB5A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2FEE8B0C-B1B5-43D8-842A-90ABC0601323}"/>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3D3B634-1654-428E-A8F1-09AF84F9CEF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B361461B-B7AE-47C7-A3FA-B4B861115072}"/>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808413D-E8E8-421B-BF29-6DAAF318AA27}"/>
              </a:ext>
            </a:extLst>
          </p:cNvPr>
          <p:cNvSpPr>
            <a:spLocks noGrp="1"/>
          </p:cNvSpPr>
          <p:nvPr>
            <p:ph type="dt" sz="half" idx="10"/>
          </p:nvPr>
        </p:nvSpPr>
        <p:spPr/>
        <p:txBody>
          <a:bodyPr/>
          <a:lstStyle/>
          <a:p>
            <a:fld id="{0D118170-B984-4961-A81B-06FE8ECA584F}" type="datetimeFigureOut">
              <a:rPr lang="en-US" smtClean="0"/>
              <a:t>4/15/2024</a:t>
            </a:fld>
            <a:endParaRPr lang="en-US"/>
          </a:p>
        </p:txBody>
      </p:sp>
      <p:sp>
        <p:nvSpPr>
          <p:cNvPr id="8" name="Footer Placeholder 7">
            <a:extLst>
              <a:ext uri="{FF2B5EF4-FFF2-40B4-BE49-F238E27FC236}">
                <a16:creationId xmlns:a16="http://schemas.microsoft.com/office/drawing/2014/main" id="{F99481F7-FB84-430C-892A-420E16D643A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6F5D19C-7504-410D-80E6-33BD7D7A7A52}"/>
              </a:ext>
            </a:extLst>
          </p:cNvPr>
          <p:cNvSpPr>
            <a:spLocks noGrp="1"/>
          </p:cNvSpPr>
          <p:nvPr>
            <p:ph type="sldNum" sz="quarter" idx="12"/>
          </p:nvPr>
        </p:nvSpPr>
        <p:spPr/>
        <p:txBody>
          <a:bodyPr/>
          <a:lstStyle/>
          <a:p>
            <a:fld id="{D1E8289A-D16C-421B-8E30-281D892F3B89}" type="slidenum">
              <a:rPr lang="en-US" smtClean="0"/>
              <a:t>‹#›</a:t>
            </a:fld>
            <a:endParaRPr lang="en-US"/>
          </a:p>
        </p:txBody>
      </p:sp>
    </p:spTree>
    <p:extLst>
      <p:ext uri="{BB962C8B-B14F-4D97-AF65-F5344CB8AC3E}">
        <p14:creationId xmlns:p14="http://schemas.microsoft.com/office/powerpoint/2010/main" val="20144017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879763-A752-47DB-B702-C730BA174BC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A3D9597-69DD-439C-98A8-CD7713DF5767}"/>
              </a:ext>
            </a:extLst>
          </p:cNvPr>
          <p:cNvSpPr>
            <a:spLocks noGrp="1"/>
          </p:cNvSpPr>
          <p:nvPr>
            <p:ph type="dt" sz="half" idx="10"/>
          </p:nvPr>
        </p:nvSpPr>
        <p:spPr/>
        <p:txBody>
          <a:bodyPr/>
          <a:lstStyle/>
          <a:p>
            <a:fld id="{0D118170-B984-4961-A81B-06FE8ECA584F}" type="datetimeFigureOut">
              <a:rPr lang="en-US" smtClean="0"/>
              <a:t>4/15/2024</a:t>
            </a:fld>
            <a:endParaRPr lang="en-US"/>
          </a:p>
        </p:txBody>
      </p:sp>
      <p:sp>
        <p:nvSpPr>
          <p:cNvPr id="4" name="Footer Placeholder 3">
            <a:extLst>
              <a:ext uri="{FF2B5EF4-FFF2-40B4-BE49-F238E27FC236}">
                <a16:creationId xmlns:a16="http://schemas.microsoft.com/office/drawing/2014/main" id="{A9F1E142-CE38-47FA-BA31-F20D5562734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D643F7F-985F-4CDF-8015-FB04BEA91E8D}"/>
              </a:ext>
            </a:extLst>
          </p:cNvPr>
          <p:cNvSpPr>
            <a:spLocks noGrp="1"/>
          </p:cNvSpPr>
          <p:nvPr>
            <p:ph type="sldNum" sz="quarter" idx="12"/>
          </p:nvPr>
        </p:nvSpPr>
        <p:spPr/>
        <p:txBody>
          <a:bodyPr/>
          <a:lstStyle/>
          <a:p>
            <a:fld id="{D1E8289A-D16C-421B-8E30-281D892F3B89}" type="slidenum">
              <a:rPr lang="en-US" smtClean="0"/>
              <a:t>‹#›</a:t>
            </a:fld>
            <a:endParaRPr lang="en-US"/>
          </a:p>
        </p:txBody>
      </p:sp>
    </p:spTree>
    <p:extLst>
      <p:ext uri="{BB962C8B-B14F-4D97-AF65-F5344CB8AC3E}">
        <p14:creationId xmlns:p14="http://schemas.microsoft.com/office/powerpoint/2010/main" val="5356621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C26289B-15F1-4D03-98C1-83B72A63F4A0}"/>
              </a:ext>
            </a:extLst>
          </p:cNvPr>
          <p:cNvSpPr>
            <a:spLocks noGrp="1"/>
          </p:cNvSpPr>
          <p:nvPr>
            <p:ph type="dt" sz="half" idx="10"/>
          </p:nvPr>
        </p:nvSpPr>
        <p:spPr/>
        <p:txBody>
          <a:bodyPr/>
          <a:lstStyle/>
          <a:p>
            <a:fld id="{0D118170-B984-4961-A81B-06FE8ECA584F}" type="datetimeFigureOut">
              <a:rPr lang="en-US" smtClean="0"/>
              <a:t>4/15/2024</a:t>
            </a:fld>
            <a:endParaRPr lang="en-US"/>
          </a:p>
        </p:txBody>
      </p:sp>
      <p:sp>
        <p:nvSpPr>
          <p:cNvPr id="3" name="Footer Placeholder 2">
            <a:extLst>
              <a:ext uri="{FF2B5EF4-FFF2-40B4-BE49-F238E27FC236}">
                <a16:creationId xmlns:a16="http://schemas.microsoft.com/office/drawing/2014/main" id="{20DB7BA7-3B62-44F9-BAE0-2F540630D03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E22954E-C0AF-4D0E-8C90-FFB733784ECC}"/>
              </a:ext>
            </a:extLst>
          </p:cNvPr>
          <p:cNvSpPr>
            <a:spLocks noGrp="1"/>
          </p:cNvSpPr>
          <p:nvPr>
            <p:ph type="sldNum" sz="quarter" idx="12"/>
          </p:nvPr>
        </p:nvSpPr>
        <p:spPr/>
        <p:txBody>
          <a:bodyPr/>
          <a:lstStyle/>
          <a:p>
            <a:fld id="{D1E8289A-D16C-421B-8E30-281D892F3B89}" type="slidenum">
              <a:rPr lang="en-US" smtClean="0"/>
              <a:t>‹#›</a:t>
            </a:fld>
            <a:endParaRPr lang="en-US"/>
          </a:p>
        </p:txBody>
      </p:sp>
    </p:spTree>
    <p:extLst>
      <p:ext uri="{BB962C8B-B14F-4D97-AF65-F5344CB8AC3E}">
        <p14:creationId xmlns:p14="http://schemas.microsoft.com/office/powerpoint/2010/main" val="8180343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678F71-0431-4CC3-82D1-BBD948C5F4D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CBDFD65-A834-4D68-9571-F70CC504B76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1FFD26B-45DA-43D7-ACEB-A798B84DE6B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659B94F2-0888-41CB-B8C6-0E64159DB677}"/>
              </a:ext>
            </a:extLst>
          </p:cNvPr>
          <p:cNvSpPr>
            <a:spLocks noGrp="1"/>
          </p:cNvSpPr>
          <p:nvPr>
            <p:ph type="dt" sz="half" idx="10"/>
          </p:nvPr>
        </p:nvSpPr>
        <p:spPr/>
        <p:txBody>
          <a:bodyPr/>
          <a:lstStyle/>
          <a:p>
            <a:fld id="{0D118170-B984-4961-A81B-06FE8ECA584F}" type="datetimeFigureOut">
              <a:rPr lang="en-US" smtClean="0"/>
              <a:t>4/15/2024</a:t>
            </a:fld>
            <a:endParaRPr lang="en-US"/>
          </a:p>
        </p:txBody>
      </p:sp>
      <p:sp>
        <p:nvSpPr>
          <p:cNvPr id="6" name="Footer Placeholder 5">
            <a:extLst>
              <a:ext uri="{FF2B5EF4-FFF2-40B4-BE49-F238E27FC236}">
                <a16:creationId xmlns:a16="http://schemas.microsoft.com/office/drawing/2014/main" id="{9D18ED42-E88B-4DE7-A319-4666F3EEEA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13A1CF6-BF1A-4752-B6FB-72A3E4AA1A76}"/>
              </a:ext>
            </a:extLst>
          </p:cNvPr>
          <p:cNvSpPr>
            <a:spLocks noGrp="1"/>
          </p:cNvSpPr>
          <p:nvPr>
            <p:ph type="sldNum" sz="quarter" idx="12"/>
          </p:nvPr>
        </p:nvSpPr>
        <p:spPr/>
        <p:txBody>
          <a:bodyPr/>
          <a:lstStyle/>
          <a:p>
            <a:fld id="{D1E8289A-D16C-421B-8E30-281D892F3B89}" type="slidenum">
              <a:rPr lang="en-US" smtClean="0"/>
              <a:t>‹#›</a:t>
            </a:fld>
            <a:endParaRPr lang="en-US"/>
          </a:p>
        </p:txBody>
      </p:sp>
    </p:spTree>
    <p:extLst>
      <p:ext uri="{BB962C8B-B14F-4D97-AF65-F5344CB8AC3E}">
        <p14:creationId xmlns:p14="http://schemas.microsoft.com/office/powerpoint/2010/main" val="34387108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584901-3373-446F-829D-27AB6637361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204D5A6-6524-4D06-9EB7-4660C5D96D9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3E459A6-571F-43C8-996C-77540DED7CE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6FACAACE-E8B3-4876-A51D-1B886F6D3D75}"/>
              </a:ext>
            </a:extLst>
          </p:cNvPr>
          <p:cNvSpPr>
            <a:spLocks noGrp="1"/>
          </p:cNvSpPr>
          <p:nvPr>
            <p:ph type="dt" sz="half" idx="10"/>
          </p:nvPr>
        </p:nvSpPr>
        <p:spPr/>
        <p:txBody>
          <a:bodyPr/>
          <a:lstStyle/>
          <a:p>
            <a:fld id="{0D118170-B984-4961-A81B-06FE8ECA584F}" type="datetimeFigureOut">
              <a:rPr lang="en-US" smtClean="0"/>
              <a:t>4/15/2024</a:t>
            </a:fld>
            <a:endParaRPr lang="en-US"/>
          </a:p>
        </p:txBody>
      </p:sp>
      <p:sp>
        <p:nvSpPr>
          <p:cNvPr id="6" name="Footer Placeholder 5">
            <a:extLst>
              <a:ext uri="{FF2B5EF4-FFF2-40B4-BE49-F238E27FC236}">
                <a16:creationId xmlns:a16="http://schemas.microsoft.com/office/drawing/2014/main" id="{67032166-264D-488C-A34F-7DC31942EE3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B192771-673F-49AE-A3DA-BA0F5DE52891}"/>
              </a:ext>
            </a:extLst>
          </p:cNvPr>
          <p:cNvSpPr>
            <a:spLocks noGrp="1"/>
          </p:cNvSpPr>
          <p:nvPr>
            <p:ph type="sldNum" sz="quarter" idx="12"/>
          </p:nvPr>
        </p:nvSpPr>
        <p:spPr/>
        <p:txBody>
          <a:bodyPr/>
          <a:lstStyle/>
          <a:p>
            <a:fld id="{D1E8289A-D16C-421B-8E30-281D892F3B89}" type="slidenum">
              <a:rPr lang="en-US" smtClean="0"/>
              <a:t>‹#›</a:t>
            </a:fld>
            <a:endParaRPr lang="en-US"/>
          </a:p>
        </p:txBody>
      </p:sp>
    </p:spTree>
    <p:extLst>
      <p:ext uri="{BB962C8B-B14F-4D97-AF65-F5344CB8AC3E}">
        <p14:creationId xmlns:p14="http://schemas.microsoft.com/office/powerpoint/2010/main" val="7600990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9D3DE0-F7CA-4E53-9D8B-49803866D49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2561098-AEF5-46C9-9A69-DCFFB32D7D6C}"/>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71679C1-22D2-41F7-9444-D6DE2F283852}"/>
              </a:ext>
            </a:extLst>
          </p:cNvPr>
          <p:cNvSpPr>
            <a:spLocks noGrp="1"/>
          </p:cNvSpPr>
          <p:nvPr>
            <p:ph type="dt" sz="half" idx="10"/>
          </p:nvPr>
        </p:nvSpPr>
        <p:spPr/>
        <p:txBody>
          <a:bodyPr/>
          <a:lstStyle/>
          <a:p>
            <a:fld id="{0D118170-B984-4961-A81B-06FE8ECA584F}" type="datetimeFigureOut">
              <a:rPr lang="en-US" smtClean="0"/>
              <a:t>4/15/2024</a:t>
            </a:fld>
            <a:endParaRPr lang="en-US"/>
          </a:p>
        </p:txBody>
      </p:sp>
      <p:sp>
        <p:nvSpPr>
          <p:cNvPr id="5" name="Footer Placeholder 4">
            <a:extLst>
              <a:ext uri="{FF2B5EF4-FFF2-40B4-BE49-F238E27FC236}">
                <a16:creationId xmlns:a16="http://schemas.microsoft.com/office/drawing/2014/main" id="{71943626-EDEC-466C-9C22-59DF31DE993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911FC54-6C96-44B8-86C7-3A119C83D65F}"/>
              </a:ext>
            </a:extLst>
          </p:cNvPr>
          <p:cNvSpPr>
            <a:spLocks noGrp="1"/>
          </p:cNvSpPr>
          <p:nvPr>
            <p:ph type="sldNum" sz="quarter" idx="12"/>
          </p:nvPr>
        </p:nvSpPr>
        <p:spPr/>
        <p:txBody>
          <a:bodyPr/>
          <a:lstStyle/>
          <a:p>
            <a:fld id="{D1E8289A-D16C-421B-8E30-281D892F3B89}" type="slidenum">
              <a:rPr lang="en-US" smtClean="0"/>
              <a:t>‹#›</a:t>
            </a:fld>
            <a:endParaRPr lang="en-US"/>
          </a:p>
        </p:txBody>
      </p:sp>
    </p:spTree>
    <p:extLst>
      <p:ext uri="{BB962C8B-B14F-4D97-AF65-F5344CB8AC3E}">
        <p14:creationId xmlns:p14="http://schemas.microsoft.com/office/powerpoint/2010/main" val="31797461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AA4567C-FB1E-491E-95E0-F0C40DD3CF2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C01C725-0F4E-433C-8FA7-58F7953B61C0}"/>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37C782F-D31A-47FA-BCF3-1851C91F977B}"/>
              </a:ext>
            </a:extLst>
          </p:cNvPr>
          <p:cNvSpPr>
            <a:spLocks noGrp="1"/>
          </p:cNvSpPr>
          <p:nvPr>
            <p:ph type="dt" sz="half" idx="10"/>
          </p:nvPr>
        </p:nvSpPr>
        <p:spPr/>
        <p:txBody>
          <a:bodyPr/>
          <a:lstStyle/>
          <a:p>
            <a:fld id="{0D118170-B984-4961-A81B-06FE8ECA584F}" type="datetimeFigureOut">
              <a:rPr lang="en-US" smtClean="0"/>
              <a:t>4/15/2024</a:t>
            </a:fld>
            <a:endParaRPr lang="en-US"/>
          </a:p>
        </p:txBody>
      </p:sp>
      <p:sp>
        <p:nvSpPr>
          <p:cNvPr id="5" name="Footer Placeholder 4">
            <a:extLst>
              <a:ext uri="{FF2B5EF4-FFF2-40B4-BE49-F238E27FC236}">
                <a16:creationId xmlns:a16="http://schemas.microsoft.com/office/drawing/2014/main" id="{38F9D6CB-CC7C-441D-93E3-CA86CB8ADE2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2A678D5-9685-412C-8A93-84571ECA54DA}"/>
              </a:ext>
            </a:extLst>
          </p:cNvPr>
          <p:cNvSpPr>
            <a:spLocks noGrp="1"/>
          </p:cNvSpPr>
          <p:nvPr>
            <p:ph type="sldNum" sz="quarter" idx="12"/>
          </p:nvPr>
        </p:nvSpPr>
        <p:spPr/>
        <p:txBody>
          <a:bodyPr/>
          <a:lstStyle/>
          <a:p>
            <a:fld id="{D1E8289A-D16C-421B-8E30-281D892F3B89}" type="slidenum">
              <a:rPr lang="en-US" smtClean="0"/>
              <a:t>‹#›</a:t>
            </a:fld>
            <a:endParaRPr lang="en-US"/>
          </a:p>
        </p:txBody>
      </p:sp>
    </p:spTree>
    <p:extLst>
      <p:ext uri="{BB962C8B-B14F-4D97-AF65-F5344CB8AC3E}">
        <p14:creationId xmlns:p14="http://schemas.microsoft.com/office/powerpoint/2010/main" val="540203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0AF3179-3CD4-4BF4-A89F-CC26502F4C0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C339304-FBF2-488C-B06A-0B8C07198B9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FA907DD-80C3-4815-9757-3A579C3B578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D118170-B984-4961-A81B-06FE8ECA584F}" type="datetimeFigureOut">
              <a:rPr lang="en-US" smtClean="0"/>
              <a:t>4/15/2024</a:t>
            </a:fld>
            <a:endParaRPr lang="en-US"/>
          </a:p>
        </p:txBody>
      </p:sp>
      <p:sp>
        <p:nvSpPr>
          <p:cNvPr id="5" name="Footer Placeholder 4">
            <a:extLst>
              <a:ext uri="{FF2B5EF4-FFF2-40B4-BE49-F238E27FC236}">
                <a16:creationId xmlns:a16="http://schemas.microsoft.com/office/drawing/2014/main" id="{8E8D7085-8692-4F79-B0D4-CF6AFA85354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8AF7AB9F-A0EC-4759-B681-54DA36A6E36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1E8289A-D16C-421B-8E30-281D892F3B89}" type="slidenum">
              <a:rPr lang="en-US" smtClean="0"/>
              <a:t>‹#›</a:t>
            </a:fld>
            <a:endParaRPr lang="en-US"/>
          </a:p>
        </p:txBody>
      </p:sp>
    </p:spTree>
    <p:extLst>
      <p:ext uri="{BB962C8B-B14F-4D97-AF65-F5344CB8AC3E}">
        <p14:creationId xmlns:p14="http://schemas.microsoft.com/office/powerpoint/2010/main" val="218680054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D82604-7937-4A73-B2FD-044EC77F3A97}"/>
              </a:ext>
            </a:extLst>
          </p:cNvPr>
          <p:cNvSpPr>
            <a:spLocks noGrp="1"/>
          </p:cNvSpPr>
          <p:nvPr>
            <p:ph type="ctrTitle"/>
          </p:nvPr>
        </p:nvSpPr>
        <p:spPr/>
        <p:txBody>
          <a:bodyPr/>
          <a:lstStyle/>
          <a:p>
            <a:r>
              <a:rPr lang="en-US" dirty="0"/>
              <a:t>Observer Design Pattern</a:t>
            </a:r>
          </a:p>
        </p:txBody>
      </p:sp>
      <p:sp>
        <p:nvSpPr>
          <p:cNvPr id="3" name="Subtitle 2">
            <a:extLst>
              <a:ext uri="{FF2B5EF4-FFF2-40B4-BE49-F238E27FC236}">
                <a16:creationId xmlns:a16="http://schemas.microsoft.com/office/drawing/2014/main" id="{23C609D9-58E1-4493-9BFE-FC1C6064A40D}"/>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4884452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F85046-9821-466B-882D-FDF056664AEA}"/>
              </a:ext>
            </a:extLst>
          </p:cNvPr>
          <p:cNvSpPr>
            <a:spLocks noGrp="1"/>
          </p:cNvSpPr>
          <p:nvPr>
            <p:ph type="title"/>
          </p:nvPr>
        </p:nvSpPr>
        <p:spPr/>
        <p:txBody>
          <a:bodyPr/>
          <a:lstStyle/>
          <a:p>
            <a:r>
              <a:rPr lang="en-US" dirty="0"/>
              <a:t>Definition</a:t>
            </a:r>
          </a:p>
        </p:txBody>
      </p:sp>
      <p:sp>
        <p:nvSpPr>
          <p:cNvPr id="3" name="Content Placeholder 2">
            <a:extLst>
              <a:ext uri="{FF2B5EF4-FFF2-40B4-BE49-F238E27FC236}">
                <a16:creationId xmlns:a16="http://schemas.microsoft.com/office/drawing/2014/main" id="{5CFC4CC2-0BFC-4F4B-9F94-B52452A94C51}"/>
              </a:ext>
            </a:extLst>
          </p:cNvPr>
          <p:cNvSpPr>
            <a:spLocks noGrp="1"/>
          </p:cNvSpPr>
          <p:nvPr>
            <p:ph idx="1"/>
          </p:nvPr>
        </p:nvSpPr>
        <p:spPr/>
        <p:txBody>
          <a:bodyPr/>
          <a:lstStyle/>
          <a:p>
            <a:r>
              <a:rPr lang="en-US" dirty="0"/>
              <a:t>The Observer Pattern is a behavioral design pattern that allows an object, known as the subject, to notify a list of observers about its state changes. </a:t>
            </a:r>
          </a:p>
          <a:p>
            <a:r>
              <a:rPr lang="en-US" dirty="0"/>
              <a:t>In other words, it defines a one-to-many dependency between objects so that when one object changes state, all its dependents are notified and updated automatically.</a:t>
            </a:r>
          </a:p>
          <a:p>
            <a:endParaRPr lang="en-US" dirty="0"/>
          </a:p>
        </p:txBody>
      </p:sp>
    </p:spTree>
    <p:extLst>
      <p:ext uri="{BB962C8B-B14F-4D97-AF65-F5344CB8AC3E}">
        <p14:creationId xmlns:p14="http://schemas.microsoft.com/office/powerpoint/2010/main" val="15331118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4F41F2-471A-4EDB-BDAA-0DF80D1B892C}"/>
              </a:ext>
            </a:extLst>
          </p:cNvPr>
          <p:cNvSpPr>
            <a:spLocks noGrp="1"/>
          </p:cNvSpPr>
          <p:nvPr>
            <p:ph type="title"/>
          </p:nvPr>
        </p:nvSpPr>
        <p:spPr/>
        <p:txBody>
          <a:bodyPr/>
          <a:lstStyle/>
          <a:p>
            <a:r>
              <a:rPr lang="en-US" dirty="0"/>
              <a:t>Use Cases and Benefit</a:t>
            </a:r>
          </a:p>
        </p:txBody>
      </p:sp>
      <p:sp>
        <p:nvSpPr>
          <p:cNvPr id="3" name="Content Placeholder 2">
            <a:extLst>
              <a:ext uri="{FF2B5EF4-FFF2-40B4-BE49-F238E27FC236}">
                <a16:creationId xmlns:a16="http://schemas.microsoft.com/office/drawing/2014/main" id="{9B1544B3-3C07-4CC6-9996-FD00ECDB0D78}"/>
              </a:ext>
            </a:extLst>
          </p:cNvPr>
          <p:cNvSpPr>
            <a:spLocks noGrp="1"/>
          </p:cNvSpPr>
          <p:nvPr>
            <p:ph idx="1"/>
          </p:nvPr>
        </p:nvSpPr>
        <p:spPr/>
        <p:txBody>
          <a:bodyPr/>
          <a:lstStyle/>
          <a:p>
            <a:r>
              <a:rPr lang="en-US" dirty="0"/>
              <a:t>This pattern is widely used in implementing distributed event handling systems, model-view-controller (MVC) architectures, and in various areas where a decoupling between the sender (Subject) and receiver (Observer) of a message (or event) is beneficial.</a:t>
            </a:r>
          </a:p>
        </p:txBody>
      </p:sp>
    </p:spTree>
    <p:extLst>
      <p:ext uri="{BB962C8B-B14F-4D97-AF65-F5344CB8AC3E}">
        <p14:creationId xmlns:p14="http://schemas.microsoft.com/office/powerpoint/2010/main" val="37952998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02A3D6-40C4-4AD1-B59D-44A8C042D5CD}"/>
              </a:ext>
            </a:extLst>
          </p:cNvPr>
          <p:cNvSpPr>
            <a:spLocks noGrp="1"/>
          </p:cNvSpPr>
          <p:nvPr>
            <p:ph type="title"/>
          </p:nvPr>
        </p:nvSpPr>
        <p:spPr/>
        <p:txBody>
          <a:bodyPr/>
          <a:lstStyle/>
          <a:p>
            <a:r>
              <a:rPr lang="en-US" dirty="0"/>
              <a:t>Core Components</a:t>
            </a:r>
          </a:p>
        </p:txBody>
      </p:sp>
      <p:sp>
        <p:nvSpPr>
          <p:cNvPr id="3" name="Content Placeholder 2">
            <a:extLst>
              <a:ext uri="{FF2B5EF4-FFF2-40B4-BE49-F238E27FC236}">
                <a16:creationId xmlns:a16="http://schemas.microsoft.com/office/drawing/2014/main" id="{1AA8EC93-4034-43E2-BA12-0C42B061AC04}"/>
              </a:ext>
            </a:extLst>
          </p:cNvPr>
          <p:cNvSpPr>
            <a:spLocks noGrp="1"/>
          </p:cNvSpPr>
          <p:nvPr>
            <p:ph idx="1"/>
          </p:nvPr>
        </p:nvSpPr>
        <p:spPr/>
        <p:txBody>
          <a:bodyPr>
            <a:normAutofit/>
          </a:bodyPr>
          <a:lstStyle/>
          <a:p>
            <a:r>
              <a:rPr lang="en-US" b="1" dirty="0"/>
              <a:t>Subject:</a:t>
            </a:r>
            <a:r>
              <a:rPr lang="en-US" dirty="0"/>
              <a:t> An interface or abstract class defining the methods for attaching, detaching, and notifying observers of any state changes.</a:t>
            </a:r>
          </a:p>
          <a:p>
            <a:r>
              <a:rPr lang="en-US" b="1" dirty="0" err="1"/>
              <a:t>ConcreteSubject</a:t>
            </a:r>
            <a:r>
              <a:rPr lang="en-US" b="1" dirty="0"/>
              <a:t>:</a:t>
            </a:r>
            <a:r>
              <a:rPr lang="en-US" dirty="0"/>
              <a:t> A class implementing the Subject interface. It maintains the state of the object and notifies observers when the state changes.</a:t>
            </a:r>
          </a:p>
          <a:p>
            <a:r>
              <a:rPr lang="en-US" b="1" dirty="0"/>
              <a:t>Observer:</a:t>
            </a:r>
            <a:r>
              <a:rPr lang="en-US" dirty="0"/>
              <a:t> An interface defining the update method that will be called when the Subject's state changes.</a:t>
            </a:r>
          </a:p>
          <a:p>
            <a:r>
              <a:rPr lang="en-US" b="1" dirty="0" err="1"/>
              <a:t>ConcreteObserver</a:t>
            </a:r>
            <a:r>
              <a:rPr lang="en-US" b="1" dirty="0"/>
              <a:t>:</a:t>
            </a:r>
            <a:r>
              <a:rPr lang="en-US" dirty="0"/>
              <a:t> A class implementing the Observer interface. It maintains a reference to the </a:t>
            </a:r>
            <a:r>
              <a:rPr lang="en-US" dirty="0" err="1"/>
              <a:t>ConcreteSubject</a:t>
            </a:r>
            <a:r>
              <a:rPr lang="en-US" dirty="0"/>
              <a:t> and implements the update method to react to state changes.</a:t>
            </a:r>
          </a:p>
          <a:p>
            <a:endParaRPr lang="en-US" dirty="0"/>
          </a:p>
        </p:txBody>
      </p:sp>
    </p:spTree>
    <p:extLst>
      <p:ext uri="{BB962C8B-B14F-4D97-AF65-F5344CB8AC3E}">
        <p14:creationId xmlns:p14="http://schemas.microsoft.com/office/powerpoint/2010/main" val="2043221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C2C0E2-6BD6-4CE4-9951-8BE801623236}"/>
              </a:ext>
            </a:extLst>
          </p:cNvPr>
          <p:cNvSpPr>
            <a:spLocks noGrp="1"/>
          </p:cNvSpPr>
          <p:nvPr>
            <p:ph type="title"/>
          </p:nvPr>
        </p:nvSpPr>
        <p:spPr/>
        <p:txBody>
          <a:bodyPr/>
          <a:lstStyle/>
          <a:p>
            <a:r>
              <a:rPr lang="en-US" dirty="0"/>
              <a:t>An Example: Weather Monitoring System</a:t>
            </a:r>
          </a:p>
        </p:txBody>
      </p:sp>
      <p:sp>
        <p:nvSpPr>
          <p:cNvPr id="3" name="Content Placeholder 2">
            <a:extLst>
              <a:ext uri="{FF2B5EF4-FFF2-40B4-BE49-F238E27FC236}">
                <a16:creationId xmlns:a16="http://schemas.microsoft.com/office/drawing/2014/main" id="{0D88159A-673A-4A9A-A11C-B57916294F05}"/>
              </a:ext>
            </a:extLst>
          </p:cNvPr>
          <p:cNvSpPr>
            <a:spLocks noGrp="1"/>
          </p:cNvSpPr>
          <p:nvPr>
            <p:ph idx="1"/>
          </p:nvPr>
        </p:nvSpPr>
        <p:spPr/>
        <p:txBody>
          <a:bodyPr>
            <a:normAutofit fontScale="85000" lnSpcReduction="20000"/>
          </a:bodyPr>
          <a:lstStyle/>
          <a:p>
            <a:r>
              <a:rPr lang="en-US" dirty="0"/>
              <a:t>// Observer interface</a:t>
            </a:r>
          </a:p>
          <a:p>
            <a:r>
              <a:rPr lang="en-US" dirty="0"/>
              <a:t>public interface Observer {</a:t>
            </a:r>
          </a:p>
          <a:p>
            <a:r>
              <a:rPr lang="en-US" dirty="0"/>
              <a:t>    void update(float temperature);</a:t>
            </a:r>
          </a:p>
          <a:p>
            <a:r>
              <a:rPr lang="en-US" dirty="0"/>
              <a:t>}</a:t>
            </a:r>
          </a:p>
          <a:p>
            <a:endParaRPr lang="en-US" dirty="0"/>
          </a:p>
          <a:p>
            <a:r>
              <a:rPr lang="en-US" dirty="0"/>
              <a:t>// Subject interface</a:t>
            </a:r>
          </a:p>
          <a:p>
            <a:r>
              <a:rPr lang="en-US" dirty="0"/>
              <a:t>public interface Subject {</a:t>
            </a:r>
          </a:p>
          <a:p>
            <a:r>
              <a:rPr lang="en-US" dirty="0"/>
              <a:t>    void </a:t>
            </a:r>
            <a:r>
              <a:rPr lang="en-US" dirty="0" err="1"/>
              <a:t>registerObserver</a:t>
            </a:r>
            <a:r>
              <a:rPr lang="en-US" dirty="0"/>
              <a:t>(Observer o);</a:t>
            </a:r>
          </a:p>
          <a:p>
            <a:r>
              <a:rPr lang="en-US" dirty="0"/>
              <a:t>    void </a:t>
            </a:r>
            <a:r>
              <a:rPr lang="en-US" dirty="0" err="1"/>
              <a:t>removeObserver</a:t>
            </a:r>
            <a:r>
              <a:rPr lang="en-US" dirty="0"/>
              <a:t>(Observer o);</a:t>
            </a:r>
          </a:p>
          <a:p>
            <a:r>
              <a:rPr lang="en-US" dirty="0"/>
              <a:t>    void </a:t>
            </a:r>
            <a:r>
              <a:rPr lang="en-US" dirty="0" err="1"/>
              <a:t>notifyObservers</a:t>
            </a:r>
            <a:r>
              <a:rPr lang="en-US" dirty="0"/>
              <a:t>();</a:t>
            </a:r>
          </a:p>
          <a:p>
            <a:r>
              <a:rPr lang="en-US" dirty="0"/>
              <a:t>}</a:t>
            </a:r>
          </a:p>
          <a:p>
            <a:endParaRPr lang="en-US" dirty="0"/>
          </a:p>
        </p:txBody>
      </p:sp>
    </p:spTree>
    <p:extLst>
      <p:ext uri="{BB962C8B-B14F-4D97-AF65-F5344CB8AC3E}">
        <p14:creationId xmlns:p14="http://schemas.microsoft.com/office/powerpoint/2010/main" val="3586726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EC3C9-6C4A-46D1-9259-5FE709B8770E}"/>
              </a:ext>
            </a:extLst>
          </p:cNvPr>
          <p:cNvSpPr>
            <a:spLocks noGrp="1"/>
          </p:cNvSpPr>
          <p:nvPr>
            <p:ph type="title"/>
          </p:nvPr>
        </p:nvSpPr>
        <p:spPr>
          <a:xfrm>
            <a:off x="838200" y="365126"/>
            <a:ext cx="10515600" cy="624776"/>
          </a:xfrm>
        </p:spPr>
        <p:txBody>
          <a:bodyPr>
            <a:normAutofit fontScale="90000"/>
          </a:bodyPr>
          <a:lstStyle/>
          <a:p>
            <a:r>
              <a:rPr lang="en-US" dirty="0"/>
              <a:t>Concrete Subject</a:t>
            </a:r>
          </a:p>
        </p:txBody>
      </p:sp>
      <p:sp>
        <p:nvSpPr>
          <p:cNvPr id="3" name="Content Placeholder 2">
            <a:extLst>
              <a:ext uri="{FF2B5EF4-FFF2-40B4-BE49-F238E27FC236}">
                <a16:creationId xmlns:a16="http://schemas.microsoft.com/office/drawing/2014/main" id="{885B249E-3FB5-44F8-AFF2-1C08903625BF}"/>
              </a:ext>
            </a:extLst>
          </p:cNvPr>
          <p:cNvSpPr>
            <a:spLocks noGrp="1"/>
          </p:cNvSpPr>
          <p:nvPr>
            <p:ph idx="1"/>
          </p:nvPr>
        </p:nvSpPr>
        <p:spPr>
          <a:xfrm>
            <a:off x="838200" y="914400"/>
            <a:ext cx="10515600" cy="5262563"/>
          </a:xfrm>
        </p:spPr>
        <p:txBody>
          <a:bodyPr>
            <a:normAutofit fontScale="25000" lnSpcReduction="20000"/>
          </a:bodyPr>
          <a:lstStyle/>
          <a:p>
            <a:pPr marL="0" indent="0">
              <a:lnSpc>
                <a:spcPct val="120000"/>
              </a:lnSpc>
              <a:spcBef>
                <a:spcPts val="0"/>
              </a:spcBef>
              <a:buNone/>
            </a:pPr>
            <a:r>
              <a:rPr lang="en-US" sz="4400" dirty="0"/>
              <a:t>public class </a:t>
            </a:r>
            <a:r>
              <a:rPr lang="en-US" sz="4400" dirty="0" err="1"/>
              <a:t>WeatherStation</a:t>
            </a:r>
            <a:r>
              <a:rPr lang="en-US" sz="4400" dirty="0"/>
              <a:t> implements Subject {</a:t>
            </a:r>
          </a:p>
          <a:p>
            <a:pPr marL="0" indent="0">
              <a:lnSpc>
                <a:spcPct val="120000"/>
              </a:lnSpc>
              <a:spcBef>
                <a:spcPts val="0"/>
              </a:spcBef>
              <a:buNone/>
            </a:pPr>
            <a:r>
              <a:rPr lang="en-US" sz="4400" dirty="0"/>
              <a:t>    private List&lt;Observer&gt; observers;</a:t>
            </a:r>
          </a:p>
          <a:p>
            <a:pPr marL="0" indent="0">
              <a:lnSpc>
                <a:spcPct val="120000"/>
              </a:lnSpc>
              <a:spcBef>
                <a:spcPts val="0"/>
              </a:spcBef>
              <a:buNone/>
            </a:pPr>
            <a:r>
              <a:rPr lang="en-US" sz="4400" dirty="0"/>
              <a:t>    private float temperature;</a:t>
            </a:r>
          </a:p>
          <a:p>
            <a:pPr marL="0" indent="0">
              <a:lnSpc>
                <a:spcPct val="120000"/>
              </a:lnSpc>
              <a:spcBef>
                <a:spcPts val="0"/>
              </a:spcBef>
              <a:buNone/>
            </a:pPr>
            <a:endParaRPr lang="en-US" sz="4400" dirty="0"/>
          </a:p>
          <a:p>
            <a:pPr marL="0" indent="0">
              <a:lnSpc>
                <a:spcPct val="120000"/>
              </a:lnSpc>
              <a:spcBef>
                <a:spcPts val="0"/>
              </a:spcBef>
              <a:buNone/>
            </a:pPr>
            <a:r>
              <a:rPr lang="en-US" sz="4400" dirty="0"/>
              <a:t>    public </a:t>
            </a:r>
            <a:r>
              <a:rPr lang="en-US" sz="4400" dirty="0" err="1"/>
              <a:t>WeatherStation</a:t>
            </a:r>
            <a:r>
              <a:rPr lang="en-US" sz="4400" dirty="0"/>
              <a:t>() {</a:t>
            </a:r>
          </a:p>
          <a:p>
            <a:pPr marL="0" indent="0">
              <a:lnSpc>
                <a:spcPct val="120000"/>
              </a:lnSpc>
              <a:spcBef>
                <a:spcPts val="0"/>
              </a:spcBef>
              <a:buNone/>
            </a:pPr>
            <a:r>
              <a:rPr lang="en-US" sz="4400" dirty="0"/>
              <a:t>        observers = new </a:t>
            </a:r>
            <a:r>
              <a:rPr lang="en-US" sz="4400" dirty="0" err="1"/>
              <a:t>ArrayList</a:t>
            </a:r>
            <a:r>
              <a:rPr lang="en-US" sz="4400" dirty="0"/>
              <a:t>&lt;&gt;();</a:t>
            </a:r>
          </a:p>
          <a:p>
            <a:pPr marL="0" indent="0">
              <a:lnSpc>
                <a:spcPct val="120000"/>
              </a:lnSpc>
              <a:spcBef>
                <a:spcPts val="0"/>
              </a:spcBef>
              <a:buNone/>
            </a:pPr>
            <a:r>
              <a:rPr lang="en-US" sz="4400" dirty="0"/>
              <a:t>    }</a:t>
            </a:r>
          </a:p>
          <a:p>
            <a:pPr marL="0" indent="0">
              <a:lnSpc>
                <a:spcPct val="120000"/>
              </a:lnSpc>
              <a:spcBef>
                <a:spcPts val="0"/>
              </a:spcBef>
              <a:buNone/>
            </a:pPr>
            <a:endParaRPr lang="en-US" sz="4400" dirty="0"/>
          </a:p>
          <a:p>
            <a:pPr marL="0" indent="0">
              <a:lnSpc>
                <a:spcPct val="120000"/>
              </a:lnSpc>
              <a:spcBef>
                <a:spcPts val="0"/>
              </a:spcBef>
              <a:buNone/>
            </a:pPr>
            <a:r>
              <a:rPr lang="en-US" sz="4400" dirty="0"/>
              <a:t>    public void </a:t>
            </a:r>
            <a:r>
              <a:rPr lang="en-US" sz="4400" dirty="0" err="1"/>
              <a:t>registerObserver</a:t>
            </a:r>
            <a:r>
              <a:rPr lang="en-US" sz="4400" dirty="0"/>
              <a:t>(Observer o) {</a:t>
            </a:r>
          </a:p>
          <a:p>
            <a:pPr marL="0" indent="0">
              <a:lnSpc>
                <a:spcPct val="120000"/>
              </a:lnSpc>
              <a:spcBef>
                <a:spcPts val="0"/>
              </a:spcBef>
              <a:buNone/>
            </a:pPr>
            <a:r>
              <a:rPr lang="en-US" sz="4400" dirty="0"/>
              <a:t>        </a:t>
            </a:r>
            <a:r>
              <a:rPr lang="en-US" sz="4400" dirty="0" err="1"/>
              <a:t>observers.add</a:t>
            </a:r>
            <a:r>
              <a:rPr lang="en-US" sz="4400" dirty="0"/>
              <a:t>(o);</a:t>
            </a:r>
          </a:p>
          <a:p>
            <a:pPr marL="0" indent="0">
              <a:lnSpc>
                <a:spcPct val="120000"/>
              </a:lnSpc>
              <a:spcBef>
                <a:spcPts val="0"/>
              </a:spcBef>
              <a:buNone/>
            </a:pPr>
            <a:r>
              <a:rPr lang="en-US" sz="4400" dirty="0"/>
              <a:t>    }</a:t>
            </a:r>
          </a:p>
          <a:p>
            <a:pPr marL="0" indent="0">
              <a:lnSpc>
                <a:spcPct val="120000"/>
              </a:lnSpc>
              <a:spcBef>
                <a:spcPts val="0"/>
              </a:spcBef>
              <a:buNone/>
            </a:pPr>
            <a:endParaRPr lang="en-US" sz="4400" dirty="0"/>
          </a:p>
          <a:p>
            <a:pPr marL="0" indent="0">
              <a:lnSpc>
                <a:spcPct val="120000"/>
              </a:lnSpc>
              <a:spcBef>
                <a:spcPts val="0"/>
              </a:spcBef>
              <a:buNone/>
            </a:pPr>
            <a:r>
              <a:rPr lang="en-US" sz="4400" dirty="0"/>
              <a:t>    public void </a:t>
            </a:r>
            <a:r>
              <a:rPr lang="en-US" sz="4400" dirty="0" err="1"/>
              <a:t>removeObserver</a:t>
            </a:r>
            <a:r>
              <a:rPr lang="en-US" sz="4400" dirty="0"/>
              <a:t>(Observer o) {</a:t>
            </a:r>
          </a:p>
          <a:p>
            <a:pPr marL="0" indent="0">
              <a:lnSpc>
                <a:spcPct val="120000"/>
              </a:lnSpc>
              <a:spcBef>
                <a:spcPts val="0"/>
              </a:spcBef>
              <a:buNone/>
            </a:pPr>
            <a:r>
              <a:rPr lang="en-US" sz="4400" dirty="0"/>
              <a:t>        </a:t>
            </a:r>
            <a:r>
              <a:rPr lang="en-US" sz="4400" dirty="0" err="1"/>
              <a:t>observers.remove</a:t>
            </a:r>
            <a:r>
              <a:rPr lang="en-US" sz="4400" dirty="0"/>
              <a:t>(o);</a:t>
            </a:r>
          </a:p>
          <a:p>
            <a:pPr marL="0" indent="0">
              <a:lnSpc>
                <a:spcPct val="120000"/>
              </a:lnSpc>
              <a:spcBef>
                <a:spcPts val="0"/>
              </a:spcBef>
              <a:buNone/>
            </a:pPr>
            <a:r>
              <a:rPr lang="en-US" sz="4400" dirty="0"/>
              <a:t>    }</a:t>
            </a:r>
          </a:p>
          <a:p>
            <a:pPr marL="0" indent="0">
              <a:lnSpc>
                <a:spcPct val="120000"/>
              </a:lnSpc>
              <a:spcBef>
                <a:spcPts val="0"/>
              </a:spcBef>
              <a:buNone/>
            </a:pPr>
            <a:endParaRPr lang="en-US" sz="4400" dirty="0"/>
          </a:p>
          <a:p>
            <a:pPr marL="0" indent="0">
              <a:lnSpc>
                <a:spcPct val="120000"/>
              </a:lnSpc>
              <a:spcBef>
                <a:spcPts val="0"/>
              </a:spcBef>
              <a:buNone/>
            </a:pPr>
            <a:r>
              <a:rPr lang="en-US" sz="4400" dirty="0"/>
              <a:t>    public void </a:t>
            </a:r>
            <a:r>
              <a:rPr lang="en-US" sz="4400" dirty="0" err="1"/>
              <a:t>notifyObservers</a:t>
            </a:r>
            <a:r>
              <a:rPr lang="en-US" sz="4400" dirty="0"/>
              <a:t>() {</a:t>
            </a:r>
          </a:p>
          <a:p>
            <a:pPr marL="0" indent="0">
              <a:lnSpc>
                <a:spcPct val="120000"/>
              </a:lnSpc>
              <a:spcBef>
                <a:spcPts val="0"/>
              </a:spcBef>
              <a:buNone/>
            </a:pPr>
            <a:r>
              <a:rPr lang="en-US" sz="4400" dirty="0"/>
              <a:t>        for (Observer </a:t>
            </a:r>
            <a:r>
              <a:rPr lang="en-US" sz="4400" dirty="0" err="1"/>
              <a:t>observer</a:t>
            </a:r>
            <a:r>
              <a:rPr lang="en-US" sz="4400" dirty="0"/>
              <a:t> : observers) {</a:t>
            </a:r>
          </a:p>
          <a:p>
            <a:pPr marL="0" indent="0">
              <a:lnSpc>
                <a:spcPct val="120000"/>
              </a:lnSpc>
              <a:spcBef>
                <a:spcPts val="0"/>
              </a:spcBef>
              <a:buNone/>
            </a:pPr>
            <a:r>
              <a:rPr lang="en-US" sz="4400" dirty="0"/>
              <a:t>            </a:t>
            </a:r>
            <a:r>
              <a:rPr lang="en-US" sz="4400" dirty="0" err="1"/>
              <a:t>observer.update</a:t>
            </a:r>
            <a:r>
              <a:rPr lang="en-US" sz="4400" dirty="0"/>
              <a:t>(temperature);</a:t>
            </a:r>
          </a:p>
          <a:p>
            <a:pPr marL="0" indent="0">
              <a:lnSpc>
                <a:spcPct val="120000"/>
              </a:lnSpc>
              <a:spcBef>
                <a:spcPts val="0"/>
              </a:spcBef>
              <a:buNone/>
            </a:pPr>
            <a:r>
              <a:rPr lang="en-US" sz="4400" dirty="0"/>
              <a:t>        }</a:t>
            </a:r>
          </a:p>
          <a:p>
            <a:pPr marL="0" indent="0">
              <a:lnSpc>
                <a:spcPct val="120000"/>
              </a:lnSpc>
              <a:spcBef>
                <a:spcPts val="0"/>
              </a:spcBef>
              <a:buNone/>
            </a:pPr>
            <a:r>
              <a:rPr lang="en-US" sz="4400" dirty="0"/>
              <a:t>    }</a:t>
            </a:r>
          </a:p>
          <a:p>
            <a:pPr marL="0" indent="0">
              <a:lnSpc>
                <a:spcPct val="120000"/>
              </a:lnSpc>
              <a:spcBef>
                <a:spcPts val="0"/>
              </a:spcBef>
              <a:buNone/>
            </a:pPr>
            <a:endParaRPr lang="en-US" sz="4400" dirty="0"/>
          </a:p>
          <a:p>
            <a:pPr marL="0" indent="0">
              <a:lnSpc>
                <a:spcPct val="120000"/>
              </a:lnSpc>
              <a:spcBef>
                <a:spcPts val="0"/>
              </a:spcBef>
              <a:buNone/>
            </a:pPr>
            <a:r>
              <a:rPr lang="en-US" sz="4400" dirty="0"/>
              <a:t>    public void </a:t>
            </a:r>
            <a:r>
              <a:rPr lang="en-US" sz="4400" dirty="0" err="1"/>
              <a:t>temperatureChanged</a:t>
            </a:r>
            <a:r>
              <a:rPr lang="en-US" sz="4400" dirty="0"/>
              <a:t>() {</a:t>
            </a:r>
          </a:p>
          <a:p>
            <a:pPr marL="0" indent="0">
              <a:lnSpc>
                <a:spcPct val="120000"/>
              </a:lnSpc>
              <a:spcBef>
                <a:spcPts val="0"/>
              </a:spcBef>
              <a:buNone/>
            </a:pPr>
            <a:r>
              <a:rPr lang="en-US" sz="4400" dirty="0"/>
              <a:t>        </a:t>
            </a:r>
            <a:r>
              <a:rPr lang="en-US" sz="4400" dirty="0" err="1"/>
              <a:t>notifyObservers</a:t>
            </a:r>
            <a:r>
              <a:rPr lang="en-US" sz="4400" dirty="0"/>
              <a:t>();</a:t>
            </a:r>
          </a:p>
          <a:p>
            <a:pPr marL="0" indent="0">
              <a:lnSpc>
                <a:spcPct val="120000"/>
              </a:lnSpc>
              <a:spcBef>
                <a:spcPts val="0"/>
              </a:spcBef>
              <a:buNone/>
            </a:pPr>
            <a:r>
              <a:rPr lang="en-US" sz="4400" dirty="0"/>
              <a:t>    }</a:t>
            </a:r>
          </a:p>
          <a:p>
            <a:pPr marL="0" indent="0">
              <a:lnSpc>
                <a:spcPct val="120000"/>
              </a:lnSpc>
              <a:spcBef>
                <a:spcPts val="0"/>
              </a:spcBef>
              <a:buNone/>
            </a:pPr>
            <a:endParaRPr lang="en-US" sz="4400" dirty="0"/>
          </a:p>
          <a:p>
            <a:pPr marL="0" indent="0">
              <a:lnSpc>
                <a:spcPct val="120000"/>
              </a:lnSpc>
              <a:spcBef>
                <a:spcPts val="0"/>
              </a:spcBef>
              <a:buNone/>
            </a:pPr>
            <a:r>
              <a:rPr lang="en-US" sz="4400" dirty="0"/>
              <a:t>    public void </a:t>
            </a:r>
            <a:r>
              <a:rPr lang="en-US" sz="4400" dirty="0" err="1"/>
              <a:t>setTemperature</a:t>
            </a:r>
            <a:r>
              <a:rPr lang="en-US" sz="4400" dirty="0"/>
              <a:t>(float temperature) {</a:t>
            </a:r>
          </a:p>
          <a:p>
            <a:pPr marL="0" indent="0">
              <a:lnSpc>
                <a:spcPct val="120000"/>
              </a:lnSpc>
              <a:spcBef>
                <a:spcPts val="0"/>
              </a:spcBef>
              <a:buNone/>
            </a:pPr>
            <a:r>
              <a:rPr lang="en-US" sz="4400" dirty="0"/>
              <a:t>        </a:t>
            </a:r>
            <a:r>
              <a:rPr lang="en-US" sz="4400" dirty="0" err="1"/>
              <a:t>this.temperature</a:t>
            </a:r>
            <a:r>
              <a:rPr lang="en-US" sz="4400" dirty="0"/>
              <a:t> = temperature;</a:t>
            </a:r>
          </a:p>
          <a:p>
            <a:pPr marL="0" indent="0">
              <a:lnSpc>
                <a:spcPct val="120000"/>
              </a:lnSpc>
              <a:spcBef>
                <a:spcPts val="0"/>
              </a:spcBef>
              <a:buNone/>
            </a:pPr>
            <a:r>
              <a:rPr lang="en-US" sz="4400" dirty="0"/>
              <a:t>        </a:t>
            </a:r>
            <a:r>
              <a:rPr lang="en-US" sz="4400" dirty="0" err="1"/>
              <a:t>temperatureChanged</a:t>
            </a:r>
            <a:r>
              <a:rPr lang="en-US" sz="4400" dirty="0"/>
              <a:t>();</a:t>
            </a:r>
          </a:p>
          <a:p>
            <a:pPr marL="0" indent="0">
              <a:lnSpc>
                <a:spcPct val="120000"/>
              </a:lnSpc>
              <a:spcBef>
                <a:spcPts val="0"/>
              </a:spcBef>
              <a:buNone/>
            </a:pPr>
            <a:r>
              <a:rPr lang="en-US" sz="4400" dirty="0"/>
              <a:t>    }</a:t>
            </a:r>
          </a:p>
          <a:p>
            <a:pPr marL="0" indent="0">
              <a:lnSpc>
                <a:spcPct val="120000"/>
              </a:lnSpc>
              <a:spcBef>
                <a:spcPts val="0"/>
              </a:spcBef>
              <a:buNone/>
            </a:pPr>
            <a:r>
              <a:rPr lang="en-US" sz="4400" dirty="0"/>
              <a:t>}</a:t>
            </a:r>
          </a:p>
          <a:p>
            <a:endParaRPr lang="en-US" dirty="0"/>
          </a:p>
        </p:txBody>
      </p:sp>
    </p:spTree>
    <p:extLst>
      <p:ext uri="{BB962C8B-B14F-4D97-AF65-F5344CB8AC3E}">
        <p14:creationId xmlns:p14="http://schemas.microsoft.com/office/powerpoint/2010/main" val="36352298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197B72-AECA-4DDC-A93A-B2D0E4C363D4}"/>
              </a:ext>
            </a:extLst>
          </p:cNvPr>
          <p:cNvSpPr>
            <a:spLocks noGrp="1"/>
          </p:cNvSpPr>
          <p:nvPr>
            <p:ph type="title"/>
          </p:nvPr>
        </p:nvSpPr>
        <p:spPr>
          <a:xfrm>
            <a:off x="838200" y="365126"/>
            <a:ext cx="10515600" cy="574442"/>
          </a:xfrm>
        </p:spPr>
        <p:txBody>
          <a:bodyPr>
            <a:normAutofit fontScale="90000"/>
          </a:bodyPr>
          <a:lstStyle/>
          <a:p>
            <a:r>
              <a:rPr lang="en-US" dirty="0"/>
              <a:t>Concrete Observer</a:t>
            </a:r>
          </a:p>
        </p:txBody>
      </p:sp>
      <p:sp>
        <p:nvSpPr>
          <p:cNvPr id="3" name="Content Placeholder 2">
            <a:extLst>
              <a:ext uri="{FF2B5EF4-FFF2-40B4-BE49-F238E27FC236}">
                <a16:creationId xmlns:a16="http://schemas.microsoft.com/office/drawing/2014/main" id="{892AA2B0-89BF-4CE3-8E66-4DC696920120}"/>
              </a:ext>
            </a:extLst>
          </p:cNvPr>
          <p:cNvSpPr>
            <a:spLocks noGrp="1"/>
          </p:cNvSpPr>
          <p:nvPr>
            <p:ph idx="1"/>
          </p:nvPr>
        </p:nvSpPr>
        <p:spPr>
          <a:xfrm>
            <a:off x="838200" y="939568"/>
            <a:ext cx="10515600" cy="5237395"/>
          </a:xfrm>
        </p:spPr>
        <p:txBody>
          <a:bodyPr>
            <a:normAutofit fontScale="85000" lnSpcReduction="20000"/>
          </a:bodyPr>
          <a:lstStyle/>
          <a:p>
            <a:pPr marL="0" indent="0">
              <a:buNone/>
            </a:pPr>
            <a:r>
              <a:rPr lang="en-US" dirty="0"/>
              <a:t>public class </a:t>
            </a:r>
            <a:r>
              <a:rPr lang="en-US" dirty="0" err="1"/>
              <a:t>TemperatureDisplay</a:t>
            </a:r>
            <a:r>
              <a:rPr lang="en-US" dirty="0"/>
              <a:t> implements Observer {</a:t>
            </a:r>
          </a:p>
          <a:p>
            <a:pPr marL="0" indent="0">
              <a:buNone/>
            </a:pPr>
            <a:r>
              <a:rPr lang="en-US" dirty="0"/>
              <a:t>    private Subject </a:t>
            </a:r>
            <a:r>
              <a:rPr lang="en-US" dirty="0" err="1"/>
              <a:t>weatherStation</a:t>
            </a:r>
            <a:r>
              <a:rPr lang="en-US" dirty="0"/>
              <a:t>;</a:t>
            </a:r>
          </a:p>
          <a:p>
            <a:pPr marL="0" indent="0">
              <a:buNone/>
            </a:pPr>
            <a:endParaRPr lang="en-US" dirty="0"/>
          </a:p>
          <a:p>
            <a:pPr marL="0" indent="0">
              <a:buNone/>
            </a:pPr>
            <a:r>
              <a:rPr lang="en-US" dirty="0"/>
              <a:t>    public </a:t>
            </a:r>
            <a:r>
              <a:rPr lang="en-US" dirty="0" err="1"/>
              <a:t>TemperatureDisplay</a:t>
            </a:r>
            <a:r>
              <a:rPr lang="en-US" dirty="0"/>
              <a:t>(Subject </a:t>
            </a:r>
            <a:r>
              <a:rPr lang="en-US" dirty="0" err="1"/>
              <a:t>weatherStation</a:t>
            </a:r>
            <a:r>
              <a:rPr lang="en-US" dirty="0"/>
              <a:t>) {</a:t>
            </a:r>
          </a:p>
          <a:p>
            <a:pPr marL="0" indent="0">
              <a:buNone/>
            </a:pPr>
            <a:r>
              <a:rPr lang="en-US" dirty="0"/>
              <a:t>        </a:t>
            </a:r>
            <a:r>
              <a:rPr lang="en-US" dirty="0" err="1"/>
              <a:t>this.weatherStation</a:t>
            </a:r>
            <a:r>
              <a:rPr lang="en-US" dirty="0"/>
              <a:t> = </a:t>
            </a:r>
            <a:r>
              <a:rPr lang="en-US" dirty="0" err="1"/>
              <a:t>weatherStation</a:t>
            </a:r>
            <a:r>
              <a:rPr lang="en-US" dirty="0"/>
              <a:t>;</a:t>
            </a:r>
          </a:p>
          <a:p>
            <a:pPr marL="0" indent="0">
              <a:buNone/>
            </a:pPr>
            <a:r>
              <a:rPr lang="en-US" dirty="0"/>
              <a:t>        </a:t>
            </a:r>
            <a:r>
              <a:rPr lang="en-US" dirty="0" err="1"/>
              <a:t>weatherStation.registerObserver</a:t>
            </a:r>
            <a:r>
              <a:rPr lang="en-US" dirty="0"/>
              <a:t>(this);</a:t>
            </a:r>
          </a:p>
          <a:p>
            <a:pPr marL="0" indent="0">
              <a:buNone/>
            </a:pPr>
            <a:r>
              <a:rPr lang="en-US" dirty="0"/>
              <a:t>    }</a:t>
            </a:r>
          </a:p>
          <a:p>
            <a:pPr marL="0" indent="0">
              <a:buNone/>
            </a:pPr>
            <a:endParaRPr lang="en-US" dirty="0"/>
          </a:p>
          <a:p>
            <a:pPr marL="0" indent="0">
              <a:buNone/>
            </a:pPr>
            <a:r>
              <a:rPr lang="en-US" dirty="0"/>
              <a:t>    @Override</a:t>
            </a:r>
          </a:p>
          <a:p>
            <a:pPr marL="0" indent="0">
              <a:buNone/>
            </a:pPr>
            <a:r>
              <a:rPr lang="en-US" dirty="0"/>
              <a:t>    public void update(float temperature) {</a:t>
            </a:r>
          </a:p>
          <a:p>
            <a:pPr marL="0" indent="0">
              <a:buNone/>
            </a:pPr>
            <a:r>
              <a:rPr lang="en-US" dirty="0"/>
              <a:t>        </a:t>
            </a:r>
            <a:r>
              <a:rPr lang="en-US" dirty="0" err="1"/>
              <a:t>System.out.println</a:t>
            </a:r>
            <a:r>
              <a:rPr lang="en-US" dirty="0"/>
              <a:t>("Temperature Display: Temperature changed to " + 	temperature + " degrees.");</a:t>
            </a:r>
          </a:p>
          <a:p>
            <a:pPr marL="0" indent="0">
              <a:buNone/>
            </a:pPr>
            <a:r>
              <a:rPr lang="en-US" dirty="0"/>
              <a:t>    }</a:t>
            </a:r>
          </a:p>
          <a:p>
            <a:pPr marL="0" indent="0">
              <a:buNone/>
            </a:pPr>
            <a:r>
              <a:rPr lang="en-US" dirty="0"/>
              <a:t>}</a:t>
            </a:r>
          </a:p>
          <a:p>
            <a:endParaRPr lang="en-US" dirty="0"/>
          </a:p>
        </p:txBody>
      </p:sp>
    </p:spTree>
    <p:extLst>
      <p:ext uri="{BB962C8B-B14F-4D97-AF65-F5344CB8AC3E}">
        <p14:creationId xmlns:p14="http://schemas.microsoft.com/office/powerpoint/2010/main" val="4230847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8AE2F2-2696-45B5-B8F2-1A736956C788}"/>
              </a:ext>
            </a:extLst>
          </p:cNvPr>
          <p:cNvSpPr>
            <a:spLocks noGrp="1"/>
          </p:cNvSpPr>
          <p:nvPr>
            <p:ph type="title"/>
          </p:nvPr>
        </p:nvSpPr>
        <p:spPr>
          <a:xfrm>
            <a:off x="838200" y="365126"/>
            <a:ext cx="10515600" cy="540886"/>
          </a:xfrm>
        </p:spPr>
        <p:txBody>
          <a:bodyPr>
            <a:normAutofit fontScale="90000"/>
          </a:bodyPr>
          <a:lstStyle/>
          <a:p>
            <a:r>
              <a:rPr lang="en-US" dirty="0"/>
              <a:t>Demo</a:t>
            </a:r>
          </a:p>
        </p:txBody>
      </p:sp>
      <p:sp>
        <p:nvSpPr>
          <p:cNvPr id="3" name="Content Placeholder 2">
            <a:extLst>
              <a:ext uri="{FF2B5EF4-FFF2-40B4-BE49-F238E27FC236}">
                <a16:creationId xmlns:a16="http://schemas.microsoft.com/office/drawing/2014/main" id="{B2A38A58-7906-4B93-B29D-1BF4A6843328}"/>
              </a:ext>
            </a:extLst>
          </p:cNvPr>
          <p:cNvSpPr>
            <a:spLocks noGrp="1"/>
          </p:cNvSpPr>
          <p:nvPr>
            <p:ph idx="1"/>
          </p:nvPr>
        </p:nvSpPr>
        <p:spPr>
          <a:xfrm>
            <a:off x="838200" y="1224793"/>
            <a:ext cx="10515600" cy="4952170"/>
          </a:xfrm>
        </p:spPr>
        <p:txBody>
          <a:bodyPr/>
          <a:lstStyle/>
          <a:p>
            <a:pPr marL="0" indent="0">
              <a:buNone/>
            </a:pPr>
            <a:r>
              <a:rPr lang="en-US" dirty="0"/>
              <a:t>public class </a:t>
            </a:r>
            <a:r>
              <a:rPr lang="en-US" dirty="0" err="1"/>
              <a:t>WeatherStationSimulator</a:t>
            </a:r>
            <a:r>
              <a:rPr lang="en-US" dirty="0"/>
              <a:t> {</a:t>
            </a:r>
          </a:p>
          <a:p>
            <a:pPr marL="0" indent="0">
              <a:buNone/>
            </a:pPr>
            <a:r>
              <a:rPr lang="en-US" dirty="0"/>
              <a:t>    public static void main(String[] </a:t>
            </a:r>
            <a:r>
              <a:rPr lang="en-US" dirty="0" err="1"/>
              <a:t>args</a:t>
            </a:r>
            <a:r>
              <a:rPr lang="en-US" dirty="0"/>
              <a:t>) {</a:t>
            </a:r>
          </a:p>
          <a:p>
            <a:pPr marL="0" indent="0">
              <a:buNone/>
            </a:pPr>
            <a:r>
              <a:rPr lang="en-US" dirty="0"/>
              <a:t>        </a:t>
            </a:r>
            <a:r>
              <a:rPr lang="en-US" dirty="0" err="1"/>
              <a:t>WeatherStation</a:t>
            </a:r>
            <a:r>
              <a:rPr lang="en-US" dirty="0"/>
              <a:t> </a:t>
            </a:r>
            <a:r>
              <a:rPr lang="en-US" dirty="0" err="1"/>
              <a:t>weatherStation</a:t>
            </a:r>
            <a:r>
              <a:rPr lang="en-US" dirty="0"/>
              <a:t> = new </a:t>
            </a:r>
            <a:r>
              <a:rPr lang="en-US" dirty="0" err="1"/>
              <a:t>WeatherStation</a:t>
            </a:r>
            <a:r>
              <a:rPr lang="en-US" dirty="0"/>
              <a:t>();</a:t>
            </a:r>
          </a:p>
          <a:p>
            <a:pPr marL="0" indent="0">
              <a:buNone/>
            </a:pPr>
            <a:r>
              <a:rPr lang="en-US" dirty="0"/>
              <a:t>        </a:t>
            </a:r>
            <a:r>
              <a:rPr lang="en-US" dirty="0" err="1"/>
              <a:t>TemperatureDisplay</a:t>
            </a:r>
            <a:r>
              <a:rPr lang="en-US" dirty="0"/>
              <a:t> </a:t>
            </a:r>
            <a:r>
              <a:rPr lang="en-US" dirty="0" err="1"/>
              <a:t>temperatureDisplay</a:t>
            </a:r>
            <a:r>
              <a:rPr lang="en-US" dirty="0"/>
              <a:t> = new 			</a:t>
            </a:r>
            <a:r>
              <a:rPr lang="en-US" dirty="0" err="1"/>
              <a:t>TemperatureDisplay</a:t>
            </a:r>
            <a:r>
              <a:rPr lang="en-US" dirty="0"/>
              <a:t>(</a:t>
            </a:r>
            <a:r>
              <a:rPr lang="en-US" dirty="0" err="1"/>
              <a:t>weatherStation</a:t>
            </a:r>
            <a:r>
              <a:rPr lang="en-US" dirty="0"/>
              <a:t>);</a:t>
            </a:r>
          </a:p>
          <a:p>
            <a:pPr marL="0" indent="0">
              <a:buNone/>
            </a:pPr>
            <a:endParaRPr lang="en-US" dirty="0"/>
          </a:p>
          <a:p>
            <a:pPr marL="0" indent="0">
              <a:buNone/>
            </a:pPr>
            <a:r>
              <a:rPr lang="en-US" dirty="0"/>
              <a:t>        </a:t>
            </a:r>
            <a:r>
              <a:rPr lang="en-US" dirty="0" err="1"/>
              <a:t>weatherStation.setTemperature</a:t>
            </a:r>
            <a:r>
              <a:rPr lang="en-US" dirty="0"/>
              <a:t>(25.3f);</a:t>
            </a:r>
          </a:p>
          <a:p>
            <a:pPr marL="0" indent="0">
              <a:buNone/>
            </a:pPr>
            <a:r>
              <a:rPr lang="en-US" dirty="0"/>
              <a:t>        </a:t>
            </a:r>
            <a:r>
              <a:rPr lang="en-US" dirty="0" err="1"/>
              <a:t>weatherStation.setTemperature</a:t>
            </a:r>
            <a:r>
              <a:rPr lang="en-US" dirty="0"/>
              <a:t>(26.7f);</a:t>
            </a:r>
          </a:p>
          <a:p>
            <a:pPr marL="0" indent="0">
              <a:buNone/>
            </a:pPr>
            <a:r>
              <a:rPr lang="en-US" dirty="0"/>
              <a:t>    }</a:t>
            </a:r>
          </a:p>
          <a:p>
            <a:pPr marL="0" indent="0">
              <a:buNone/>
            </a:pPr>
            <a:r>
              <a:rPr lang="en-US" dirty="0"/>
              <a:t>}</a:t>
            </a:r>
          </a:p>
          <a:p>
            <a:endParaRPr lang="en-US" dirty="0"/>
          </a:p>
        </p:txBody>
      </p:sp>
    </p:spTree>
    <p:extLst>
      <p:ext uri="{BB962C8B-B14F-4D97-AF65-F5344CB8AC3E}">
        <p14:creationId xmlns:p14="http://schemas.microsoft.com/office/powerpoint/2010/main" val="29649068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61BD99-B0AB-4D65-8D97-BF773AEBE1BF}"/>
              </a:ext>
            </a:extLst>
          </p:cNvPr>
          <p:cNvSpPr>
            <a:spLocks noGrp="1"/>
          </p:cNvSpPr>
          <p:nvPr>
            <p:ph type="title"/>
          </p:nvPr>
        </p:nvSpPr>
        <p:spPr/>
        <p:txBody>
          <a:bodyPr/>
          <a:lstStyle/>
          <a:p>
            <a:r>
              <a:rPr lang="en-US" dirty="0"/>
              <a:t>Traditional Implementation in Java</a:t>
            </a:r>
          </a:p>
        </p:txBody>
      </p:sp>
      <p:sp>
        <p:nvSpPr>
          <p:cNvPr id="4" name="Rectangle 1">
            <a:extLst>
              <a:ext uri="{FF2B5EF4-FFF2-40B4-BE49-F238E27FC236}">
                <a16:creationId xmlns:a16="http://schemas.microsoft.com/office/drawing/2014/main" id="{E1AC4E26-D363-4BB1-A786-761D7EEF7EF6}"/>
              </a:ext>
            </a:extLst>
          </p:cNvPr>
          <p:cNvSpPr>
            <a:spLocks noGrp="1" noChangeArrowheads="1"/>
          </p:cNvSpPr>
          <p:nvPr>
            <p:ph idx="1"/>
          </p:nvPr>
        </p:nvSpPr>
        <p:spPr bwMode="auto">
          <a:xfrm>
            <a:off x="838200" y="1354159"/>
            <a:ext cx="10971080" cy="529427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98375" rIns="0" bIns="198375" numCol="1" anchor="ctr" anchorCtr="0" compatLnSpc="1">
            <a:prstTxWarp prst="textNoShape">
              <a:avLst/>
            </a:prstTxWarp>
            <a:spAutoFit/>
          </a:bodyPr>
          <a:lstStyle/>
          <a:p>
            <a:pPr eaLnBrk="0" fontAlgn="base" hangingPunct="0">
              <a:lnSpc>
                <a:spcPct val="100000"/>
              </a:lnSpc>
              <a:spcBef>
                <a:spcPct val="0"/>
              </a:spcBef>
              <a:spcAft>
                <a:spcPct val="0"/>
              </a:spcAft>
            </a:pPr>
            <a:r>
              <a:rPr kumimoji="0" lang="en-US" altLang="en-US" b="0" i="0" u="none" strike="noStrike" cap="none" normalizeH="0" baseline="0" dirty="0">
                <a:ln>
                  <a:noFill/>
                </a:ln>
                <a:solidFill>
                  <a:srgbClr val="0D0D0D"/>
                </a:solidFill>
                <a:effectLst/>
                <a:latin typeface="Arial" panose="020B0604020202020204" pitchFamily="34" charset="0"/>
                <a:ea typeface="Söhne"/>
              </a:rPr>
              <a:t>The </a:t>
            </a:r>
            <a:r>
              <a:rPr kumimoji="0" lang="en-US" altLang="en-US" b="1" i="0" u="none" strike="noStrike" cap="none" normalizeH="0" baseline="0" dirty="0">
                <a:ln>
                  <a:noFill/>
                </a:ln>
                <a:solidFill>
                  <a:srgbClr val="0D0D0D"/>
                </a:solidFill>
                <a:effectLst/>
                <a:ea typeface="Söhne"/>
              </a:rPr>
              <a:t>Observable</a:t>
            </a:r>
            <a:r>
              <a:rPr kumimoji="0" lang="en-US" altLang="en-US" b="0" i="0" u="none" strike="noStrike" cap="none" normalizeH="0" baseline="0" dirty="0">
                <a:ln>
                  <a:noFill/>
                </a:ln>
                <a:solidFill>
                  <a:srgbClr val="0D0D0D"/>
                </a:solidFill>
                <a:effectLst/>
                <a:ea typeface="Söhne"/>
              </a:rPr>
              <a:t> class serves as the subject.</a:t>
            </a:r>
          </a:p>
          <a:p>
            <a:pPr eaLnBrk="0" fontAlgn="base" hangingPunct="0">
              <a:lnSpc>
                <a:spcPct val="100000"/>
              </a:lnSpc>
              <a:spcBef>
                <a:spcPct val="0"/>
              </a:spcBef>
              <a:spcAft>
                <a:spcPct val="0"/>
              </a:spcAft>
            </a:pPr>
            <a:r>
              <a:rPr lang="en-US" altLang="en-US" dirty="0">
                <a:solidFill>
                  <a:srgbClr val="0D0D0D"/>
                </a:solidFill>
                <a:ea typeface="Söhne"/>
              </a:rPr>
              <a:t>A</a:t>
            </a:r>
            <a:r>
              <a:rPr kumimoji="0" lang="en-US" altLang="en-US" b="0" i="0" u="none" strike="noStrike" cap="none" normalizeH="0" baseline="0" dirty="0">
                <a:ln>
                  <a:noFill/>
                </a:ln>
                <a:solidFill>
                  <a:srgbClr val="0D0D0D"/>
                </a:solidFill>
                <a:effectLst/>
                <a:ea typeface="Söhne"/>
              </a:rPr>
              <a:t>ny class that implements the </a:t>
            </a:r>
            <a:r>
              <a:rPr kumimoji="0" lang="en-US" altLang="en-US" b="1" i="0" u="none" strike="noStrike" cap="none" normalizeH="0" baseline="0" dirty="0">
                <a:ln>
                  <a:noFill/>
                </a:ln>
                <a:solidFill>
                  <a:srgbClr val="0D0D0D"/>
                </a:solidFill>
                <a:effectLst/>
                <a:ea typeface="Söhne"/>
              </a:rPr>
              <a:t>Observer</a:t>
            </a:r>
            <a:r>
              <a:rPr kumimoji="0" lang="en-US" altLang="en-US" b="0" i="0" u="none" strike="noStrike" cap="none" normalizeH="0" baseline="0" dirty="0">
                <a:ln>
                  <a:noFill/>
                </a:ln>
                <a:solidFill>
                  <a:srgbClr val="0D0D0D"/>
                </a:solidFill>
                <a:effectLst/>
                <a:ea typeface="Söhne"/>
              </a:rPr>
              <a:t> interface can act as an observer. </a:t>
            </a:r>
          </a:p>
          <a:p>
            <a:pPr eaLnBrk="0" fontAlgn="base" hangingPunct="0">
              <a:lnSpc>
                <a:spcPct val="100000"/>
              </a:lnSpc>
              <a:spcBef>
                <a:spcPct val="0"/>
              </a:spcBef>
              <a:spcAft>
                <a:spcPct val="0"/>
              </a:spcAft>
            </a:pPr>
            <a:r>
              <a:rPr lang="en-US" altLang="en-US" b="1" dirty="0">
                <a:solidFill>
                  <a:srgbClr val="0D0D0D"/>
                </a:solidFill>
                <a:latin typeface="Arial Unicode MS"/>
                <a:ea typeface="Söhne"/>
              </a:rPr>
              <a:t>Observable</a:t>
            </a:r>
            <a:r>
              <a:rPr kumimoji="0" lang="en-US" altLang="en-US" b="1" i="0" u="none" strike="noStrike" cap="none" normalizeH="0" baseline="0" dirty="0">
                <a:ln>
                  <a:noFill/>
                </a:ln>
                <a:solidFill>
                  <a:srgbClr val="0D0D0D"/>
                </a:solidFill>
                <a:effectLst/>
                <a:ea typeface="Söhne"/>
              </a:rPr>
              <a:t>:</a:t>
            </a:r>
            <a:r>
              <a:rPr kumimoji="0" lang="en-US" altLang="en-US" b="0" i="0" u="none" strike="noStrike" cap="none" normalizeH="0" baseline="0" dirty="0">
                <a:ln>
                  <a:noFill/>
                </a:ln>
                <a:solidFill>
                  <a:srgbClr val="0D0D0D"/>
                </a:solidFill>
                <a:effectLst/>
                <a:latin typeface="Arial" panose="020B0604020202020204" pitchFamily="34" charset="0"/>
                <a:ea typeface="Söhne"/>
              </a:rPr>
              <a:t> This is a class rather than an interface, which already </a:t>
            </a:r>
          </a:p>
          <a:p>
            <a:pPr marL="0" indent="0" eaLnBrk="0" fontAlgn="base" hangingPunct="0">
              <a:lnSpc>
                <a:spcPct val="100000"/>
              </a:lnSpc>
              <a:spcBef>
                <a:spcPct val="0"/>
              </a:spcBef>
              <a:spcAft>
                <a:spcPct val="0"/>
              </a:spcAft>
              <a:buNone/>
            </a:pPr>
            <a:r>
              <a:rPr lang="en-US" altLang="en-US" dirty="0">
                <a:solidFill>
                  <a:srgbClr val="0D0D0D"/>
                </a:solidFill>
                <a:latin typeface="Arial" panose="020B0604020202020204" pitchFamily="34" charset="0"/>
                <a:ea typeface="Söhne"/>
              </a:rPr>
              <a:t>	</a:t>
            </a:r>
            <a:r>
              <a:rPr kumimoji="0" lang="en-US" altLang="en-US" b="0" i="0" u="none" strike="noStrike" cap="none" normalizeH="0" baseline="0" dirty="0">
                <a:ln>
                  <a:noFill/>
                </a:ln>
                <a:solidFill>
                  <a:srgbClr val="0D0D0D"/>
                </a:solidFill>
                <a:effectLst/>
                <a:latin typeface="Arial" panose="020B0604020202020204" pitchFamily="34" charset="0"/>
                <a:ea typeface="Söhne"/>
              </a:rPr>
              <a:t>signals a design limitation since extending it prevents a class </a:t>
            </a:r>
          </a:p>
          <a:p>
            <a:pPr marL="0" indent="0" eaLnBrk="0" fontAlgn="base" hangingPunct="0">
              <a:lnSpc>
                <a:spcPct val="100000"/>
              </a:lnSpc>
              <a:spcBef>
                <a:spcPct val="0"/>
              </a:spcBef>
              <a:spcAft>
                <a:spcPct val="0"/>
              </a:spcAft>
              <a:buNone/>
            </a:pPr>
            <a:r>
              <a:rPr lang="en-US" altLang="en-US" dirty="0">
                <a:solidFill>
                  <a:srgbClr val="0D0D0D"/>
                </a:solidFill>
                <a:latin typeface="Arial" panose="020B0604020202020204" pitchFamily="34" charset="0"/>
                <a:ea typeface="Söhne"/>
              </a:rPr>
              <a:t>	</a:t>
            </a:r>
            <a:r>
              <a:rPr kumimoji="0" lang="en-US" altLang="en-US" b="0" i="0" u="none" strike="noStrike" cap="none" normalizeH="0" baseline="0" dirty="0">
                <a:ln>
                  <a:noFill/>
                </a:ln>
                <a:solidFill>
                  <a:srgbClr val="0D0D0D"/>
                </a:solidFill>
                <a:effectLst/>
                <a:latin typeface="Arial" panose="020B0604020202020204" pitchFamily="34" charset="0"/>
                <a:ea typeface="Söhne"/>
              </a:rPr>
              <a:t>from extending any other class. </a:t>
            </a:r>
          </a:p>
          <a:p>
            <a:pPr eaLnBrk="0" fontAlgn="base" hangingPunct="0">
              <a:lnSpc>
                <a:spcPct val="100000"/>
              </a:lnSpc>
              <a:spcBef>
                <a:spcPct val="0"/>
              </a:spcBef>
              <a:spcAft>
                <a:spcPct val="0"/>
              </a:spcAft>
            </a:pPr>
            <a:r>
              <a:rPr kumimoji="0" lang="en-US" altLang="en-US" b="0" i="0" u="none" strike="noStrike" cap="none" normalizeH="0" baseline="0" dirty="0">
                <a:ln>
                  <a:noFill/>
                </a:ln>
                <a:solidFill>
                  <a:srgbClr val="0D0D0D"/>
                </a:solidFill>
                <a:effectLst/>
                <a:latin typeface="Arial" panose="020B0604020202020204" pitchFamily="34" charset="0"/>
                <a:ea typeface="Söhne"/>
              </a:rPr>
              <a:t>The </a:t>
            </a:r>
            <a:r>
              <a:rPr kumimoji="0" lang="en-US" altLang="en-US" b="1" i="0" u="none" strike="noStrike" cap="none" normalizeH="0" baseline="0" dirty="0">
                <a:ln>
                  <a:noFill/>
                </a:ln>
                <a:solidFill>
                  <a:srgbClr val="0D0D0D"/>
                </a:solidFill>
                <a:effectLst/>
                <a:latin typeface="Arial" panose="020B0604020202020204" pitchFamily="34" charset="0"/>
                <a:ea typeface="Söhne"/>
              </a:rPr>
              <a:t>Observa</a:t>
            </a:r>
            <a:r>
              <a:rPr lang="en-US" altLang="en-US" b="1" dirty="0">
                <a:solidFill>
                  <a:srgbClr val="0D0D0D"/>
                </a:solidFill>
                <a:latin typeface="Arial" panose="020B0604020202020204" pitchFamily="34" charset="0"/>
                <a:ea typeface="Söhne"/>
              </a:rPr>
              <a:t>ble</a:t>
            </a:r>
            <a:r>
              <a:rPr lang="en-US" altLang="en-US" dirty="0">
                <a:solidFill>
                  <a:srgbClr val="0D0D0D"/>
                </a:solidFill>
                <a:latin typeface="Arial" panose="020B0604020202020204" pitchFamily="34" charset="0"/>
                <a:ea typeface="Söhne"/>
              </a:rPr>
              <a:t> </a:t>
            </a:r>
            <a:r>
              <a:rPr kumimoji="0" lang="en-US" altLang="en-US" b="0" i="0" u="none" strike="noStrike" cap="none" normalizeH="0" baseline="0" dirty="0">
                <a:ln>
                  <a:noFill/>
                </a:ln>
                <a:solidFill>
                  <a:srgbClr val="0D0D0D"/>
                </a:solidFill>
                <a:effectLst/>
                <a:ea typeface="Söhne"/>
              </a:rPr>
              <a:t>class maintains a list of its observers and provides </a:t>
            </a:r>
          </a:p>
          <a:p>
            <a:pPr marL="0" indent="0" eaLnBrk="0" fontAlgn="base" hangingPunct="0">
              <a:lnSpc>
                <a:spcPct val="100000"/>
              </a:lnSpc>
              <a:spcBef>
                <a:spcPct val="0"/>
              </a:spcBef>
              <a:spcAft>
                <a:spcPct val="0"/>
              </a:spcAft>
              <a:buNone/>
            </a:pPr>
            <a:r>
              <a:rPr lang="en-US" altLang="en-US" dirty="0">
                <a:solidFill>
                  <a:srgbClr val="0D0D0D"/>
                </a:solidFill>
                <a:ea typeface="Söhne"/>
              </a:rPr>
              <a:t>	</a:t>
            </a:r>
            <a:r>
              <a:rPr kumimoji="0" lang="en-US" altLang="en-US" b="0" i="0" u="none" strike="noStrike" cap="none" normalizeH="0" baseline="0" dirty="0">
                <a:ln>
                  <a:noFill/>
                </a:ln>
                <a:solidFill>
                  <a:srgbClr val="0D0D0D"/>
                </a:solidFill>
                <a:effectLst/>
                <a:ea typeface="Söhne"/>
              </a:rPr>
              <a:t>methods to notify them of state changes by calling their </a:t>
            </a:r>
            <a:r>
              <a:rPr lang="en-US" altLang="en-US" b="1" dirty="0">
                <a:solidFill>
                  <a:srgbClr val="0D0D0D"/>
                </a:solidFill>
                <a:latin typeface="Arial Unicode MS"/>
                <a:ea typeface="Söhne"/>
              </a:rPr>
              <a:t>update</a:t>
            </a:r>
            <a:r>
              <a:rPr kumimoji="0" lang="en-US" altLang="en-US" b="0" i="0" u="none" strike="noStrike" cap="none" normalizeH="0" baseline="0" dirty="0">
                <a:ln>
                  <a:noFill/>
                </a:ln>
                <a:solidFill>
                  <a:srgbClr val="0D0D0D"/>
                </a:solidFill>
                <a:effectLst/>
                <a:ea typeface="Söhne"/>
              </a:rPr>
              <a:t> </a:t>
            </a:r>
          </a:p>
          <a:p>
            <a:pPr marL="0" indent="0" eaLnBrk="0" fontAlgn="base" hangingPunct="0">
              <a:lnSpc>
                <a:spcPct val="100000"/>
              </a:lnSpc>
              <a:spcBef>
                <a:spcPct val="0"/>
              </a:spcBef>
              <a:spcAft>
                <a:spcPct val="0"/>
              </a:spcAft>
              <a:buNone/>
            </a:pPr>
            <a:r>
              <a:rPr lang="en-US" altLang="en-US" dirty="0">
                <a:solidFill>
                  <a:srgbClr val="0D0D0D"/>
                </a:solidFill>
                <a:ea typeface="Söhne"/>
              </a:rPr>
              <a:t>	</a:t>
            </a:r>
            <a:r>
              <a:rPr kumimoji="0" lang="en-US" altLang="en-US" b="0" i="0" u="none" strike="noStrike" cap="none" normalizeH="0" baseline="0" dirty="0">
                <a:ln>
                  <a:noFill/>
                </a:ln>
                <a:solidFill>
                  <a:srgbClr val="0D0D0D"/>
                </a:solidFill>
                <a:effectLst/>
                <a:ea typeface="Söhne"/>
              </a:rPr>
              <a:t>method.</a:t>
            </a:r>
            <a:endParaRPr kumimoji="0" lang="en-US" altLang="en-US" b="0" i="0" u="none" strike="noStrike" cap="none" normalizeH="0" baseline="0" dirty="0">
              <a:ln>
                <a:noFill/>
              </a:ln>
              <a:solidFill>
                <a:srgbClr val="0D0D0D"/>
              </a:solidFill>
              <a:effectLst/>
              <a:latin typeface="Arial" panose="020B0604020202020204" pitchFamily="34" charset="0"/>
              <a:ea typeface="Söhne"/>
            </a:endParaRPr>
          </a:p>
          <a:p>
            <a:pPr eaLnBrk="0" fontAlgn="base" hangingPunct="0">
              <a:lnSpc>
                <a:spcPct val="100000"/>
              </a:lnSpc>
              <a:spcBef>
                <a:spcPct val="0"/>
              </a:spcBef>
              <a:spcAft>
                <a:spcPct val="0"/>
              </a:spcAft>
            </a:pPr>
            <a:r>
              <a:rPr lang="en-US" altLang="en-US" b="1" dirty="0">
                <a:solidFill>
                  <a:srgbClr val="0D0D0D"/>
                </a:solidFill>
                <a:latin typeface="Arial Unicode MS"/>
                <a:ea typeface="Söhne"/>
              </a:rPr>
              <a:t>Observer</a:t>
            </a:r>
            <a:r>
              <a:rPr kumimoji="0" lang="en-US" altLang="en-US" b="1" i="0" u="none" strike="noStrike" cap="none" normalizeH="0" baseline="0" dirty="0">
                <a:ln>
                  <a:noFill/>
                </a:ln>
                <a:solidFill>
                  <a:srgbClr val="0D0D0D"/>
                </a:solidFill>
                <a:effectLst/>
                <a:ea typeface="Söhne"/>
              </a:rPr>
              <a:t>:</a:t>
            </a:r>
            <a:r>
              <a:rPr kumimoji="0" lang="en-US" altLang="en-US" b="0" i="0" u="none" strike="noStrike" cap="none" normalizeH="0" baseline="0" dirty="0">
                <a:ln>
                  <a:noFill/>
                </a:ln>
                <a:solidFill>
                  <a:srgbClr val="0D0D0D"/>
                </a:solidFill>
                <a:effectLst/>
                <a:latin typeface="Arial" panose="020B0604020202020204" pitchFamily="34" charset="0"/>
                <a:ea typeface="Söhne"/>
              </a:rPr>
              <a:t> This interface requires implementing a single method, </a:t>
            </a:r>
          </a:p>
          <a:p>
            <a:pPr marL="457200" lvl="1" indent="0" eaLnBrk="0" fontAlgn="base" hangingPunct="0">
              <a:lnSpc>
                <a:spcPct val="100000"/>
              </a:lnSpc>
              <a:spcBef>
                <a:spcPct val="0"/>
              </a:spcBef>
              <a:spcAft>
                <a:spcPct val="0"/>
              </a:spcAft>
              <a:buNone/>
            </a:pPr>
            <a:r>
              <a:rPr lang="en-US" altLang="en-US" dirty="0">
                <a:solidFill>
                  <a:srgbClr val="0D0D0D"/>
                </a:solidFill>
                <a:latin typeface="Arial" panose="020B0604020202020204" pitchFamily="34" charset="0"/>
                <a:ea typeface="Söhne"/>
              </a:rPr>
              <a:t>	</a:t>
            </a:r>
            <a:r>
              <a:rPr kumimoji="0" lang="en-US" altLang="en-US" b="0" i="0" u="none" strike="noStrike" cap="none" normalizeH="0" baseline="0" dirty="0">
                <a:ln>
                  <a:noFill/>
                </a:ln>
                <a:solidFill>
                  <a:srgbClr val="0D0D0D"/>
                </a:solidFill>
                <a:effectLst/>
                <a:latin typeface="Arial" panose="020B0604020202020204" pitchFamily="34" charset="0"/>
                <a:ea typeface="Söhne"/>
              </a:rPr>
              <a:t>update(Observable o, Object </a:t>
            </a:r>
            <a:r>
              <a:rPr kumimoji="0" lang="en-US" altLang="en-US" b="0" i="0" u="none" strike="noStrike" cap="none" normalizeH="0" baseline="0" dirty="0" err="1">
                <a:ln>
                  <a:noFill/>
                </a:ln>
                <a:solidFill>
                  <a:srgbClr val="0D0D0D"/>
                </a:solidFill>
                <a:effectLst/>
                <a:latin typeface="Arial" panose="020B0604020202020204" pitchFamily="34" charset="0"/>
                <a:ea typeface="Söhne"/>
              </a:rPr>
              <a:t>arg</a:t>
            </a:r>
            <a:r>
              <a:rPr kumimoji="0" lang="en-US" altLang="en-US" b="0" i="0" u="none" strike="noStrike" cap="none" normalizeH="0" baseline="0" dirty="0">
                <a:ln>
                  <a:noFill/>
                </a:ln>
                <a:solidFill>
                  <a:srgbClr val="0D0D0D"/>
                </a:solidFill>
                <a:effectLst/>
                <a:latin typeface="Arial" panose="020B0604020202020204" pitchFamily="34" charset="0"/>
                <a:ea typeface="Söhne"/>
              </a:rPr>
              <a:t>)</a:t>
            </a:r>
            <a:r>
              <a:rPr kumimoji="0" lang="en-US" altLang="en-US" b="0" i="0" u="none" strike="noStrike" cap="none" normalizeH="0" baseline="0" dirty="0">
                <a:ln>
                  <a:noFill/>
                </a:ln>
                <a:solidFill>
                  <a:srgbClr val="0D0D0D"/>
                </a:solidFill>
                <a:effectLst/>
                <a:ea typeface="Söhne"/>
              </a:rPr>
              <a:t>, which is called whenever the observed </a:t>
            </a:r>
          </a:p>
          <a:p>
            <a:pPr marL="457200" lvl="1" indent="0" eaLnBrk="0" fontAlgn="base" hangingPunct="0">
              <a:lnSpc>
                <a:spcPct val="100000"/>
              </a:lnSpc>
              <a:spcBef>
                <a:spcPct val="0"/>
              </a:spcBef>
              <a:spcAft>
                <a:spcPct val="0"/>
              </a:spcAft>
              <a:buNone/>
            </a:pPr>
            <a:r>
              <a:rPr lang="en-US" altLang="en-US" dirty="0">
                <a:solidFill>
                  <a:srgbClr val="0D0D0D"/>
                </a:solidFill>
                <a:ea typeface="Söhne"/>
              </a:rPr>
              <a:t>	</a:t>
            </a:r>
            <a:r>
              <a:rPr kumimoji="0" lang="en-US" altLang="en-US" b="0" i="0" u="none" strike="noStrike" cap="none" normalizeH="0" baseline="0" dirty="0">
                <a:ln>
                  <a:noFill/>
                </a:ln>
                <a:solidFill>
                  <a:srgbClr val="0D0D0D"/>
                </a:solidFill>
                <a:effectLst/>
                <a:ea typeface="Söhne"/>
              </a:rPr>
              <a:t>object is changed.</a:t>
            </a:r>
            <a:endParaRPr kumimoji="0" lang="en-US" altLang="en-US" b="0" i="0" u="none" strike="noStrike" cap="none" normalizeH="0" baseline="0" dirty="0">
              <a:ln>
                <a:noFill/>
              </a:ln>
              <a:solidFill>
                <a:srgbClr val="0D0D0D"/>
              </a:solidFill>
              <a:effectLst/>
              <a:latin typeface="Arial" panose="020B0604020202020204" pitchFamily="34" charset="0"/>
              <a:ea typeface="Söhne"/>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7347706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4831A3-C617-418E-ADA5-83AB5B03A4E0}"/>
              </a:ext>
            </a:extLst>
          </p:cNvPr>
          <p:cNvSpPr>
            <a:spLocks noGrp="1"/>
          </p:cNvSpPr>
          <p:nvPr>
            <p:ph type="title"/>
          </p:nvPr>
        </p:nvSpPr>
        <p:spPr>
          <a:xfrm>
            <a:off x="838200" y="365125"/>
            <a:ext cx="10515600" cy="800945"/>
          </a:xfrm>
        </p:spPr>
        <p:txBody>
          <a:bodyPr/>
          <a:lstStyle/>
          <a:p>
            <a:r>
              <a:rPr lang="en-US" dirty="0"/>
              <a:t>Traditional Implementation in Java</a:t>
            </a:r>
          </a:p>
        </p:txBody>
      </p:sp>
      <p:sp>
        <p:nvSpPr>
          <p:cNvPr id="3" name="Content Placeholder 2">
            <a:extLst>
              <a:ext uri="{FF2B5EF4-FFF2-40B4-BE49-F238E27FC236}">
                <a16:creationId xmlns:a16="http://schemas.microsoft.com/office/drawing/2014/main" id="{1B614232-53D1-4BE4-ABD0-AD268D7F1861}"/>
              </a:ext>
            </a:extLst>
          </p:cNvPr>
          <p:cNvSpPr>
            <a:spLocks noGrp="1"/>
          </p:cNvSpPr>
          <p:nvPr>
            <p:ph idx="1"/>
          </p:nvPr>
        </p:nvSpPr>
        <p:spPr>
          <a:xfrm>
            <a:off x="838200" y="1082180"/>
            <a:ext cx="10515600" cy="5486400"/>
          </a:xfrm>
        </p:spPr>
        <p:txBody>
          <a:bodyPr>
            <a:normAutofit fontScale="55000" lnSpcReduction="20000"/>
          </a:bodyPr>
          <a:lstStyle/>
          <a:p>
            <a:pPr marL="0" indent="0">
              <a:spcBef>
                <a:spcPts val="0"/>
              </a:spcBef>
              <a:buNone/>
            </a:pPr>
            <a:r>
              <a:rPr lang="en-US" dirty="0"/>
              <a:t>import </a:t>
            </a:r>
            <a:r>
              <a:rPr lang="en-US" dirty="0" err="1"/>
              <a:t>java.util.Observable</a:t>
            </a:r>
            <a:r>
              <a:rPr lang="en-US" dirty="0"/>
              <a:t>;</a:t>
            </a:r>
          </a:p>
          <a:p>
            <a:pPr marL="0" indent="0">
              <a:spcBef>
                <a:spcPts val="0"/>
              </a:spcBef>
              <a:buNone/>
            </a:pPr>
            <a:r>
              <a:rPr lang="en-US" dirty="0"/>
              <a:t>import </a:t>
            </a:r>
            <a:r>
              <a:rPr lang="en-US" dirty="0" err="1"/>
              <a:t>java.util.Observer</a:t>
            </a:r>
            <a:r>
              <a:rPr lang="en-US" dirty="0"/>
              <a:t>;</a:t>
            </a:r>
          </a:p>
          <a:p>
            <a:pPr marL="0" indent="0">
              <a:spcBef>
                <a:spcPts val="0"/>
              </a:spcBef>
              <a:buNone/>
            </a:pPr>
            <a:endParaRPr lang="en-US" dirty="0"/>
          </a:p>
          <a:p>
            <a:pPr marL="0" indent="0">
              <a:spcBef>
                <a:spcPts val="0"/>
              </a:spcBef>
              <a:buNone/>
            </a:pPr>
            <a:r>
              <a:rPr lang="en-US" dirty="0"/>
              <a:t>// Observable (Subject)</a:t>
            </a:r>
          </a:p>
          <a:p>
            <a:pPr marL="0" indent="0">
              <a:spcBef>
                <a:spcPts val="0"/>
              </a:spcBef>
              <a:buNone/>
            </a:pPr>
            <a:r>
              <a:rPr lang="en-US" dirty="0"/>
              <a:t>public class </a:t>
            </a:r>
            <a:r>
              <a:rPr lang="en-US" dirty="0" err="1"/>
              <a:t>WeatherData</a:t>
            </a:r>
            <a:r>
              <a:rPr lang="en-US" dirty="0"/>
              <a:t> extends Observable {</a:t>
            </a:r>
          </a:p>
          <a:p>
            <a:pPr marL="0" indent="0">
              <a:spcBef>
                <a:spcPts val="0"/>
              </a:spcBef>
              <a:buNone/>
            </a:pPr>
            <a:r>
              <a:rPr lang="en-US" dirty="0"/>
              <a:t>    private float temperature;</a:t>
            </a:r>
          </a:p>
          <a:p>
            <a:pPr marL="0" indent="0">
              <a:spcBef>
                <a:spcPts val="0"/>
              </a:spcBef>
              <a:buNone/>
            </a:pPr>
            <a:endParaRPr lang="en-US" dirty="0"/>
          </a:p>
          <a:p>
            <a:pPr marL="0" indent="0">
              <a:spcBef>
                <a:spcPts val="0"/>
              </a:spcBef>
              <a:buNone/>
            </a:pPr>
            <a:r>
              <a:rPr lang="en-US" dirty="0"/>
              <a:t>    public void </a:t>
            </a:r>
            <a:r>
              <a:rPr lang="en-US" dirty="0" err="1"/>
              <a:t>setMeasurements</a:t>
            </a:r>
            <a:r>
              <a:rPr lang="en-US" dirty="0"/>
              <a:t>(float temperature) {</a:t>
            </a:r>
          </a:p>
          <a:p>
            <a:pPr marL="0" indent="0">
              <a:spcBef>
                <a:spcPts val="0"/>
              </a:spcBef>
              <a:buNone/>
            </a:pPr>
            <a:r>
              <a:rPr lang="en-US" dirty="0"/>
              <a:t>        </a:t>
            </a:r>
            <a:r>
              <a:rPr lang="en-US" dirty="0" err="1"/>
              <a:t>this.temperature</a:t>
            </a:r>
            <a:r>
              <a:rPr lang="en-US" dirty="0"/>
              <a:t> = temperature;</a:t>
            </a:r>
          </a:p>
          <a:p>
            <a:pPr marL="0" indent="0">
              <a:spcBef>
                <a:spcPts val="0"/>
              </a:spcBef>
              <a:buNone/>
            </a:pPr>
            <a:r>
              <a:rPr lang="en-US" dirty="0"/>
              <a:t>        </a:t>
            </a:r>
            <a:r>
              <a:rPr lang="en-US" dirty="0" err="1"/>
              <a:t>setChanged</a:t>
            </a:r>
            <a:r>
              <a:rPr lang="en-US" dirty="0"/>
              <a:t>(); // Mark the Observable as having been changed</a:t>
            </a:r>
          </a:p>
          <a:p>
            <a:pPr marL="0" indent="0">
              <a:spcBef>
                <a:spcPts val="0"/>
              </a:spcBef>
              <a:buNone/>
            </a:pPr>
            <a:r>
              <a:rPr lang="en-US" dirty="0"/>
              <a:t>        </a:t>
            </a:r>
            <a:r>
              <a:rPr lang="en-US" dirty="0" err="1"/>
              <a:t>notifyObservers</a:t>
            </a:r>
            <a:r>
              <a:rPr lang="en-US" dirty="0"/>
              <a:t>(); // Notify all observers</a:t>
            </a:r>
          </a:p>
          <a:p>
            <a:pPr marL="0" indent="0">
              <a:spcBef>
                <a:spcPts val="0"/>
              </a:spcBef>
              <a:buNone/>
            </a:pPr>
            <a:r>
              <a:rPr lang="en-US" dirty="0"/>
              <a:t>    }</a:t>
            </a:r>
          </a:p>
          <a:p>
            <a:pPr marL="0" indent="0">
              <a:spcBef>
                <a:spcPts val="0"/>
              </a:spcBef>
              <a:buNone/>
            </a:pPr>
            <a:endParaRPr lang="en-US" dirty="0"/>
          </a:p>
          <a:p>
            <a:pPr marL="0" indent="0">
              <a:spcBef>
                <a:spcPts val="0"/>
              </a:spcBef>
              <a:buNone/>
            </a:pPr>
            <a:r>
              <a:rPr lang="en-US" dirty="0"/>
              <a:t>    public float </a:t>
            </a:r>
            <a:r>
              <a:rPr lang="en-US" dirty="0" err="1"/>
              <a:t>getTemperature</a:t>
            </a:r>
            <a:r>
              <a:rPr lang="en-US" dirty="0"/>
              <a:t>() {</a:t>
            </a:r>
          </a:p>
          <a:p>
            <a:pPr marL="0" indent="0">
              <a:spcBef>
                <a:spcPts val="0"/>
              </a:spcBef>
              <a:buNone/>
            </a:pPr>
            <a:r>
              <a:rPr lang="en-US" dirty="0"/>
              <a:t>        return temperature;</a:t>
            </a:r>
          </a:p>
          <a:p>
            <a:pPr marL="0" indent="0">
              <a:spcBef>
                <a:spcPts val="0"/>
              </a:spcBef>
              <a:buNone/>
            </a:pPr>
            <a:r>
              <a:rPr lang="en-US" dirty="0"/>
              <a:t>    }</a:t>
            </a:r>
          </a:p>
          <a:p>
            <a:pPr marL="0" indent="0">
              <a:spcBef>
                <a:spcPts val="0"/>
              </a:spcBef>
              <a:buNone/>
            </a:pPr>
            <a:r>
              <a:rPr lang="en-US" dirty="0"/>
              <a:t>}</a:t>
            </a:r>
          </a:p>
          <a:p>
            <a:pPr marL="0" indent="0">
              <a:spcBef>
                <a:spcPts val="0"/>
              </a:spcBef>
              <a:buNone/>
            </a:pPr>
            <a:endParaRPr lang="en-US" dirty="0"/>
          </a:p>
          <a:p>
            <a:pPr marL="0" indent="0">
              <a:spcBef>
                <a:spcPts val="0"/>
              </a:spcBef>
              <a:buNone/>
            </a:pPr>
            <a:r>
              <a:rPr lang="en-US" dirty="0"/>
              <a:t>// Observer</a:t>
            </a:r>
          </a:p>
          <a:p>
            <a:pPr marL="0" indent="0">
              <a:spcBef>
                <a:spcPts val="0"/>
              </a:spcBef>
              <a:buNone/>
            </a:pPr>
            <a:r>
              <a:rPr lang="en-US" dirty="0"/>
              <a:t>public class </a:t>
            </a:r>
            <a:r>
              <a:rPr lang="en-US" dirty="0" err="1"/>
              <a:t>CurrentConditionsDisplay</a:t>
            </a:r>
            <a:r>
              <a:rPr lang="en-US" dirty="0"/>
              <a:t> implements Observer {</a:t>
            </a:r>
          </a:p>
          <a:p>
            <a:pPr marL="0" indent="0">
              <a:spcBef>
                <a:spcPts val="0"/>
              </a:spcBef>
              <a:buNone/>
            </a:pPr>
            <a:r>
              <a:rPr lang="en-US" dirty="0"/>
              <a:t>    public </a:t>
            </a:r>
            <a:r>
              <a:rPr lang="en-US" dirty="0" err="1"/>
              <a:t>CurrentConditionsDisplay</a:t>
            </a:r>
            <a:r>
              <a:rPr lang="en-US" dirty="0"/>
              <a:t>(Observable observable) {</a:t>
            </a:r>
          </a:p>
          <a:p>
            <a:pPr marL="0" indent="0">
              <a:spcBef>
                <a:spcPts val="0"/>
              </a:spcBef>
              <a:buNone/>
            </a:pPr>
            <a:r>
              <a:rPr lang="en-US" dirty="0"/>
              <a:t>        </a:t>
            </a:r>
            <a:r>
              <a:rPr lang="en-US" dirty="0" err="1"/>
              <a:t>observable.addObserver</a:t>
            </a:r>
            <a:r>
              <a:rPr lang="en-US" dirty="0"/>
              <a:t>(this);</a:t>
            </a:r>
          </a:p>
          <a:p>
            <a:pPr marL="0" indent="0">
              <a:spcBef>
                <a:spcPts val="0"/>
              </a:spcBef>
              <a:buNone/>
            </a:pPr>
            <a:r>
              <a:rPr lang="en-US" dirty="0"/>
              <a:t>    }</a:t>
            </a:r>
          </a:p>
          <a:p>
            <a:pPr marL="0" indent="0">
              <a:spcBef>
                <a:spcPts val="0"/>
              </a:spcBef>
              <a:buNone/>
            </a:pPr>
            <a:endParaRPr lang="en-US" dirty="0"/>
          </a:p>
          <a:p>
            <a:pPr marL="0" indent="0">
              <a:spcBef>
                <a:spcPts val="0"/>
              </a:spcBef>
              <a:buNone/>
            </a:pPr>
            <a:r>
              <a:rPr lang="en-US" dirty="0"/>
              <a:t>    @Override</a:t>
            </a:r>
          </a:p>
          <a:p>
            <a:pPr marL="0" indent="0">
              <a:spcBef>
                <a:spcPts val="0"/>
              </a:spcBef>
              <a:buNone/>
            </a:pPr>
            <a:r>
              <a:rPr lang="en-US" dirty="0"/>
              <a:t>    public void update(Observable </a:t>
            </a:r>
            <a:r>
              <a:rPr lang="en-US" dirty="0" err="1"/>
              <a:t>obs</a:t>
            </a:r>
            <a:r>
              <a:rPr lang="en-US" dirty="0"/>
              <a:t>, Object </a:t>
            </a:r>
            <a:r>
              <a:rPr lang="en-US" dirty="0" err="1"/>
              <a:t>arg</a:t>
            </a:r>
            <a:r>
              <a:rPr lang="en-US" dirty="0"/>
              <a:t>) {</a:t>
            </a:r>
          </a:p>
          <a:p>
            <a:pPr marL="0" indent="0">
              <a:spcBef>
                <a:spcPts val="0"/>
              </a:spcBef>
              <a:buNone/>
            </a:pPr>
            <a:r>
              <a:rPr lang="en-US" dirty="0"/>
              <a:t>        if (</a:t>
            </a:r>
            <a:r>
              <a:rPr lang="en-US" dirty="0" err="1"/>
              <a:t>obs</a:t>
            </a:r>
            <a:r>
              <a:rPr lang="en-US" dirty="0"/>
              <a:t> </a:t>
            </a:r>
            <a:r>
              <a:rPr lang="en-US" dirty="0" err="1"/>
              <a:t>instanceof</a:t>
            </a:r>
            <a:r>
              <a:rPr lang="en-US" dirty="0"/>
              <a:t> </a:t>
            </a:r>
            <a:r>
              <a:rPr lang="en-US" dirty="0" err="1"/>
              <a:t>WeatherData</a:t>
            </a:r>
            <a:r>
              <a:rPr lang="en-US" dirty="0"/>
              <a:t>) {</a:t>
            </a:r>
          </a:p>
          <a:p>
            <a:pPr marL="0" indent="0">
              <a:spcBef>
                <a:spcPts val="0"/>
              </a:spcBef>
              <a:buNone/>
            </a:pPr>
            <a:r>
              <a:rPr lang="en-US" dirty="0"/>
              <a:t>            </a:t>
            </a:r>
            <a:r>
              <a:rPr lang="en-US" dirty="0" err="1"/>
              <a:t>WeatherData</a:t>
            </a:r>
            <a:r>
              <a:rPr lang="en-US" dirty="0"/>
              <a:t> </a:t>
            </a:r>
            <a:r>
              <a:rPr lang="en-US" dirty="0" err="1"/>
              <a:t>weatherData</a:t>
            </a:r>
            <a:r>
              <a:rPr lang="en-US" dirty="0"/>
              <a:t> = (</a:t>
            </a:r>
            <a:r>
              <a:rPr lang="en-US" dirty="0" err="1"/>
              <a:t>WeatherData</a:t>
            </a:r>
            <a:r>
              <a:rPr lang="en-US" dirty="0"/>
              <a:t>) </a:t>
            </a:r>
            <a:r>
              <a:rPr lang="en-US" dirty="0" err="1"/>
              <a:t>obs</a:t>
            </a:r>
            <a:r>
              <a:rPr lang="en-US" dirty="0"/>
              <a:t>;</a:t>
            </a:r>
          </a:p>
          <a:p>
            <a:pPr marL="0" indent="0">
              <a:spcBef>
                <a:spcPts val="0"/>
              </a:spcBef>
              <a:buNone/>
            </a:pPr>
            <a:r>
              <a:rPr lang="en-US" dirty="0"/>
              <a:t>            float temp = </a:t>
            </a:r>
            <a:r>
              <a:rPr lang="en-US" dirty="0" err="1"/>
              <a:t>weatherData.getTemperature</a:t>
            </a:r>
            <a:r>
              <a:rPr lang="en-US" dirty="0"/>
              <a:t>();</a:t>
            </a:r>
          </a:p>
          <a:p>
            <a:pPr marL="0" indent="0">
              <a:spcBef>
                <a:spcPts val="0"/>
              </a:spcBef>
              <a:buNone/>
            </a:pPr>
            <a:r>
              <a:rPr lang="en-US" dirty="0"/>
              <a:t>            </a:t>
            </a:r>
            <a:r>
              <a:rPr lang="en-US" dirty="0" err="1"/>
              <a:t>System.out.println</a:t>
            </a:r>
            <a:r>
              <a:rPr lang="en-US" dirty="0"/>
              <a:t>("Current conditions: " + temp + "C degrees");</a:t>
            </a:r>
          </a:p>
          <a:p>
            <a:pPr marL="0" indent="0">
              <a:spcBef>
                <a:spcPts val="0"/>
              </a:spcBef>
              <a:buNone/>
            </a:pPr>
            <a:r>
              <a:rPr lang="en-US" dirty="0"/>
              <a:t>        }</a:t>
            </a:r>
          </a:p>
          <a:p>
            <a:pPr marL="0" indent="0">
              <a:spcBef>
                <a:spcPts val="0"/>
              </a:spcBef>
              <a:buNone/>
            </a:pPr>
            <a:r>
              <a:rPr lang="en-US" dirty="0"/>
              <a:t>    }</a:t>
            </a:r>
          </a:p>
          <a:p>
            <a:pPr marL="0" indent="0">
              <a:spcBef>
                <a:spcPts val="0"/>
              </a:spcBef>
              <a:buNone/>
            </a:pPr>
            <a:r>
              <a:rPr lang="en-US" dirty="0"/>
              <a:t>}</a:t>
            </a:r>
          </a:p>
          <a:p>
            <a:endParaRPr lang="en-US" dirty="0"/>
          </a:p>
        </p:txBody>
      </p:sp>
    </p:spTree>
    <p:extLst>
      <p:ext uri="{BB962C8B-B14F-4D97-AF65-F5344CB8AC3E}">
        <p14:creationId xmlns:p14="http://schemas.microsoft.com/office/powerpoint/2010/main" val="33530120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5ECF50-B241-43C8-BA2B-74BB45DE047A}"/>
              </a:ext>
            </a:extLst>
          </p:cNvPr>
          <p:cNvSpPr>
            <a:spLocks noGrp="1"/>
          </p:cNvSpPr>
          <p:nvPr>
            <p:ph type="title"/>
          </p:nvPr>
        </p:nvSpPr>
        <p:spPr/>
        <p:txBody>
          <a:bodyPr/>
          <a:lstStyle/>
          <a:p>
            <a:r>
              <a:rPr lang="en-US" dirty="0"/>
              <a:t>Modern Alternative</a:t>
            </a:r>
          </a:p>
        </p:txBody>
      </p:sp>
      <p:sp>
        <p:nvSpPr>
          <p:cNvPr id="4" name="Rectangle 1">
            <a:extLst>
              <a:ext uri="{FF2B5EF4-FFF2-40B4-BE49-F238E27FC236}">
                <a16:creationId xmlns:a16="http://schemas.microsoft.com/office/drawing/2014/main" id="{705E8202-AD08-4213-B00D-0A64CF7625B9}"/>
              </a:ext>
            </a:extLst>
          </p:cNvPr>
          <p:cNvSpPr>
            <a:spLocks noGrp="1" noChangeArrowheads="1"/>
          </p:cNvSpPr>
          <p:nvPr>
            <p:ph idx="1"/>
          </p:nvPr>
        </p:nvSpPr>
        <p:spPr bwMode="auto">
          <a:xfrm>
            <a:off x="838200" y="400055"/>
            <a:ext cx="9606094" cy="720248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98375" rIns="0" bIns="198375"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rgbClr val="0D0D0D"/>
                </a:solidFill>
                <a:effectLst/>
                <a:latin typeface="Arial" panose="020B0604020202020204" pitchFamily="34" charset="0"/>
                <a:ea typeface="Söhne"/>
              </a:rPr>
              <a:t> </a:t>
            </a:r>
            <a:r>
              <a:rPr kumimoji="0" lang="en-US" altLang="en-US" b="1" i="0" u="none" strike="noStrike" cap="none" normalizeH="0" baseline="0" dirty="0" err="1">
                <a:ln>
                  <a:noFill/>
                </a:ln>
                <a:solidFill>
                  <a:srgbClr val="0D0D0D"/>
                </a:solidFill>
                <a:effectLst/>
                <a:latin typeface="Arial" panose="020B0604020202020204" pitchFamily="34" charset="0"/>
                <a:ea typeface="Söhne"/>
              </a:rPr>
              <a:t>PropertyChangeSupport</a:t>
            </a:r>
            <a:r>
              <a:rPr lang="en-US" altLang="en-US" b="1" dirty="0">
                <a:solidFill>
                  <a:srgbClr val="0D0D0D"/>
                </a:solidFill>
                <a:latin typeface="Arial" panose="020B0604020202020204" pitchFamily="34" charset="0"/>
                <a:ea typeface="Söhne"/>
              </a:rPr>
              <a:t> (used by a JavaBean as 	subject)</a:t>
            </a:r>
            <a:endParaRPr kumimoji="0" lang="en-US" altLang="en-US" b="0" i="0" u="none" strike="noStrike" cap="none" normalizeH="0" baseline="0" dirty="0">
              <a:ln>
                <a:noFill/>
              </a:ln>
              <a:solidFill>
                <a:srgbClr val="0D0D0D"/>
              </a:solidFill>
              <a:effectLst/>
              <a:latin typeface="Arial" panose="020B0604020202020204" pitchFamily="34" charset="0"/>
              <a:ea typeface="Söhne"/>
            </a:endParaRP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dirty="0">
                <a:solidFill>
                  <a:srgbClr val="0D0D0D"/>
                </a:solidFill>
                <a:latin typeface="Arial" panose="020B0604020202020204" pitchFamily="34" charset="0"/>
                <a:ea typeface="Söhne"/>
              </a:rPr>
              <a:t> </a:t>
            </a:r>
            <a:r>
              <a:rPr lang="en-US" altLang="en-US" b="1" dirty="0" err="1">
                <a:solidFill>
                  <a:srgbClr val="0D0D0D"/>
                </a:solidFill>
                <a:latin typeface="Arial" panose="020B0604020202020204" pitchFamily="34" charset="0"/>
                <a:ea typeface="Söhne"/>
              </a:rPr>
              <a:t>PropertyChange</a:t>
            </a:r>
            <a:r>
              <a:rPr lang="en-US" altLang="en-US" b="1" dirty="0">
                <a:solidFill>
                  <a:srgbClr val="0D0D0D"/>
                </a:solidFill>
                <a:latin typeface="Arial" panose="020B0604020202020204" pitchFamily="34" charset="0"/>
                <a:ea typeface="Söhne"/>
              </a:rPr>
              <a:t> Listener (used by a JavaBean as a 	listener)</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1" i="0" u="none" strike="noStrike" cap="none" normalizeH="0" baseline="0" dirty="0">
              <a:ln>
                <a:noFill/>
              </a:ln>
              <a:solidFill>
                <a:srgbClr val="0D0D0D"/>
              </a:solidFill>
              <a:effectLst/>
              <a:latin typeface="Arial" panose="020B0604020202020204" pitchFamily="34" charset="0"/>
              <a:ea typeface="Söhne"/>
            </a:endParaRPr>
          </a:p>
          <a:p>
            <a:pPr marL="971550" lvl="1" indent="-514350" eaLnBrk="0" fontAlgn="base" hangingPunct="0">
              <a:lnSpc>
                <a:spcPct val="100000"/>
              </a:lnSpc>
              <a:spcBef>
                <a:spcPct val="0"/>
              </a:spcBef>
              <a:spcAft>
                <a:spcPct val="0"/>
              </a:spcAft>
              <a:buFont typeface="+mj-lt"/>
              <a:buAutoNum type="arabicPeriod"/>
            </a:pPr>
            <a:r>
              <a:rPr lang="en-US" altLang="en-US" sz="2800" dirty="0" err="1">
                <a:solidFill>
                  <a:srgbClr val="0D0D0D"/>
                </a:solidFill>
                <a:latin typeface="Arial" panose="020B0604020202020204" pitchFamily="34" charset="0"/>
                <a:ea typeface="Söhne"/>
              </a:rPr>
              <a:t>PropertyChangeSupport</a:t>
            </a:r>
            <a:r>
              <a:rPr lang="en-US" altLang="en-US" sz="2800" dirty="0">
                <a:solidFill>
                  <a:srgbClr val="0D0D0D"/>
                </a:solidFill>
                <a:latin typeface="Arial" panose="020B0604020202020204" pitchFamily="34" charset="0"/>
                <a:ea typeface="Söhne"/>
              </a:rPr>
              <a:t> </a:t>
            </a:r>
            <a:r>
              <a:rPr kumimoji="0" lang="en-US" altLang="en-US" sz="2800" b="0" i="0" u="none" strike="noStrike" cap="none" normalizeH="0" baseline="0" dirty="0">
                <a:ln>
                  <a:noFill/>
                </a:ln>
                <a:solidFill>
                  <a:srgbClr val="0D0D0D"/>
                </a:solidFill>
                <a:effectLst/>
                <a:ea typeface="Söhne"/>
              </a:rPr>
              <a:t>offers a more flexible approach to observing property changes on JavaBeans components </a:t>
            </a:r>
          </a:p>
          <a:p>
            <a:pPr marL="457200" lvl="1" indent="0" eaLnBrk="0" fontAlgn="base" hangingPunct="0">
              <a:lnSpc>
                <a:spcPct val="100000"/>
              </a:lnSpc>
              <a:spcBef>
                <a:spcPct val="0"/>
              </a:spcBef>
              <a:spcAft>
                <a:spcPct val="0"/>
              </a:spcAft>
              <a:buNone/>
            </a:pPr>
            <a:endParaRPr kumimoji="0" lang="en-US" altLang="en-US" sz="2800" b="0" i="0" u="none" strike="noStrike" cap="none" normalizeH="0" baseline="0" dirty="0">
              <a:ln>
                <a:noFill/>
              </a:ln>
              <a:solidFill>
                <a:srgbClr val="0D0D0D"/>
              </a:solidFill>
              <a:effectLst/>
              <a:ea typeface="Söhne"/>
            </a:endParaRPr>
          </a:p>
          <a:p>
            <a:pPr marL="457200" lvl="1" indent="0" eaLnBrk="0" fontAlgn="base" hangingPunct="0">
              <a:lnSpc>
                <a:spcPct val="100000"/>
              </a:lnSpc>
              <a:spcBef>
                <a:spcPct val="0"/>
              </a:spcBef>
              <a:spcAft>
                <a:spcPct val="0"/>
              </a:spcAft>
              <a:buNone/>
            </a:pPr>
            <a:r>
              <a:rPr lang="en-US" altLang="en-US" sz="2800" dirty="0">
                <a:solidFill>
                  <a:srgbClr val="0D0D0D"/>
                </a:solidFill>
                <a:ea typeface="Söhne"/>
              </a:rPr>
              <a:t>2. 	</a:t>
            </a:r>
            <a:r>
              <a:rPr lang="en-US" altLang="en-US" sz="2800" dirty="0" err="1">
                <a:solidFill>
                  <a:srgbClr val="0D0D0D"/>
                </a:solidFill>
                <a:ea typeface="Söhne"/>
              </a:rPr>
              <a:t>PropertyChangeSupport</a:t>
            </a:r>
            <a:r>
              <a:rPr lang="en-US" altLang="en-US" sz="2800" dirty="0">
                <a:solidFill>
                  <a:srgbClr val="0D0D0D"/>
                </a:solidFill>
                <a:ea typeface="Söhne"/>
              </a:rPr>
              <a:t> is thread-safe, serializable. </a:t>
            </a:r>
            <a:r>
              <a:rPr lang="en-US" sz="2800" dirty="0"/>
              <a:t>When it 	is serialized it will save (and restore) any listeners that are 	themselves serializable. Any non-serializable listeners will 	be skipped during serialization.</a:t>
            </a:r>
            <a:endParaRPr lang="en-US" altLang="en-US" sz="2800" dirty="0">
              <a:solidFill>
                <a:srgbClr val="0D0D0D"/>
              </a:solidFill>
              <a:ea typeface="Söhne"/>
            </a:endParaRPr>
          </a:p>
          <a:p>
            <a:pPr marL="0" indent="0" eaLnBrk="0" fontAlgn="base" hangingPunct="0">
              <a:lnSpc>
                <a:spcPct val="100000"/>
              </a:lnSpc>
              <a:spcBef>
                <a:spcPct val="0"/>
              </a:spcBef>
              <a:spcAft>
                <a:spcPct val="0"/>
              </a:spcAft>
              <a:buNone/>
            </a:pPr>
            <a:endParaRPr kumimoji="0" lang="en-US" altLang="en-US" sz="3200" b="0" i="0" u="none" strike="noStrike" cap="none" normalizeH="0" baseline="0" dirty="0">
              <a:ln>
                <a:noFill/>
              </a:ln>
              <a:solidFill>
                <a:srgbClr val="0D0D0D"/>
              </a:solidFill>
              <a:effectLst/>
              <a:ea typeface="Söhne"/>
            </a:endParaRPr>
          </a:p>
          <a:p>
            <a:pPr marL="457200" lvl="1" indent="0" eaLnBrk="0" fontAlgn="base" hangingPunct="0">
              <a:lnSpc>
                <a:spcPct val="100000"/>
              </a:lnSpc>
              <a:spcBef>
                <a:spcPct val="0"/>
              </a:spcBef>
              <a:spcAft>
                <a:spcPct val="0"/>
              </a:spcAft>
              <a:buNone/>
            </a:pPr>
            <a:endParaRPr kumimoji="0" lang="en-US" altLang="en-US" sz="2800" b="0" i="0" u="none" strike="noStrike" cap="none" normalizeH="0" baseline="0" dirty="0">
              <a:ln>
                <a:noFill/>
              </a:ln>
              <a:solidFill>
                <a:srgbClr val="0D0D0D"/>
              </a:solidFill>
              <a:effectLst/>
              <a:ea typeface="Söhne"/>
            </a:endParaRPr>
          </a:p>
          <a:p>
            <a:pPr marL="457200" lvl="1" indent="0" eaLnBrk="0" fontAlgn="base" hangingPunct="0">
              <a:lnSpc>
                <a:spcPct val="100000"/>
              </a:lnSpc>
              <a:spcBef>
                <a:spcPct val="0"/>
              </a:spcBef>
              <a:spcAft>
                <a:spcPct val="0"/>
              </a:spcAft>
              <a:buNone/>
            </a:pPr>
            <a:endParaRPr kumimoji="0" lang="en-US" altLang="en-US" sz="2800" b="0" i="0" u="none" strike="noStrike" cap="none" normalizeH="0" baseline="0" dirty="0">
              <a:ln>
                <a:noFill/>
              </a:ln>
              <a:solidFill>
                <a:srgbClr val="0D0D0D"/>
              </a:solidFill>
              <a:effectLst/>
              <a:ea typeface="Söhne"/>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8393578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025F8F-0C09-4725-B047-DC8D8E6B3822}"/>
              </a:ext>
            </a:extLst>
          </p:cNvPr>
          <p:cNvSpPr>
            <a:spLocks noGrp="1"/>
          </p:cNvSpPr>
          <p:nvPr>
            <p:ph type="title"/>
          </p:nvPr>
        </p:nvSpPr>
        <p:spPr/>
        <p:txBody>
          <a:bodyPr/>
          <a:lstStyle/>
          <a:p>
            <a:r>
              <a:rPr lang="en-US" dirty="0"/>
              <a:t>What is a JavaBean?</a:t>
            </a:r>
          </a:p>
        </p:txBody>
      </p:sp>
      <p:sp>
        <p:nvSpPr>
          <p:cNvPr id="3" name="Content Placeholder 2">
            <a:extLst>
              <a:ext uri="{FF2B5EF4-FFF2-40B4-BE49-F238E27FC236}">
                <a16:creationId xmlns:a16="http://schemas.microsoft.com/office/drawing/2014/main" id="{F79DFD76-EE12-4970-B094-DC3EBE811337}"/>
              </a:ext>
            </a:extLst>
          </p:cNvPr>
          <p:cNvSpPr>
            <a:spLocks noGrp="1"/>
          </p:cNvSpPr>
          <p:nvPr>
            <p:ph idx="1"/>
          </p:nvPr>
        </p:nvSpPr>
        <p:spPr/>
        <p:txBody>
          <a:bodyPr/>
          <a:lstStyle/>
          <a:p>
            <a:r>
              <a:rPr lang="en-US" dirty="0"/>
              <a:t>A type of Java class that encapsulates many objects into a single object (the bean). It's a reusable software component that follows certain conventions.</a:t>
            </a:r>
          </a:p>
        </p:txBody>
      </p:sp>
    </p:spTree>
    <p:extLst>
      <p:ext uri="{BB962C8B-B14F-4D97-AF65-F5344CB8AC3E}">
        <p14:creationId xmlns:p14="http://schemas.microsoft.com/office/powerpoint/2010/main" val="101191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A21D1A-9E7E-4AAE-9CAD-D0A1B13892DA}"/>
              </a:ext>
            </a:extLst>
          </p:cNvPr>
          <p:cNvSpPr>
            <a:spLocks noGrp="1"/>
          </p:cNvSpPr>
          <p:nvPr>
            <p:ph type="title"/>
          </p:nvPr>
        </p:nvSpPr>
        <p:spPr/>
        <p:txBody>
          <a:bodyPr/>
          <a:lstStyle/>
          <a:p>
            <a:r>
              <a:rPr lang="en-US" dirty="0"/>
              <a:t>JavaBean Conventions</a:t>
            </a:r>
          </a:p>
        </p:txBody>
      </p:sp>
      <p:sp>
        <p:nvSpPr>
          <p:cNvPr id="3" name="Content Placeholder 2">
            <a:extLst>
              <a:ext uri="{FF2B5EF4-FFF2-40B4-BE49-F238E27FC236}">
                <a16:creationId xmlns:a16="http://schemas.microsoft.com/office/drawing/2014/main" id="{BB385454-4848-4801-972C-D890EF07D9E3}"/>
              </a:ext>
            </a:extLst>
          </p:cNvPr>
          <p:cNvSpPr>
            <a:spLocks noGrp="1"/>
          </p:cNvSpPr>
          <p:nvPr>
            <p:ph idx="1"/>
          </p:nvPr>
        </p:nvSpPr>
        <p:spPr/>
        <p:txBody>
          <a:bodyPr>
            <a:normAutofit fontScale="77500" lnSpcReduction="20000"/>
          </a:bodyPr>
          <a:lstStyle/>
          <a:p>
            <a:r>
              <a:rPr lang="en-US" sz="5800" dirty="0"/>
              <a:t>Serializable</a:t>
            </a:r>
            <a:r>
              <a:rPr lang="en-US" dirty="0"/>
              <a:t>: It implements the Serializable interface, which allows its objects to be serialized automatically, enabling them to be converted into a stream of bytes for storage or transmission.</a:t>
            </a:r>
          </a:p>
          <a:p>
            <a:r>
              <a:rPr lang="en-US" sz="5800" dirty="0"/>
              <a:t>Default Constructor</a:t>
            </a:r>
            <a:r>
              <a:rPr lang="en-US" dirty="0"/>
              <a:t>: It has a no-argument constructor, which allows for easy instantiation of the bean.</a:t>
            </a:r>
          </a:p>
          <a:p>
            <a:r>
              <a:rPr lang="en-US" sz="5800" dirty="0"/>
              <a:t>Properties</a:t>
            </a:r>
            <a:r>
              <a:rPr lang="en-US" dirty="0"/>
              <a:t>: It contains private properties accessible via public getter and setter methods. This encapsulation follows the principle of hiding the internal states and requiring all interactions to be performed through its public methods.</a:t>
            </a:r>
          </a:p>
          <a:p>
            <a:r>
              <a:rPr lang="en-US" sz="5800" dirty="0"/>
              <a:t>Getters and Setters</a:t>
            </a:r>
            <a:r>
              <a:rPr lang="en-US" dirty="0"/>
              <a:t>: For each property, there should be corresponding getter and setter methods that follow the standard naming convention. For example, for a property name, the methods would be </a:t>
            </a:r>
            <a:r>
              <a:rPr lang="en-US" dirty="0" err="1"/>
              <a:t>getName</a:t>
            </a:r>
            <a:r>
              <a:rPr lang="en-US" dirty="0"/>
              <a:t>() and </a:t>
            </a:r>
            <a:r>
              <a:rPr lang="en-US" dirty="0" err="1"/>
              <a:t>setName</a:t>
            </a:r>
            <a:r>
              <a:rPr lang="en-US" dirty="0"/>
              <a:t>(String name).</a:t>
            </a:r>
          </a:p>
        </p:txBody>
      </p:sp>
    </p:spTree>
    <p:extLst>
      <p:ext uri="{BB962C8B-B14F-4D97-AF65-F5344CB8AC3E}">
        <p14:creationId xmlns:p14="http://schemas.microsoft.com/office/powerpoint/2010/main" val="41286676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DABF04-2615-4A86-8A21-0200C9F5FE41}"/>
              </a:ext>
            </a:extLst>
          </p:cNvPr>
          <p:cNvSpPr>
            <a:spLocks noGrp="1"/>
          </p:cNvSpPr>
          <p:nvPr>
            <p:ph type="title"/>
          </p:nvPr>
        </p:nvSpPr>
        <p:spPr/>
        <p:txBody>
          <a:bodyPr/>
          <a:lstStyle/>
          <a:p>
            <a:r>
              <a:rPr lang="en-US" dirty="0"/>
              <a:t>JavaBean Use Cases:</a:t>
            </a:r>
          </a:p>
        </p:txBody>
      </p:sp>
      <p:sp>
        <p:nvSpPr>
          <p:cNvPr id="3" name="Content Placeholder 2">
            <a:extLst>
              <a:ext uri="{FF2B5EF4-FFF2-40B4-BE49-F238E27FC236}">
                <a16:creationId xmlns:a16="http://schemas.microsoft.com/office/drawing/2014/main" id="{BBAA2281-EB02-4176-A76B-99B364CB78D3}"/>
              </a:ext>
            </a:extLst>
          </p:cNvPr>
          <p:cNvSpPr>
            <a:spLocks noGrp="1"/>
          </p:cNvSpPr>
          <p:nvPr>
            <p:ph idx="1"/>
          </p:nvPr>
        </p:nvSpPr>
        <p:spPr/>
        <p:txBody>
          <a:bodyPr/>
          <a:lstStyle/>
          <a:p>
            <a:r>
              <a:rPr lang="en-US" sz="3200" dirty="0"/>
              <a:t>The JavaBeans concept is widely used to create components that can be reused without knowing their internal implementation. They are particularly popular in various frameworks where properties of beans can be automatically populated from configurations or databases, and in scenarios involving Java's serialization mechanism.</a:t>
            </a:r>
          </a:p>
          <a:p>
            <a:endParaRPr lang="en-US" dirty="0"/>
          </a:p>
        </p:txBody>
      </p:sp>
    </p:spTree>
    <p:extLst>
      <p:ext uri="{BB962C8B-B14F-4D97-AF65-F5344CB8AC3E}">
        <p14:creationId xmlns:p14="http://schemas.microsoft.com/office/powerpoint/2010/main" val="6723173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0EE8C8-C04E-4F37-A595-031C3901DD8C}"/>
              </a:ext>
            </a:extLst>
          </p:cNvPr>
          <p:cNvSpPr>
            <a:spLocks noGrp="1"/>
          </p:cNvSpPr>
          <p:nvPr>
            <p:ph type="title"/>
          </p:nvPr>
        </p:nvSpPr>
        <p:spPr/>
        <p:txBody>
          <a:bodyPr/>
          <a:lstStyle/>
          <a:p>
            <a:r>
              <a:rPr lang="en-US" dirty="0"/>
              <a:t>Record</a:t>
            </a:r>
          </a:p>
        </p:txBody>
      </p:sp>
      <p:sp>
        <p:nvSpPr>
          <p:cNvPr id="3" name="Content Placeholder 2">
            <a:extLst>
              <a:ext uri="{FF2B5EF4-FFF2-40B4-BE49-F238E27FC236}">
                <a16:creationId xmlns:a16="http://schemas.microsoft.com/office/drawing/2014/main" id="{5E3F7EFD-5E3D-4D3F-ACBA-21489C8B09CB}"/>
              </a:ext>
            </a:extLst>
          </p:cNvPr>
          <p:cNvSpPr>
            <a:spLocks noGrp="1"/>
          </p:cNvSpPr>
          <p:nvPr>
            <p:ph idx="1"/>
          </p:nvPr>
        </p:nvSpPr>
        <p:spPr/>
        <p:txBody>
          <a:bodyPr>
            <a:normAutofit/>
          </a:bodyPr>
          <a:lstStyle/>
          <a:p>
            <a:r>
              <a:rPr lang="en-US" sz="3200" dirty="0"/>
              <a:t>Introduced the </a:t>
            </a:r>
            <a:r>
              <a:rPr lang="en-US" sz="3200" b="1" dirty="0"/>
              <a:t>record</a:t>
            </a:r>
            <a:r>
              <a:rPr lang="en-US" sz="3200" dirty="0"/>
              <a:t> data type in Java 14 as a preview feature, and it became standard in Java 16. </a:t>
            </a:r>
          </a:p>
          <a:p>
            <a:r>
              <a:rPr lang="en-US" sz="3200" dirty="0"/>
              <a:t>Records provide a concise way to model immutable data as a simple aggregate of values. They are intended to be plain data carriers and are perfect for classes that are meant to group data without additional functionality.</a:t>
            </a:r>
          </a:p>
        </p:txBody>
      </p:sp>
    </p:spTree>
    <p:extLst>
      <p:ext uri="{BB962C8B-B14F-4D97-AF65-F5344CB8AC3E}">
        <p14:creationId xmlns:p14="http://schemas.microsoft.com/office/powerpoint/2010/main" val="13502823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F90F56-E2A9-4D02-8D17-4AD37E8A2005}"/>
              </a:ext>
            </a:extLst>
          </p:cNvPr>
          <p:cNvSpPr>
            <a:spLocks noGrp="1"/>
          </p:cNvSpPr>
          <p:nvPr>
            <p:ph type="title"/>
          </p:nvPr>
        </p:nvSpPr>
        <p:spPr/>
        <p:txBody>
          <a:bodyPr/>
          <a:lstStyle/>
          <a:p>
            <a:r>
              <a:rPr lang="en-US" dirty="0"/>
              <a:t>Features:</a:t>
            </a:r>
          </a:p>
        </p:txBody>
      </p:sp>
      <p:sp>
        <p:nvSpPr>
          <p:cNvPr id="3" name="Content Placeholder 2">
            <a:extLst>
              <a:ext uri="{FF2B5EF4-FFF2-40B4-BE49-F238E27FC236}">
                <a16:creationId xmlns:a16="http://schemas.microsoft.com/office/drawing/2014/main" id="{5588C4F5-8095-4D88-BB81-586D9FCF253A}"/>
              </a:ext>
            </a:extLst>
          </p:cNvPr>
          <p:cNvSpPr>
            <a:spLocks noGrp="1"/>
          </p:cNvSpPr>
          <p:nvPr>
            <p:ph idx="1"/>
          </p:nvPr>
        </p:nvSpPr>
        <p:spPr>
          <a:xfrm>
            <a:off x="838200" y="1476103"/>
            <a:ext cx="10515600" cy="4700860"/>
          </a:xfrm>
        </p:spPr>
        <p:txBody>
          <a:bodyPr>
            <a:normAutofit fontScale="77500" lnSpcReduction="20000"/>
          </a:bodyPr>
          <a:lstStyle/>
          <a:p>
            <a:r>
              <a:rPr lang="en-US" sz="4100" b="1" dirty="0"/>
              <a:t>Compact Syntax: </a:t>
            </a:r>
            <a:r>
              <a:rPr lang="en-US" dirty="0"/>
              <a:t>Records reduce the boilerplate code associated with writing classes that are simply data carriers.</a:t>
            </a:r>
          </a:p>
          <a:p>
            <a:endParaRPr lang="en-US" dirty="0"/>
          </a:p>
          <a:p>
            <a:r>
              <a:rPr lang="en-US" sz="4100" b="1" dirty="0"/>
              <a:t>Immutability:</a:t>
            </a:r>
            <a:r>
              <a:rPr lang="en-US" dirty="0"/>
              <a:t> Once a record's components are set (during object construction), they cannot be changed. This makes records inherently thread-safe.</a:t>
            </a:r>
          </a:p>
          <a:p>
            <a:endParaRPr lang="en-US" dirty="0"/>
          </a:p>
          <a:p>
            <a:r>
              <a:rPr lang="en-US" sz="4100" b="1" dirty="0"/>
              <a:t>Transparent State Handling: </a:t>
            </a:r>
            <a:r>
              <a:rPr lang="en-US" dirty="0"/>
              <a:t>All record fields are final and are implicitly provided with getters (accessor methods). However, these getters do not follow the traditional Java bean naming convention. Instead, the getter name is the same as the field name.</a:t>
            </a:r>
          </a:p>
          <a:p>
            <a:endParaRPr lang="en-US" dirty="0"/>
          </a:p>
          <a:p>
            <a:r>
              <a:rPr lang="en-US" sz="4100" b="1" dirty="0"/>
              <a:t>Auto-generated Methods: </a:t>
            </a:r>
            <a:r>
              <a:rPr lang="en-US" dirty="0"/>
              <a:t>Java automatically provides implementations of equals(), </a:t>
            </a:r>
            <a:r>
              <a:rPr lang="en-US" dirty="0" err="1"/>
              <a:t>hashCode</a:t>
            </a:r>
            <a:r>
              <a:rPr lang="en-US" dirty="0"/>
              <a:t>(), and </a:t>
            </a:r>
            <a:r>
              <a:rPr lang="en-US" dirty="0" err="1"/>
              <a:t>toString</a:t>
            </a:r>
            <a:r>
              <a:rPr lang="en-US" dirty="0"/>
              <a:t>() methods based on the state of the record's fields.</a:t>
            </a:r>
          </a:p>
        </p:txBody>
      </p:sp>
    </p:spTree>
    <p:extLst>
      <p:ext uri="{BB962C8B-B14F-4D97-AF65-F5344CB8AC3E}">
        <p14:creationId xmlns:p14="http://schemas.microsoft.com/office/powerpoint/2010/main" val="16080616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C11C8-A99C-4CF3-8B30-905CF4C64C3F}"/>
              </a:ext>
            </a:extLst>
          </p:cNvPr>
          <p:cNvSpPr>
            <a:spLocks noGrp="1"/>
          </p:cNvSpPr>
          <p:nvPr>
            <p:ph type="title"/>
          </p:nvPr>
        </p:nvSpPr>
        <p:spPr/>
        <p:txBody>
          <a:bodyPr/>
          <a:lstStyle/>
          <a:p>
            <a:r>
              <a:rPr lang="en-US" dirty="0"/>
              <a:t>Syntax</a:t>
            </a:r>
          </a:p>
        </p:txBody>
      </p:sp>
      <p:sp>
        <p:nvSpPr>
          <p:cNvPr id="3" name="Content Placeholder 2">
            <a:extLst>
              <a:ext uri="{FF2B5EF4-FFF2-40B4-BE49-F238E27FC236}">
                <a16:creationId xmlns:a16="http://schemas.microsoft.com/office/drawing/2014/main" id="{0CEE54D6-3A88-4854-986E-E818F347657E}"/>
              </a:ext>
            </a:extLst>
          </p:cNvPr>
          <p:cNvSpPr>
            <a:spLocks noGrp="1"/>
          </p:cNvSpPr>
          <p:nvPr>
            <p:ph idx="1"/>
          </p:nvPr>
        </p:nvSpPr>
        <p:spPr/>
        <p:txBody>
          <a:bodyPr/>
          <a:lstStyle/>
          <a:p>
            <a:pPr marL="0" indent="0">
              <a:buNone/>
            </a:pPr>
            <a:r>
              <a:rPr lang="en-US" sz="3200" dirty="0"/>
              <a:t>public record </a:t>
            </a:r>
            <a:r>
              <a:rPr lang="en-US" sz="3200" dirty="0" err="1"/>
              <a:t>RecordName</a:t>
            </a:r>
            <a:r>
              <a:rPr lang="en-US" sz="3200" dirty="0"/>
              <a:t>(Type1 fieldName1, Type2 fieldName2, ..., </a:t>
            </a:r>
            <a:r>
              <a:rPr lang="en-US" sz="3200" dirty="0" err="1"/>
              <a:t>TypeN</a:t>
            </a:r>
            <a:r>
              <a:rPr lang="en-US" sz="3200" dirty="0"/>
              <a:t> </a:t>
            </a:r>
            <a:r>
              <a:rPr lang="en-US" sz="3200" dirty="0" err="1"/>
              <a:t>fieldNameN</a:t>
            </a:r>
            <a:r>
              <a:rPr lang="en-US" sz="3200" dirty="0"/>
              <a:t>) {</a:t>
            </a:r>
          </a:p>
          <a:p>
            <a:pPr marL="0" indent="0">
              <a:buNone/>
            </a:pPr>
            <a:r>
              <a:rPr lang="en-US" sz="3200" dirty="0"/>
              <a:t>}</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9242160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8366A3-27A9-43F2-AF00-74078ABB1CEB}"/>
              </a:ext>
            </a:extLst>
          </p:cNvPr>
          <p:cNvSpPr>
            <a:spLocks noGrp="1"/>
          </p:cNvSpPr>
          <p:nvPr>
            <p:ph type="title"/>
          </p:nvPr>
        </p:nvSpPr>
        <p:spPr/>
        <p:txBody>
          <a:bodyPr/>
          <a:lstStyle/>
          <a:p>
            <a:r>
              <a:rPr lang="en-US" dirty="0"/>
              <a:t>Example 1:</a:t>
            </a:r>
          </a:p>
        </p:txBody>
      </p:sp>
      <p:sp>
        <p:nvSpPr>
          <p:cNvPr id="3" name="Content Placeholder 2">
            <a:extLst>
              <a:ext uri="{FF2B5EF4-FFF2-40B4-BE49-F238E27FC236}">
                <a16:creationId xmlns:a16="http://schemas.microsoft.com/office/drawing/2014/main" id="{6F3A74A4-7BA5-487D-8597-66EF83F13C82}"/>
              </a:ext>
            </a:extLst>
          </p:cNvPr>
          <p:cNvSpPr>
            <a:spLocks noGrp="1"/>
          </p:cNvSpPr>
          <p:nvPr>
            <p:ph idx="1"/>
          </p:nvPr>
        </p:nvSpPr>
        <p:spPr/>
        <p:txBody>
          <a:bodyPr>
            <a:normAutofit/>
          </a:bodyPr>
          <a:lstStyle/>
          <a:p>
            <a:pPr marL="0" indent="0">
              <a:buNone/>
            </a:pPr>
            <a:r>
              <a:rPr lang="en-US" dirty="0"/>
              <a:t>For example:</a:t>
            </a:r>
          </a:p>
          <a:p>
            <a:pPr marL="0" indent="0">
              <a:buNone/>
            </a:pPr>
            <a:r>
              <a:rPr lang="en-US" dirty="0"/>
              <a:t>public record Person(String name, int age) {</a:t>
            </a:r>
          </a:p>
          <a:p>
            <a:pPr marL="0" indent="0">
              <a:buNone/>
            </a:pPr>
            <a:r>
              <a:rPr lang="en-US" dirty="0"/>
              <a:t>}</a:t>
            </a:r>
          </a:p>
          <a:p>
            <a:pPr marL="0" indent="0">
              <a:buNone/>
            </a:pPr>
            <a:endParaRPr lang="en-US" dirty="0"/>
          </a:p>
          <a:p>
            <a:r>
              <a:rPr lang="en-US" dirty="0"/>
              <a:t>In this record, Person automatically has:</a:t>
            </a:r>
          </a:p>
          <a:p>
            <a:pPr marL="971550" lvl="1" indent="-514350">
              <a:buFont typeface="+mj-lt"/>
              <a:buAutoNum type="arabicPeriod"/>
            </a:pPr>
            <a:r>
              <a:rPr lang="en-US" dirty="0"/>
              <a:t>Two fields: name and age</a:t>
            </a:r>
          </a:p>
          <a:p>
            <a:pPr marL="971550" lvl="1" indent="-514350">
              <a:buFont typeface="+mj-lt"/>
              <a:buAutoNum type="arabicPeriod"/>
            </a:pPr>
            <a:r>
              <a:rPr lang="en-US" dirty="0"/>
              <a:t>A constructor that takes two parameters (matching the fields)</a:t>
            </a:r>
          </a:p>
          <a:p>
            <a:pPr marL="971550" lvl="1" indent="-514350">
              <a:buFont typeface="+mj-lt"/>
              <a:buAutoNum type="arabicPeriod"/>
            </a:pPr>
            <a:r>
              <a:rPr lang="en-US" dirty="0"/>
              <a:t>Public methods to access these fields: name() and age()</a:t>
            </a:r>
          </a:p>
          <a:p>
            <a:pPr marL="971550" lvl="1" indent="-514350">
              <a:buFont typeface="+mj-lt"/>
              <a:buAutoNum type="arabicPeriod"/>
            </a:pPr>
            <a:r>
              <a:rPr lang="en-US" dirty="0"/>
              <a:t>Overridden equals(), </a:t>
            </a:r>
            <a:r>
              <a:rPr lang="en-US" dirty="0" err="1"/>
              <a:t>hashCode</a:t>
            </a:r>
            <a:r>
              <a:rPr lang="en-US" dirty="0"/>
              <a:t>(), and </a:t>
            </a:r>
            <a:r>
              <a:rPr lang="en-US" dirty="0" err="1"/>
              <a:t>toString</a:t>
            </a:r>
            <a:r>
              <a:rPr lang="en-US" dirty="0"/>
              <a:t>() methods</a:t>
            </a:r>
          </a:p>
        </p:txBody>
      </p:sp>
    </p:spTree>
    <p:extLst>
      <p:ext uri="{BB962C8B-B14F-4D97-AF65-F5344CB8AC3E}">
        <p14:creationId xmlns:p14="http://schemas.microsoft.com/office/powerpoint/2010/main" val="833242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269AD6-5B90-435B-98F1-A261DDBEFAAC}"/>
              </a:ext>
            </a:extLst>
          </p:cNvPr>
          <p:cNvSpPr>
            <a:spLocks noGrp="1"/>
          </p:cNvSpPr>
          <p:nvPr>
            <p:ph type="title"/>
          </p:nvPr>
        </p:nvSpPr>
        <p:spPr/>
        <p:txBody>
          <a:bodyPr/>
          <a:lstStyle/>
          <a:p>
            <a:r>
              <a:rPr lang="en-US" dirty="0"/>
              <a:t>Usage:</a:t>
            </a:r>
          </a:p>
        </p:txBody>
      </p:sp>
      <p:sp>
        <p:nvSpPr>
          <p:cNvPr id="3" name="Content Placeholder 2">
            <a:extLst>
              <a:ext uri="{FF2B5EF4-FFF2-40B4-BE49-F238E27FC236}">
                <a16:creationId xmlns:a16="http://schemas.microsoft.com/office/drawing/2014/main" id="{829423CE-FBAD-4955-AC7E-D11E550CE788}"/>
              </a:ext>
            </a:extLst>
          </p:cNvPr>
          <p:cNvSpPr>
            <a:spLocks noGrp="1"/>
          </p:cNvSpPr>
          <p:nvPr>
            <p:ph idx="1"/>
          </p:nvPr>
        </p:nvSpPr>
        <p:spPr/>
        <p:txBody>
          <a:bodyPr/>
          <a:lstStyle/>
          <a:p>
            <a:r>
              <a:rPr lang="en-US" dirty="0"/>
              <a:t>Person </a:t>
            </a:r>
            <a:r>
              <a:rPr lang="en-US" dirty="0" err="1"/>
              <a:t>person</a:t>
            </a:r>
            <a:r>
              <a:rPr lang="en-US" dirty="0"/>
              <a:t> = new Person("John Doe", 30);</a:t>
            </a:r>
          </a:p>
          <a:p>
            <a:r>
              <a:rPr lang="en-US" dirty="0" err="1"/>
              <a:t>System.out.println</a:t>
            </a:r>
            <a:r>
              <a:rPr lang="en-US" dirty="0"/>
              <a:t>(person.name());  // Output: John Doe</a:t>
            </a:r>
          </a:p>
          <a:p>
            <a:r>
              <a:rPr lang="en-US" dirty="0" err="1"/>
              <a:t>System.out.println</a:t>
            </a:r>
            <a:r>
              <a:rPr lang="en-US" dirty="0"/>
              <a:t>(</a:t>
            </a:r>
            <a:r>
              <a:rPr lang="en-US" dirty="0" err="1"/>
              <a:t>person.age</a:t>
            </a:r>
            <a:r>
              <a:rPr lang="en-US" dirty="0"/>
              <a:t>());   // Output: 30</a:t>
            </a:r>
          </a:p>
          <a:p>
            <a:endParaRPr lang="en-US" dirty="0"/>
          </a:p>
        </p:txBody>
      </p:sp>
    </p:spTree>
    <p:extLst>
      <p:ext uri="{BB962C8B-B14F-4D97-AF65-F5344CB8AC3E}">
        <p14:creationId xmlns:p14="http://schemas.microsoft.com/office/powerpoint/2010/main" val="2391649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927917-8BEF-4E73-822B-A9B2E5C12846}"/>
              </a:ext>
            </a:extLst>
          </p:cNvPr>
          <p:cNvSpPr>
            <a:spLocks noGrp="1"/>
          </p:cNvSpPr>
          <p:nvPr>
            <p:ph type="title"/>
          </p:nvPr>
        </p:nvSpPr>
        <p:spPr/>
        <p:txBody>
          <a:bodyPr/>
          <a:lstStyle/>
          <a:p>
            <a:r>
              <a:rPr lang="en-US" dirty="0"/>
              <a:t>Example 2:</a:t>
            </a:r>
          </a:p>
        </p:txBody>
      </p:sp>
      <p:sp>
        <p:nvSpPr>
          <p:cNvPr id="3" name="Content Placeholder 2">
            <a:extLst>
              <a:ext uri="{FF2B5EF4-FFF2-40B4-BE49-F238E27FC236}">
                <a16:creationId xmlns:a16="http://schemas.microsoft.com/office/drawing/2014/main" id="{80929F5F-3915-42C1-AC57-A6AC3FC6DE6C}"/>
              </a:ext>
            </a:extLst>
          </p:cNvPr>
          <p:cNvSpPr>
            <a:spLocks noGrp="1"/>
          </p:cNvSpPr>
          <p:nvPr>
            <p:ph idx="1"/>
          </p:nvPr>
        </p:nvSpPr>
        <p:spPr/>
        <p:txBody>
          <a:bodyPr>
            <a:normAutofit fontScale="92500" lnSpcReduction="10000"/>
          </a:bodyPr>
          <a:lstStyle/>
          <a:p>
            <a:pPr marL="0" indent="0">
              <a:buNone/>
            </a:pPr>
            <a:r>
              <a:rPr lang="en-US" dirty="0"/>
              <a:t>public record Book(String title, String author, int year) {</a:t>
            </a:r>
          </a:p>
          <a:p>
            <a:pPr marL="0" indent="0">
              <a:buNone/>
            </a:pPr>
            <a:r>
              <a:rPr lang="en-US" dirty="0"/>
              <a:t>	public String </a:t>
            </a:r>
            <a:r>
              <a:rPr lang="en-US" dirty="0" err="1"/>
              <a:t>getFormattedDetails</a:t>
            </a:r>
            <a:r>
              <a:rPr lang="en-US" dirty="0"/>
              <a:t>() {</a:t>
            </a:r>
          </a:p>
          <a:p>
            <a:pPr marL="0" indent="0">
              <a:buNone/>
            </a:pPr>
            <a:r>
              <a:rPr lang="en-US" dirty="0"/>
              <a:t>	return title + " by " + author + ", published in " + year;</a:t>
            </a:r>
          </a:p>
          <a:p>
            <a:pPr marL="0" indent="0">
              <a:buNone/>
            </a:pPr>
            <a:r>
              <a:rPr lang="en-US" dirty="0"/>
              <a:t>	}</a:t>
            </a:r>
          </a:p>
          <a:p>
            <a:pPr marL="0" indent="0">
              <a:buNone/>
            </a:pPr>
            <a:r>
              <a:rPr lang="en-US" dirty="0"/>
              <a:t>}</a:t>
            </a:r>
          </a:p>
          <a:p>
            <a:endParaRPr lang="en-US" dirty="0"/>
          </a:p>
          <a:p>
            <a:r>
              <a:rPr lang="en-US" dirty="0"/>
              <a:t>// Usage</a:t>
            </a:r>
          </a:p>
          <a:p>
            <a:r>
              <a:rPr lang="en-US" dirty="0"/>
              <a:t>Book </a:t>
            </a:r>
            <a:r>
              <a:rPr lang="en-US" dirty="0" err="1"/>
              <a:t>book</a:t>
            </a:r>
            <a:r>
              <a:rPr lang="en-US" dirty="0"/>
              <a:t> = new Book("1984", "George Orwell", 1949);</a:t>
            </a:r>
          </a:p>
          <a:p>
            <a:r>
              <a:rPr lang="en-US" dirty="0" err="1"/>
              <a:t>System.out.println</a:t>
            </a:r>
            <a:r>
              <a:rPr lang="en-US" dirty="0"/>
              <a:t>(</a:t>
            </a:r>
            <a:r>
              <a:rPr lang="en-US" dirty="0" err="1"/>
              <a:t>book.getFormattedDetails</a:t>
            </a:r>
            <a:r>
              <a:rPr lang="en-US" dirty="0"/>
              <a:t>());  // Output: 1984 by George Orwell, published in 1949</a:t>
            </a:r>
          </a:p>
          <a:p>
            <a:endParaRPr lang="en-US" dirty="0"/>
          </a:p>
        </p:txBody>
      </p:sp>
    </p:spTree>
    <p:extLst>
      <p:ext uri="{BB962C8B-B14F-4D97-AF65-F5344CB8AC3E}">
        <p14:creationId xmlns:p14="http://schemas.microsoft.com/office/powerpoint/2010/main" val="22086590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2BA9C6-D3D9-473F-8CB0-B420EBC15B9E}"/>
              </a:ext>
            </a:extLst>
          </p:cNvPr>
          <p:cNvSpPr>
            <a:spLocks noGrp="1"/>
          </p:cNvSpPr>
          <p:nvPr>
            <p:ph type="title"/>
          </p:nvPr>
        </p:nvSpPr>
        <p:spPr/>
        <p:txBody>
          <a:bodyPr/>
          <a:lstStyle/>
          <a:p>
            <a:r>
              <a:rPr lang="en-US" dirty="0"/>
              <a:t>Use Cases:</a:t>
            </a:r>
          </a:p>
        </p:txBody>
      </p:sp>
      <p:sp>
        <p:nvSpPr>
          <p:cNvPr id="3" name="Content Placeholder 2">
            <a:extLst>
              <a:ext uri="{FF2B5EF4-FFF2-40B4-BE49-F238E27FC236}">
                <a16:creationId xmlns:a16="http://schemas.microsoft.com/office/drawing/2014/main" id="{2F4C41B9-C803-410E-A215-DA3B2EB753E3}"/>
              </a:ext>
            </a:extLst>
          </p:cNvPr>
          <p:cNvSpPr>
            <a:spLocks noGrp="1"/>
          </p:cNvSpPr>
          <p:nvPr>
            <p:ph idx="1"/>
          </p:nvPr>
        </p:nvSpPr>
        <p:spPr/>
        <p:txBody>
          <a:bodyPr/>
          <a:lstStyle/>
          <a:p>
            <a:r>
              <a:rPr lang="en-US" dirty="0"/>
              <a:t>Records are a powerful feature for data modeling in Java, especially when you need </a:t>
            </a:r>
            <a:r>
              <a:rPr lang="en-US" b="1" dirty="0"/>
              <a:t>immutable</a:t>
            </a:r>
            <a:r>
              <a:rPr lang="en-US" dirty="0"/>
              <a:t> data carriers that </a:t>
            </a:r>
            <a:r>
              <a:rPr lang="en-US" b="1" dirty="0"/>
              <a:t>automatically</a:t>
            </a:r>
            <a:r>
              <a:rPr lang="en-US" dirty="0"/>
              <a:t> handle common methods like equals(), </a:t>
            </a:r>
            <a:r>
              <a:rPr lang="en-US" dirty="0" err="1"/>
              <a:t>hashCode</a:t>
            </a:r>
            <a:r>
              <a:rPr lang="en-US" dirty="0"/>
              <a:t>(), and </a:t>
            </a:r>
            <a:r>
              <a:rPr lang="en-US" dirty="0" err="1"/>
              <a:t>toString</a:t>
            </a:r>
            <a:r>
              <a:rPr lang="en-US" dirty="0"/>
              <a:t>(). They reduce verbosity and increase clarity, making code easier to write, read, and maintain. This makes them ideal for use in modern Java applications where a lot of data-passing and value objects are needed.</a:t>
            </a:r>
          </a:p>
        </p:txBody>
      </p:sp>
    </p:spTree>
    <p:extLst>
      <p:ext uri="{BB962C8B-B14F-4D97-AF65-F5344CB8AC3E}">
        <p14:creationId xmlns:p14="http://schemas.microsoft.com/office/powerpoint/2010/main" val="13283185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298C79-AEF9-411E-B721-840569F04BA0}"/>
              </a:ext>
            </a:extLst>
          </p:cNvPr>
          <p:cNvSpPr>
            <a:spLocks noGrp="1"/>
          </p:cNvSpPr>
          <p:nvPr>
            <p:ph type="title"/>
          </p:nvPr>
        </p:nvSpPr>
        <p:spPr>
          <a:xfrm>
            <a:off x="838200" y="365125"/>
            <a:ext cx="10515600" cy="4219938"/>
          </a:xfrm>
        </p:spPr>
        <p:txBody>
          <a:bodyPr/>
          <a:lstStyle/>
          <a:p>
            <a:r>
              <a:rPr lang="en-US" dirty="0"/>
              <a:t>Compare and Contrast JavaBeans and Records</a:t>
            </a:r>
          </a:p>
        </p:txBody>
      </p:sp>
      <p:sp>
        <p:nvSpPr>
          <p:cNvPr id="3" name="Content Placeholder 2">
            <a:extLst>
              <a:ext uri="{FF2B5EF4-FFF2-40B4-BE49-F238E27FC236}">
                <a16:creationId xmlns:a16="http://schemas.microsoft.com/office/drawing/2014/main" id="{94BAE135-87D2-4BD1-A5E0-6FF7BD412E18}"/>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7971612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2A6AED-25FB-4101-9759-BD44684E6E8B}"/>
              </a:ext>
            </a:extLst>
          </p:cNvPr>
          <p:cNvSpPr>
            <a:spLocks noGrp="1"/>
          </p:cNvSpPr>
          <p:nvPr>
            <p:ph type="title"/>
          </p:nvPr>
        </p:nvSpPr>
        <p:spPr/>
        <p:txBody>
          <a:bodyPr/>
          <a:lstStyle/>
          <a:p>
            <a:r>
              <a:rPr lang="en-US" dirty="0"/>
              <a:t>JavaBeans</a:t>
            </a:r>
          </a:p>
        </p:txBody>
      </p:sp>
      <p:sp>
        <p:nvSpPr>
          <p:cNvPr id="3" name="Content Placeholder 2">
            <a:extLst>
              <a:ext uri="{FF2B5EF4-FFF2-40B4-BE49-F238E27FC236}">
                <a16:creationId xmlns:a16="http://schemas.microsoft.com/office/drawing/2014/main" id="{D87C4F5E-BFC0-4760-9184-562C66FBBC46}"/>
              </a:ext>
            </a:extLst>
          </p:cNvPr>
          <p:cNvSpPr>
            <a:spLocks noGrp="1"/>
          </p:cNvSpPr>
          <p:nvPr>
            <p:ph idx="1"/>
          </p:nvPr>
        </p:nvSpPr>
        <p:spPr/>
        <p:txBody>
          <a:bodyPr/>
          <a:lstStyle/>
          <a:p>
            <a:r>
              <a:rPr lang="en-US" dirty="0"/>
              <a:t>Designed for mutable objects.</a:t>
            </a:r>
          </a:p>
          <a:p>
            <a:r>
              <a:rPr lang="en-US" dirty="0"/>
              <a:t>Follows the JavaBeans convention with getter and setter methods, making it suitable for scenarios where encapsulation and property manipulation are required.</a:t>
            </a:r>
          </a:p>
          <a:p>
            <a:r>
              <a:rPr lang="en-US" dirty="0"/>
              <a:t>Often used in scenarios where objects need to be manipulated after creation, such as user interface components and other enterprise applications where properties might change over time.</a:t>
            </a:r>
          </a:p>
        </p:txBody>
      </p:sp>
    </p:spTree>
    <p:extLst>
      <p:ext uri="{BB962C8B-B14F-4D97-AF65-F5344CB8AC3E}">
        <p14:creationId xmlns:p14="http://schemas.microsoft.com/office/powerpoint/2010/main" val="4530190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8F864-D98C-4340-B40A-006B027BD231}"/>
              </a:ext>
            </a:extLst>
          </p:cNvPr>
          <p:cNvSpPr>
            <a:spLocks noGrp="1"/>
          </p:cNvSpPr>
          <p:nvPr>
            <p:ph type="title"/>
          </p:nvPr>
        </p:nvSpPr>
        <p:spPr/>
        <p:txBody>
          <a:bodyPr/>
          <a:lstStyle/>
          <a:p>
            <a:r>
              <a:rPr lang="en-US" dirty="0"/>
              <a:t>JavaBean Use Cases:</a:t>
            </a:r>
          </a:p>
        </p:txBody>
      </p:sp>
      <p:sp>
        <p:nvSpPr>
          <p:cNvPr id="3" name="Content Placeholder 2">
            <a:extLst>
              <a:ext uri="{FF2B5EF4-FFF2-40B4-BE49-F238E27FC236}">
                <a16:creationId xmlns:a16="http://schemas.microsoft.com/office/drawing/2014/main" id="{1BB30DFE-2F35-41A0-8CCE-4BEA4A834F2B}"/>
              </a:ext>
            </a:extLst>
          </p:cNvPr>
          <p:cNvSpPr>
            <a:spLocks noGrp="1"/>
          </p:cNvSpPr>
          <p:nvPr>
            <p:ph idx="1"/>
          </p:nvPr>
        </p:nvSpPr>
        <p:spPr/>
        <p:txBody>
          <a:bodyPr/>
          <a:lstStyle/>
          <a:p>
            <a:r>
              <a:rPr lang="en-US" sz="3200" dirty="0"/>
              <a:t>Ideal for traditional enterprise applications, especially where bean management frameworks like Spring or JavaBeans are used.</a:t>
            </a:r>
          </a:p>
          <a:p>
            <a:r>
              <a:rPr lang="en-US" sz="3200" dirty="0"/>
              <a:t>Useful in environments where objects need to be mutable and possibly bound to UI elements or manipulated in JSP/JSF pages.</a:t>
            </a:r>
          </a:p>
          <a:p>
            <a:endParaRPr lang="en-US" dirty="0"/>
          </a:p>
        </p:txBody>
      </p:sp>
    </p:spTree>
    <p:extLst>
      <p:ext uri="{BB962C8B-B14F-4D97-AF65-F5344CB8AC3E}">
        <p14:creationId xmlns:p14="http://schemas.microsoft.com/office/powerpoint/2010/main" val="214461814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5747F2-9984-4906-B86A-97382F8217EE}"/>
              </a:ext>
            </a:extLst>
          </p:cNvPr>
          <p:cNvSpPr>
            <a:spLocks noGrp="1"/>
          </p:cNvSpPr>
          <p:nvPr>
            <p:ph type="title"/>
          </p:nvPr>
        </p:nvSpPr>
        <p:spPr/>
        <p:txBody>
          <a:bodyPr/>
          <a:lstStyle/>
          <a:p>
            <a:r>
              <a:rPr lang="en-US" dirty="0"/>
              <a:t>Records</a:t>
            </a:r>
          </a:p>
        </p:txBody>
      </p:sp>
      <p:sp>
        <p:nvSpPr>
          <p:cNvPr id="3" name="Content Placeholder 2">
            <a:extLst>
              <a:ext uri="{FF2B5EF4-FFF2-40B4-BE49-F238E27FC236}">
                <a16:creationId xmlns:a16="http://schemas.microsoft.com/office/drawing/2014/main" id="{3DCC6F5E-8598-48D8-AC24-1EA6A61A9BC1}"/>
              </a:ext>
            </a:extLst>
          </p:cNvPr>
          <p:cNvSpPr>
            <a:spLocks noGrp="1"/>
          </p:cNvSpPr>
          <p:nvPr>
            <p:ph idx="1"/>
          </p:nvPr>
        </p:nvSpPr>
        <p:spPr/>
        <p:txBody>
          <a:bodyPr/>
          <a:lstStyle/>
          <a:p>
            <a:r>
              <a:rPr lang="en-US" dirty="0"/>
              <a:t>Introduced to provide an immutable, concise way to store data.</a:t>
            </a:r>
          </a:p>
          <a:p>
            <a:r>
              <a:rPr lang="en-US" dirty="0"/>
              <a:t>Automatically provides a constructor, getters, equals(), </a:t>
            </a:r>
            <a:r>
              <a:rPr lang="en-US" dirty="0" err="1"/>
              <a:t>hashCode</a:t>
            </a:r>
            <a:r>
              <a:rPr lang="en-US" dirty="0"/>
              <a:t>(), and </a:t>
            </a:r>
            <a:r>
              <a:rPr lang="en-US" dirty="0" err="1"/>
              <a:t>toString</a:t>
            </a:r>
            <a:r>
              <a:rPr lang="en-US" dirty="0"/>
              <a:t>() methods based on the record's components.</a:t>
            </a:r>
          </a:p>
          <a:p>
            <a:r>
              <a:rPr lang="en-US" dirty="0"/>
              <a:t>Best suited for simple data aggregation, where immutability is preferred, such as DTOs (Data Transfer Objects), messages between components, and any situation benefiting from the simplicity of immutable objects.</a:t>
            </a:r>
          </a:p>
        </p:txBody>
      </p:sp>
    </p:spTree>
    <p:extLst>
      <p:ext uri="{BB962C8B-B14F-4D97-AF65-F5344CB8AC3E}">
        <p14:creationId xmlns:p14="http://schemas.microsoft.com/office/powerpoint/2010/main" val="402000530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0FE8C1-3E42-432D-BA5D-67B97415021E}"/>
              </a:ext>
            </a:extLst>
          </p:cNvPr>
          <p:cNvSpPr>
            <a:spLocks noGrp="1"/>
          </p:cNvSpPr>
          <p:nvPr>
            <p:ph type="title"/>
          </p:nvPr>
        </p:nvSpPr>
        <p:spPr/>
        <p:txBody>
          <a:bodyPr/>
          <a:lstStyle/>
          <a:p>
            <a:r>
              <a:rPr lang="en-US" dirty="0"/>
              <a:t>Records Use Cases:</a:t>
            </a:r>
          </a:p>
        </p:txBody>
      </p:sp>
      <p:sp>
        <p:nvSpPr>
          <p:cNvPr id="3" name="Content Placeholder 2">
            <a:extLst>
              <a:ext uri="{FF2B5EF4-FFF2-40B4-BE49-F238E27FC236}">
                <a16:creationId xmlns:a16="http://schemas.microsoft.com/office/drawing/2014/main" id="{3252F7C3-B829-4F4E-B8D0-4B152D018A2B}"/>
              </a:ext>
            </a:extLst>
          </p:cNvPr>
          <p:cNvSpPr>
            <a:spLocks noGrp="1"/>
          </p:cNvSpPr>
          <p:nvPr>
            <p:ph idx="1"/>
          </p:nvPr>
        </p:nvSpPr>
        <p:spPr/>
        <p:txBody>
          <a:bodyPr>
            <a:normAutofit/>
          </a:bodyPr>
          <a:lstStyle/>
          <a:p>
            <a:r>
              <a:rPr lang="en-US" sz="3200" dirty="0"/>
              <a:t>Perfect for data transfer objects in modern applications, especially with microservices where immutable data structures are preferred.</a:t>
            </a:r>
          </a:p>
          <a:p>
            <a:r>
              <a:rPr lang="en-US" sz="3200" dirty="0"/>
              <a:t>Useful in functional programming paradigms within Java, such as stream operations and methods that require immutable objects.</a:t>
            </a:r>
          </a:p>
        </p:txBody>
      </p:sp>
    </p:spTree>
    <p:extLst>
      <p:ext uri="{BB962C8B-B14F-4D97-AF65-F5344CB8AC3E}">
        <p14:creationId xmlns:p14="http://schemas.microsoft.com/office/powerpoint/2010/main" val="16519151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3253D0-1C7A-4CFD-95ED-FF512A477EE1}"/>
              </a:ext>
            </a:extLst>
          </p:cNvPr>
          <p:cNvSpPr>
            <a:spLocks noGrp="1"/>
          </p:cNvSpPr>
          <p:nvPr>
            <p:ph type="title"/>
          </p:nvPr>
        </p:nvSpPr>
        <p:spPr/>
        <p:txBody>
          <a:bodyPr/>
          <a:lstStyle/>
          <a:p>
            <a:r>
              <a:rPr lang="en-US" dirty="0"/>
              <a:t>Data Transfer Objects:</a:t>
            </a:r>
          </a:p>
        </p:txBody>
      </p:sp>
      <p:sp>
        <p:nvSpPr>
          <p:cNvPr id="3" name="Content Placeholder 2">
            <a:extLst>
              <a:ext uri="{FF2B5EF4-FFF2-40B4-BE49-F238E27FC236}">
                <a16:creationId xmlns:a16="http://schemas.microsoft.com/office/drawing/2014/main" id="{7A054D32-D71A-44E4-A0F6-EE3AF69B0F59}"/>
              </a:ext>
            </a:extLst>
          </p:cNvPr>
          <p:cNvSpPr>
            <a:spLocks noGrp="1"/>
          </p:cNvSpPr>
          <p:nvPr>
            <p:ph idx="1"/>
          </p:nvPr>
        </p:nvSpPr>
        <p:spPr/>
        <p:txBody>
          <a:bodyPr>
            <a:noAutofit/>
          </a:bodyPr>
          <a:lstStyle/>
          <a:p>
            <a:r>
              <a:rPr lang="en-US" sz="3200" dirty="0"/>
              <a:t>A Data Transfer Object (DTO) is a design pattern used extensively in software development, particularly in enterprise applications, to transfer data between software application </a:t>
            </a:r>
            <a:r>
              <a:rPr lang="en-US" sz="3200" b="1" dirty="0"/>
              <a:t>subsystems or layers</a:t>
            </a:r>
            <a:r>
              <a:rPr lang="en-US" sz="3200" dirty="0"/>
              <a:t>. DTOs are simple, plain Java objects (POJOs) that do not contain any business logic but hold data that needs to be transferred. The primary purpose of using DTOs is to batch multiple data elements into a single object in order to reduce the number of method calls, which is especially beneficial in remote interfaces to improve the efficiency of the communication process.</a:t>
            </a:r>
          </a:p>
        </p:txBody>
      </p:sp>
    </p:spTree>
    <p:extLst>
      <p:ext uri="{BB962C8B-B14F-4D97-AF65-F5344CB8AC3E}">
        <p14:creationId xmlns:p14="http://schemas.microsoft.com/office/powerpoint/2010/main" val="206647925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58D4CF-5368-454C-BC0D-C8E5DB704E24}"/>
              </a:ext>
            </a:extLst>
          </p:cNvPr>
          <p:cNvSpPr>
            <a:spLocks noGrp="1"/>
          </p:cNvSpPr>
          <p:nvPr>
            <p:ph type="title"/>
          </p:nvPr>
        </p:nvSpPr>
        <p:spPr/>
        <p:txBody>
          <a:bodyPr/>
          <a:lstStyle/>
          <a:p>
            <a:r>
              <a:rPr lang="en-US" b="1" dirty="0"/>
              <a:t>Characteristics of DTOs:</a:t>
            </a:r>
          </a:p>
        </p:txBody>
      </p:sp>
      <p:sp>
        <p:nvSpPr>
          <p:cNvPr id="3" name="Content Placeholder 2">
            <a:extLst>
              <a:ext uri="{FF2B5EF4-FFF2-40B4-BE49-F238E27FC236}">
                <a16:creationId xmlns:a16="http://schemas.microsoft.com/office/drawing/2014/main" id="{21EBAFC1-3FFC-4C8C-8AA4-0D812FEA6C20}"/>
              </a:ext>
            </a:extLst>
          </p:cNvPr>
          <p:cNvSpPr>
            <a:spLocks noGrp="1"/>
          </p:cNvSpPr>
          <p:nvPr>
            <p:ph idx="1"/>
          </p:nvPr>
        </p:nvSpPr>
        <p:spPr/>
        <p:txBody>
          <a:bodyPr/>
          <a:lstStyle/>
          <a:p>
            <a:r>
              <a:rPr lang="en-US" b="1" dirty="0"/>
              <a:t>Simplicity:</a:t>
            </a:r>
            <a:r>
              <a:rPr lang="en-US" dirty="0"/>
              <a:t> DTOs typically have fields with getters and setters but no business logic or behavior.</a:t>
            </a:r>
          </a:p>
          <a:p>
            <a:r>
              <a:rPr lang="en-US" b="1" dirty="0"/>
              <a:t>Serializable:</a:t>
            </a:r>
            <a:r>
              <a:rPr lang="en-US" dirty="0"/>
              <a:t> DTOs should be serializable to allow easy transmission over networks, especially important in distributed systems.</a:t>
            </a:r>
          </a:p>
          <a:p>
            <a:r>
              <a:rPr lang="en-US" b="1" dirty="0"/>
              <a:t>Encapsulation:</a:t>
            </a:r>
            <a:r>
              <a:rPr lang="en-US" dirty="0"/>
              <a:t> They encapsulate data for transfer, limiting the exposure of internal details.</a:t>
            </a:r>
          </a:p>
          <a:p>
            <a:r>
              <a:rPr lang="en-US" b="1" dirty="0"/>
              <a:t>Modular:</a:t>
            </a:r>
            <a:r>
              <a:rPr lang="en-US" dirty="0"/>
              <a:t> DTOs promote loose coupling between different parts of the application by serving as data containers between them.</a:t>
            </a:r>
          </a:p>
        </p:txBody>
      </p:sp>
    </p:spTree>
    <p:extLst>
      <p:ext uri="{BB962C8B-B14F-4D97-AF65-F5344CB8AC3E}">
        <p14:creationId xmlns:p14="http://schemas.microsoft.com/office/powerpoint/2010/main" val="289385730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C396B5-E6F1-4137-A0AC-B73F741858C4}"/>
              </a:ext>
            </a:extLst>
          </p:cNvPr>
          <p:cNvSpPr>
            <a:spLocks noGrp="1"/>
          </p:cNvSpPr>
          <p:nvPr>
            <p:ph type="ctrTitle"/>
          </p:nvPr>
        </p:nvSpPr>
        <p:spPr/>
        <p:txBody>
          <a:bodyPr/>
          <a:lstStyle/>
          <a:p>
            <a:r>
              <a:rPr lang="en-US" b="1" dirty="0"/>
              <a:t>Use Cases of DTOs:</a:t>
            </a:r>
            <a:br>
              <a:rPr lang="en-US" b="1" dirty="0"/>
            </a:br>
            <a:endParaRPr lang="en-US" dirty="0"/>
          </a:p>
        </p:txBody>
      </p:sp>
      <p:sp>
        <p:nvSpPr>
          <p:cNvPr id="3" name="Subtitle 2">
            <a:extLst>
              <a:ext uri="{FF2B5EF4-FFF2-40B4-BE49-F238E27FC236}">
                <a16:creationId xmlns:a16="http://schemas.microsoft.com/office/drawing/2014/main" id="{BA4941D7-10DB-4218-90B1-688BE76B9C4C}"/>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262865809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80CB83-23D2-4B62-8F32-085430CC0DD2}"/>
              </a:ext>
            </a:extLst>
          </p:cNvPr>
          <p:cNvSpPr>
            <a:spLocks noGrp="1"/>
          </p:cNvSpPr>
          <p:nvPr>
            <p:ph type="title"/>
          </p:nvPr>
        </p:nvSpPr>
        <p:spPr/>
        <p:txBody>
          <a:bodyPr/>
          <a:lstStyle/>
          <a:p>
            <a:r>
              <a:rPr lang="en-US" dirty="0"/>
              <a:t>Remote Interface Communication</a:t>
            </a:r>
          </a:p>
        </p:txBody>
      </p:sp>
      <p:sp>
        <p:nvSpPr>
          <p:cNvPr id="3" name="Content Placeholder 2">
            <a:extLst>
              <a:ext uri="{FF2B5EF4-FFF2-40B4-BE49-F238E27FC236}">
                <a16:creationId xmlns:a16="http://schemas.microsoft.com/office/drawing/2014/main" id="{7ECE7E92-A98F-4B00-88F5-14883ECF0BBE}"/>
              </a:ext>
            </a:extLst>
          </p:cNvPr>
          <p:cNvSpPr>
            <a:spLocks noGrp="1"/>
          </p:cNvSpPr>
          <p:nvPr>
            <p:ph idx="1"/>
          </p:nvPr>
        </p:nvSpPr>
        <p:spPr/>
        <p:txBody>
          <a:bodyPr/>
          <a:lstStyle/>
          <a:p>
            <a:r>
              <a:rPr lang="en-US" dirty="0"/>
              <a:t>In distributed systems or microservices architecture, DTOs are used to encapsulate parameters for method calls. This reduces the number of remote calls required by combining multiple data elements into one serialized object, thereby reducing network traffic and improving performance.</a:t>
            </a:r>
          </a:p>
        </p:txBody>
      </p:sp>
    </p:spTree>
    <p:extLst>
      <p:ext uri="{BB962C8B-B14F-4D97-AF65-F5344CB8AC3E}">
        <p14:creationId xmlns:p14="http://schemas.microsoft.com/office/powerpoint/2010/main" val="39969943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57E544-14E0-48B5-8C74-E07DA870CAC1}"/>
              </a:ext>
            </a:extLst>
          </p:cNvPr>
          <p:cNvSpPr>
            <a:spLocks noGrp="1"/>
          </p:cNvSpPr>
          <p:nvPr>
            <p:ph type="title"/>
          </p:nvPr>
        </p:nvSpPr>
        <p:spPr/>
        <p:txBody>
          <a:bodyPr/>
          <a:lstStyle/>
          <a:p>
            <a:r>
              <a:rPr lang="en-US" b="1" dirty="0"/>
              <a:t>Layered Architecture</a:t>
            </a:r>
            <a:r>
              <a:rPr lang="en-US" dirty="0"/>
              <a:t>:</a:t>
            </a:r>
          </a:p>
        </p:txBody>
      </p:sp>
      <p:sp>
        <p:nvSpPr>
          <p:cNvPr id="3" name="Content Placeholder 2">
            <a:extLst>
              <a:ext uri="{FF2B5EF4-FFF2-40B4-BE49-F238E27FC236}">
                <a16:creationId xmlns:a16="http://schemas.microsoft.com/office/drawing/2014/main" id="{BEA871E2-AF77-4AF2-9187-ECB9C37C1E34}"/>
              </a:ext>
            </a:extLst>
          </p:cNvPr>
          <p:cNvSpPr>
            <a:spLocks noGrp="1"/>
          </p:cNvSpPr>
          <p:nvPr>
            <p:ph idx="1"/>
          </p:nvPr>
        </p:nvSpPr>
        <p:spPr/>
        <p:txBody>
          <a:bodyPr/>
          <a:lstStyle/>
          <a:p>
            <a:r>
              <a:rPr lang="en-US" dirty="0"/>
              <a:t> In a typical multi-layered architecture, such as Model-View-Controller (MVC), DTOs serve as a means to transfer data between these layers. For instance, data from the database can be fetched and stored in a DTO by the data access layer and then passed to the business layer for processing and finally to the presentation layer for display.</a:t>
            </a:r>
          </a:p>
        </p:txBody>
      </p:sp>
    </p:spTree>
    <p:extLst>
      <p:ext uri="{BB962C8B-B14F-4D97-AF65-F5344CB8AC3E}">
        <p14:creationId xmlns:p14="http://schemas.microsoft.com/office/powerpoint/2010/main" val="311253534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590F40-8BBE-480D-87EE-EC61D08971BD}"/>
              </a:ext>
            </a:extLst>
          </p:cNvPr>
          <p:cNvSpPr>
            <a:spLocks noGrp="1"/>
          </p:cNvSpPr>
          <p:nvPr>
            <p:ph type="title"/>
          </p:nvPr>
        </p:nvSpPr>
        <p:spPr/>
        <p:txBody>
          <a:bodyPr/>
          <a:lstStyle/>
          <a:p>
            <a:r>
              <a:rPr lang="en-US" b="1" dirty="0"/>
              <a:t>API Data Transmission</a:t>
            </a:r>
            <a:r>
              <a:rPr lang="en-US" dirty="0"/>
              <a:t>:</a:t>
            </a:r>
          </a:p>
        </p:txBody>
      </p:sp>
      <p:sp>
        <p:nvSpPr>
          <p:cNvPr id="3" name="Content Placeholder 2">
            <a:extLst>
              <a:ext uri="{FF2B5EF4-FFF2-40B4-BE49-F238E27FC236}">
                <a16:creationId xmlns:a16="http://schemas.microsoft.com/office/drawing/2014/main" id="{B6AC6B8B-BF60-4AEE-B012-11B0B18547C7}"/>
              </a:ext>
            </a:extLst>
          </p:cNvPr>
          <p:cNvSpPr>
            <a:spLocks noGrp="1"/>
          </p:cNvSpPr>
          <p:nvPr>
            <p:ph idx="1"/>
          </p:nvPr>
        </p:nvSpPr>
        <p:spPr/>
        <p:txBody>
          <a:bodyPr>
            <a:normAutofit/>
          </a:bodyPr>
          <a:lstStyle/>
          <a:p>
            <a:r>
              <a:rPr lang="en-US" sz="3200" dirty="0"/>
              <a:t>For RESTful APIs, DTOs are used to format the response data according to the API consumer’s needs. This might involve flattening complex data structures, removing unnecessary properties, or restructuring the data to match specific requirements, which can optimize both the bandwidth and the ease of use for the consumer.</a:t>
            </a:r>
          </a:p>
        </p:txBody>
      </p:sp>
    </p:spTree>
    <p:extLst>
      <p:ext uri="{BB962C8B-B14F-4D97-AF65-F5344CB8AC3E}">
        <p14:creationId xmlns:p14="http://schemas.microsoft.com/office/powerpoint/2010/main" val="360474159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4F6546-6AB3-4BCA-A0C0-3772CFC3482C}"/>
              </a:ext>
            </a:extLst>
          </p:cNvPr>
          <p:cNvSpPr>
            <a:spLocks noGrp="1"/>
          </p:cNvSpPr>
          <p:nvPr>
            <p:ph type="title"/>
          </p:nvPr>
        </p:nvSpPr>
        <p:spPr/>
        <p:txBody>
          <a:bodyPr/>
          <a:lstStyle/>
          <a:p>
            <a:r>
              <a:rPr lang="en-US" dirty="0"/>
              <a:t>Security:</a:t>
            </a:r>
          </a:p>
        </p:txBody>
      </p:sp>
      <p:sp>
        <p:nvSpPr>
          <p:cNvPr id="3" name="Content Placeholder 2">
            <a:extLst>
              <a:ext uri="{FF2B5EF4-FFF2-40B4-BE49-F238E27FC236}">
                <a16:creationId xmlns:a16="http://schemas.microsoft.com/office/drawing/2014/main" id="{CFC65334-DD4D-4505-B9ED-628085622B67}"/>
              </a:ext>
            </a:extLst>
          </p:cNvPr>
          <p:cNvSpPr>
            <a:spLocks noGrp="1"/>
          </p:cNvSpPr>
          <p:nvPr>
            <p:ph idx="1"/>
          </p:nvPr>
        </p:nvSpPr>
        <p:spPr/>
        <p:txBody>
          <a:bodyPr/>
          <a:lstStyle/>
          <a:p>
            <a:r>
              <a:rPr lang="en-US" dirty="0"/>
              <a:t>By using DTOs, sensitive details of domain models can be hidden from the client. For instance, in an e-commerce application, while the internal user management system may handle detailed user profiles, a user DTO might only carry non-sensitive data such as user name and email address when communicating with client-facing applications.</a:t>
            </a:r>
          </a:p>
        </p:txBody>
      </p:sp>
    </p:spTree>
    <p:extLst>
      <p:ext uri="{BB962C8B-B14F-4D97-AF65-F5344CB8AC3E}">
        <p14:creationId xmlns:p14="http://schemas.microsoft.com/office/powerpoint/2010/main" val="134379005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38ECBF-23A6-43C7-980F-D534B8D89738}"/>
              </a:ext>
            </a:extLst>
          </p:cNvPr>
          <p:cNvSpPr>
            <a:spLocks noGrp="1"/>
          </p:cNvSpPr>
          <p:nvPr>
            <p:ph type="title"/>
          </p:nvPr>
        </p:nvSpPr>
        <p:spPr/>
        <p:txBody>
          <a:bodyPr/>
          <a:lstStyle/>
          <a:p>
            <a:r>
              <a:rPr lang="en-US" dirty="0"/>
              <a:t>Integration Systems:</a:t>
            </a:r>
          </a:p>
        </p:txBody>
      </p:sp>
      <p:sp>
        <p:nvSpPr>
          <p:cNvPr id="3" name="Content Placeholder 2">
            <a:extLst>
              <a:ext uri="{FF2B5EF4-FFF2-40B4-BE49-F238E27FC236}">
                <a16:creationId xmlns:a16="http://schemas.microsoft.com/office/drawing/2014/main" id="{A380CC66-414D-49F1-92E8-5555F93FED7D}"/>
              </a:ext>
            </a:extLst>
          </p:cNvPr>
          <p:cNvSpPr>
            <a:spLocks noGrp="1"/>
          </p:cNvSpPr>
          <p:nvPr>
            <p:ph idx="1"/>
          </p:nvPr>
        </p:nvSpPr>
        <p:spPr/>
        <p:txBody>
          <a:bodyPr/>
          <a:lstStyle/>
          <a:p>
            <a:pPr marL="0" indent="0">
              <a:buNone/>
            </a:pPr>
            <a:r>
              <a:rPr lang="en-US" dirty="0"/>
              <a:t> In systems integration, especially where different applications need to exchange data, DTOs provide a form of contract that defines the data being exchanged. DTOs can be shared or mutually agreed upon between different systems to ensure consistent data exchange.</a:t>
            </a:r>
          </a:p>
        </p:txBody>
      </p:sp>
    </p:spTree>
    <p:extLst>
      <p:ext uri="{BB962C8B-B14F-4D97-AF65-F5344CB8AC3E}">
        <p14:creationId xmlns:p14="http://schemas.microsoft.com/office/powerpoint/2010/main" val="92801369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7435</TotalTime>
  <Words>2215</Words>
  <Application>Microsoft Office PowerPoint</Application>
  <PresentationFormat>Widescreen</PresentationFormat>
  <Paragraphs>216</Paragraphs>
  <Slides>34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34</vt:i4>
      </vt:variant>
    </vt:vector>
  </HeadingPairs>
  <TitlesOfParts>
    <vt:vector size="40" baseType="lpstr">
      <vt:lpstr>Arial Unicode MS</vt:lpstr>
      <vt:lpstr>Söhne</vt:lpstr>
      <vt:lpstr>Arial</vt:lpstr>
      <vt:lpstr>Calibri</vt:lpstr>
      <vt:lpstr>Calibri Light</vt:lpstr>
      <vt:lpstr>Office Theme</vt:lpstr>
      <vt:lpstr>Observer Design Pattern</vt:lpstr>
      <vt:lpstr>Definition</vt:lpstr>
      <vt:lpstr>Use Cases and Benefit</vt:lpstr>
      <vt:lpstr>Core Components</vt:lpstr>
      <vt:lpstr>An Example: Weather Monitoring System</vt:lpstr>
      <vt:lpstr>Concrete Subject</vt:lpstr>
      <vt:lpstr>Concrete Observer</vt:lpstr>
      <vt:lpstr>Demo</vt:lpstr>
      <vt:lpstr>Traditional Implementation in Java</vt:lpstr>
      <vt:lpstr>Traditional Implementation in Java</vt:lpstr>
      <vt:lpstr>Modern Alternative</vt:lpstr>
      <vt:lpstr>What is a JavaBean?</vt:lpstr>
      <vt:lpstr>JavaBean Conventions</vt:lpstr>
      <vt:lpstr>JavaBean Use Cases:</vt:lpstr>
      <vt:lpstr>Record</vt:lpstr>
      <vt:lpstr>Features:</vt:lpstr>
      <vt:lpstr>Syntax</vt:lpstr>
      <vt:lpstr>Example 1:</vt:lpstr>
      <vt:lpstr>Usage:</vt:lpstr>
      <vt:lpstr>Example 2:</vt:lpstr>
      <vt:lpstr>Use Cases:</vt:lpstr>
      <vt:lpstr>Compare and Contrast JavaBeans and Records</vt:lpstr>
      <vt:lpstr>JavaBeans</vt:lpstr>
      <vt:lpstr>JavaBean Use Cases:</vt:lpstr>
      <vt:lpstr>Records</vt:lpstr>
      <vt:lpstr>Records Use Cases:</vt:lpstr>
      <vt:lpstr>Data Transfer Objects:</vt:lpstr>
      <vt:lpstr>Characteristics of DTOs:</vt:lpstr>
      <vt:lpstr>Use Cases of DTOs: </vt:lpstr>
      <vt:lpstr>Remote Interface Communication</vt:lpstr>
      <vt:lpstr>Layered Architecture:</vt:lpstr>
      <vt:lpstr>API Data Transmission:</vt:lpstr>
      <vt:lpstr>Security:</vt:lpstr>
      <vt:lpstr>Integration Systems: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Observer Design Pattern</dc:title>
  <dc:creator>Ben Chen</dc:creator>
  <cp:lastModifiedBy>Ben Chen</cp:lastModifiedBy>
  <cp:revision>22</cp:revision>
  <dcterms:created xsi:type="dcterms:W3CDTF">2024-04-09T19:12:39Z</dcterms:created>
  <dcterms:modified xsi:type="dcterms:W3CDTF">2024-04-15T16:41:29Z</dcterms:modified>
</cp:coreProperties>
</file>