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77" autoAdjust="0"/>
    <p:restoredTop sz="94660"/>
  </p:normalViewPr>
  <p:slideViewPr>
    <p:cSldViewPr snapToGrid="0">
      <p:cViewPr>
        <p:scale>
          <a:sx n="86" d="100"/>
          <a:sy n="86" d="100"/>
        </p:scale>
        <p:origin x="51" y="48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93A2D-E737-42E3-9D31-89B0A18E7B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A369F39-76D8-4B91-894F-835FEAB04D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12F0BB7-F914-4DF4-821D-940EB9670612}"/>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008BD4B6-BD80-44A8-97EE-6B39CD7BE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DA1F29-702D-4EFC-80BB-F357913EE516}"/>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8847207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52784-2D8D-4D25-A25F-7C73CC9092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3B3014-DE04-431F-907B-0B7291B9D29D}"/>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1E25BC-3652-4E2A-91CE-5B86FA030139}"/>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6DD13196-3061-4A74-A9DD-2F186331CA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544FAF-0D59-4318-B660-375321EB621F}"/>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615358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3B4D8-19BE-4CC9-82B4-1F079B3B9A9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39AADF-9AEE-4716-840C-34457C19BD3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C31DC8E3-691B-4983-A783-0651B1AAAEE4}"/>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B64E75A5-B85E-4DFA-A9AF-7204F8329E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6152A9-8E04-41E5-A3E8-19C72E2C7AC8}"/>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2797323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C6894-B6B1-4CEE-B925-299654A161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2A96A0-C273-49C7-B7F2-BB39F3BE4F3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591D0E-B00A-4F4F-B2AC-80BDAB52DE21}"/>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6142236-E07C-43B9-A2CA-75F3DB673B25}"/>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6" name="Footer Placeholder 5">
            <a:extLst>
              <a:ext uri="{FF2B5EF4-FFF2-40B4-BE49-F238E27FC236}">
                <a16:creationId xmlns:a16="http://schemas.microsoft.com/office/drawing/2014/main" id="{AB02B734-5CA8-4F26-AF0C-FE4A8E00D1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51E1DC-4210-431E-BA9C-4541908C9CBB}"/>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25961507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CBBB1-8A52-4BDF-BCDD-029EB3BF6F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B9965D-8A6F-472D-B2C9-700653B05C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A8AD52D-C0D0-42EF-9C04-DA18F94C30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6F5702E-D294-4716-8EEB-0882D5A0AC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8823FDF5-3D55-4A84-9EBA-E7FA6A3AC15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91CA5F5-09E2-4D38-9833-DB4FDFE1633E}"/>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8" name="Footer Placeholder 7">
            <a:extLst>
              <a:ext uri="{FF2B5EF4-FFF2-40B4-BE49-F238E27FC236}">
                <a16:creationId xmlns:a16="http://schemas.microsoft.com/office/drawing/2014/main" id="{0654AD42-5320-4B9F-98A2-59611DCDD68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2B920-3C6C-4F22-99C2-FF21E5FD6DCB}"/>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14892155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8CEE8-79C1-439F-862A-B724F72E2D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4E8500F-F707-426D-82D4-BC8D6D10796A}"/>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4" name="Footer Placeholder 3">
            <a:extLst>
              <a:ext uri="{FF2B5EF4-FFF2-40B4-BE49-F238E27FC236}">
                <a16:creationId xmlns:a16="http://schemas.microsoft.com/office/drawing/2014/main" id="{432D3B5B-1948-4BBA-88F7-8651D3D37CC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10F68A-BA77-4D8C-9C51-BA92AD74979E}"/>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13753895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75616F-B080-41FC-AFE9-41D97CA594CD}"/>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3" name="Footer Placeholder 2">
            <a:extLst>
              <a:ext uri="{FF2B5EF4-FFF2-40B4-BE49-F238E27FC236}">
                <a16:creationId xmlns:a16="http://schemas.microsoft.com/office/drawing/2014/main" id="{2C2F9F64-AFBD-4B49-9E7C-F5B4FB4BE32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70260D7-525A-4423-9A50-F9DBEC5EEC5E}"/>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3876128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DD1D0-C447-4306-8D42-A23AA6BA20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4170DAC-710B-4134-A818-62D283AEDF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0840CE-7A41-48BE-AD87-E9C424E69E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22995B2-8FF2-4D09-A82D-EBA140719045}"/>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6" name="Footer Placeholder 5">
            <a:extLst>
              <a:ext uri="{FF2B5EF4-FFF2-40B4-BE49-F238E27FC236}">
                <a16:creationId xmlns:a16="http://schemas.microsoft.com/office/drawing/2014/main" id="{3945DEC6-9979-4BAF-8D92-88A0F91BDC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9AB8AE-1DFA-4330-9370-6B12740495CA}"/>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2601547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D5020-09E6-49D1-9A29-80D783376B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AED343-DF0D-442E-BC66-BE9DBB16C1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8F9E35B-8E93-4B04-B731-1055D0301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8BBF775-3824-44AF-A167-44D90A567966}"/>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6" name="Footer Placeholder 5">
            <a:extLst>
              <a:ext uri="{FF2B5EF4-FFF2-40B4-BE49-F238E27FC236}">
                <a16:creationId xmlns:a16="http://schemas.microsoft.com/office/drawing/2014/main" id="{4D7C5301-86EC-480B-9F17-1BE70CCEAA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D0D34A-A369-4F14-9E2B-1CE0F947E6FE}"/>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10853225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7DBE-E12E-4C4B-9AC1-989297FC27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A79288-D4BF-4ACD-BC6F-EB6D9FD290D7}"/>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5C73D4-A5DF-45B3-8AAA-1A364D90917D}"/>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3162F2A9-58DB-415F-8402-DF668CFC14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138AA5-BB99-4E42-A15E-6CFE1A214922}"/>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2816805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5BD269-D28F-4626-980B-A202F96F372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A16330-3FB9-4DC6-B05F-6EFDCC8EE1F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BB2C28-B272-421A-812C-CA4C3AC15070}"/>
              </a:ext>
            </a:extLst>
          </p:cNvPr>
          <p:cNvSpPr>
            <a:spLocks noGrp="1"/>
          </p:cNvSpPr>
          <p:nvPr>
            <p:ph type="dt" sz="half" idx="10"/>
          </p:nvPr>
        </p:nvSpPr>
        <p:spPr/>
        <p:txBody>
          <a:body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38DEED33-165C-4FCF-B715-4096DBE876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D9A68-04CF-420E-9D74-622F874773D7}"/>
              </a:ext>
            </a:extLst>
          </p:cNvPr>
          <p:cNvSpPr>
            <a:spLocks noGrp="1"/>
          </p:cNvSpPr>
          <p:nvPr>
            <p:ph type="sldNum" sz="quarter" idx="12"/>
          </p:nvPr>
        </p:nvSpPr>
        <p:spPr/>
        <p:txBody>
          <a:bodyPr/>
          <a:lstStyle/>
          <a:p>
            <a:fld id="{3456EA41-5777-4FCD-ACA5-40E7F0D004D5}" type="slidenum">
              <a:rPr lang="en-US" smtClean="0"/>
              <a:t>‹#›</a:t>
            </a:fld>
            <a:endParaRPr lang="en-US"/>
          </a:p>
        </p:txBody>
      </p:sp>
    </p:spTree>
    <p:extLst>
      <p:ext uri="{BB962C8B-B14F-4D97-AF65-F5344CB8AC3E}">
        <p14:creationId xmlns:p14="http://schemas.microsoft.com/office/powerpoint/2010/main" val="902091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F7B69E-5A70-476C-AAF7-65A03CE9B6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BEA5E3-55B0-42F2-BE55-09976B72D74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C8606C-744B-43A4-87E6-28A748FBFF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D5ACDB7-EA24-4FCE-B940-18BC38E9B63F}" type="datetimeFigureOut">
              <a:rPr lang="en-US" smtClean="0"/>
              <a:t>4/17/2024</a:t>
            </a:fld>
            <a:endParaRPr lang="en-US"/>
          </a:p>
        </p:txBody>
      </p:sp>
      <p:sp>
        <p:nvSpPr>
          <p:cNvPr id="5" name="Footer Placeholder 4">
            <a:extLst>
              <a:ext uri="{FF2B5EF4-FFF2-40B4-BE49-F238E27FC236}">
                <a16:creationId xmlns:a16="http://schemas.microsoft.com/office/drawing/2014/main" id="{4B6C351F-F5A2-4668-94C3-0E6A3F8B98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F24FA7-161D-444F-8D33-6D900838A3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56EA41-5777-4FCD-ACA5-40E7F0D004D5}" type="slidenum">
              <a:rPr lang="en-US" smtClean="0"/>
              <a:t>‹#›</a:t>
            </a:fld>
            <a:endParaRPr lang="en-US"/>
          </a:p>
        </p:txBody>
      </p:sp>
    </p:spTree>
    <p:extLst>
      <p:ext uri="{BB962C8B-B14F-4D97-AF65-F5344CB8AC3E}">
        <p14:creationId xmlns:p14="http://schemas.microsoft.com/office/powerpoint/2010/main" val="25306424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EE71D-E28D-4F0C-A916-2FC49D36BBFC}"/>
              </a:ext>
            </a:extLst>
          </p:cNvPr>
          <p:cNvSpPr>
            <a:spLocks noGrp="1"/>
          </p:cNvSpPr>
          <p:nvPr>
            <p:ph type="ctrTitle"/>
          </p:nvPr>
        </p:nvSpPr>
        <p:spPr>
          <a:xfrm>
            <a:off x="1524000" y="-296533"/>
            <a:ext cx="9144000" cy="2387600"/>
          </a:xfrm>
        </p:spPr>
        <p:txBody>
          <a:bodyPr/>
          <a:lstStyle/>
          <a:p>
            <a:r>
              <a:rPr lang="en-US" dirty="0"/>
              <a:t>The Decorator Pattern</a:t>
            </a:r>
          </a:p>
        </p:txBody>
      </p:sp>
      <p:sp>
        <p:nvSpPr>
          <p:cNvPr id="3" name="Subtitle 2">
            <a:extLst>
              <a:ext uri="{FF2B5EF4-FFF2-40B4-BE49-F238E27FC236}">
                <a16:creationId xmlns:a16="http://schemas.microsoft.com/office/drawing/2014/main" id="{D646B991-532F-4C81-A4D7-571D8834EEDA}"/>
              </a:ext>
            </a:extLst>
          </p:cNvPr>
          <p:cNvSpPr>
            <a:spLocks noGrp="1"/>
          </p:cNvSpPr>
          <p:nvPr>
            <p:ph type="subTitle" idx="1"/>
          </p:nvPr>
        </p:nvSpPr>
        <p:spPr>
          <a:xfrm>
            <a:off x="1524000" y="2091067"/>
            <a:ext cx="9144000" cy="3166733"/>
          </a:xfrm>
        </p:spPr>
        <p:txBody>
          <a:bodyPr>
            <a:noAutofit/>
          </a:bodyPr>
          <a:lstStyle/>
          <a:p>
            <a:pPr algn="l"/>
            <a:r>
              <a:rPr lang="en-US" sz="2800" dirty="0"/>
              <a:t>A structural pattern used to allow behavior to be added to individual objects, either statically or dynamically, without affecting the behavior of other objects from the same class. This pattern is particularly useful for adhering to the Single Responsibility Principle (SRP), one of the SOLID principles in object-oriented design, which states that a class should have only one reason to change.</a:t>
            </a:r>
          </a:p>
        </p:txBody>
      </p:sp>
    </p:spTree>
    <p:extLst>
      <p:ext uri="{BB962C8B-B14F-4D97-AF65-F5344CB8AC3E}">
        <p14:creationId xmlns:p14="http://schemas.microsoft.com/office/powerpoint/2010/main" val="514015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F218C-56FA-4B4E-B6EF-1518C3E871F8}"/>
              </a:ext>
            </a:extLst>
          </p:cNvPr>
          <p:cNvSpPr>
            <a:spLocks noGrp="1"/>
          </p:cNvSpPr>
          <p:nvPr>
            <p:ph type="title"/>
          </p:nvPr>
        </p:nvSpPr>
        <p:spPr/>
        <p:txBody>
          <a:bodyPr/>
          <a:lstStyle/>
          <a:p>
            <a:r>
              <a:rPr lang="en-US" dirty="0"/>
              <a:t>Single Responsibility Principle (SRP)</a:t>
            </a:r>
          </a:p>
        </p:txBody>
      </p:sp>
      <p:sp>
        <p:nvSpPr>
          <p:cNvPr id="3" name="Content Placeholder 2">
            <a:extLst>
              <a:ext uri="{FF2B5EF4-FFF2-40B4-BE49-F238E27FC236}">
                <a16:creationId xmlns:a16="http://schemas.microsoft.com/office/drawing/2014/main" id="{01EFDBCE-CA28-4AB4-B554-3E78621F332B}"/>
              </a:ext>
            </a:extLst>
          </p:cNvPr>
          <p:cNvSpPr>
            <a:spLocks noGrp="1"/>
          </p:cNvSpPr>
          <p:nvPr>
            <p:ph idx="1"/>
          </p:nvPr>
        </p:nvSpPr>
        <p:spPr/>
        <p:txBody>
          <a:bodyPr/>
          <a:lstStyle/>
          <a:p>
            <a:r>
              <a:rPr lang="en-US" b="1" dirty="0"/>
              <a:t>Responsibility</a:t>
            </a:r>
            <a:r>
              <a:rPr lang="en-US" dirty="0"/>
              <a:t> in this context is defined as a reason for change. If a class has more than one responsibility, it means it serves more than one purpose or function within the software, and thus it has multiple reasons to be changed. If changes in one area of functionality affect a class, that class has the responsibility of handling that area of functionality.</a:t>
            </a:r>
          </a:p>
          <a:p>
            <a:r>
              <a:rPr lang="en-US" dirty="0"/>
              <a:t>The essence of SRP is about limiting the impact of changes and simplifying the maintenance of the codebase. A class should not be a Swiss Army knife of capabilities; rather, it should be more like a specific tool that performs a well-defined and focused job.</a:t>
            </a:r>
          </a:p>
          <a:p>
            <a:endParaRPr lang="en-US" dirty="0"/>
          </a:p>
        </p:txBody>
      </p:sp>
    </p:spTree>
    <p:extLst>
      <p:ext uri="{BB962C8B-B14F-4D97-AF65-F5344CB8AC3E}">
        <p14:creationId xmlns:p14="http://schemas.microsoft.com/office/powerpoint/2010/main" val="7907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4E1D4-041A-45A8-8C20-CEAF65EE83AE}"/>
              </a:ext>
            </a:extLst>
          </p:cNvPr>
          <p:cNvSpPr>
            <a:spLocks noGrp="1"/>
          </p:cNvSpPr>
          <p:nvPr>
            <p:ph type="title"/>
          </p:nvPr>
        </p:nvSpPr>
        <p:spPr/>
        <p:txBody>
          <a:bodyPr/>
          <a:lstStyle/>
          <a:p>
            <a:r>
              <a:rPr lang="en-US" dirty="0"/>
              <a:t>The Decorator Pattern Concept</a:t>
            </a:r>
          </a:p>
        </p:txBody>
      </p:sp>
      <p:sp>
        <p:nvSpPr>
          <p:cNvPr id="3" name="Content Placeholder 2">
            <a:extLst>
              <a:ext uri="{FF2B5EF4-FFF2-40B4-BE49-F238E27FC236}">
                <a16:creationId xmlns:a16="http://schemas.microsoft.com/office/drawing/2014/main" id="{80346872-F7EE-46D9-9ECC-E9BF6A94E935}"/>
              </a:ext>
            </a:extLst>
          </p:cNvPr>
          <p:cNvSpPr>
            <a:spLocks noGrp="1"/>
          </p:cNvSpPr>
          <p:nvPr>
            <p:ph idx="1"/>
          </p:nvPr>
        </p:nvSpPr>
        <p:spPr/>
        <p:txBody>
          <a:bodyPr/>
          <a:lstStyle/>
          <a:p>
            <a:r>
              <a:rPr lang="en-US" dirty="0"/>
              <a:t>The decorator pattern involves a set of decorator classes that are used to wrap concrete components. A decorator class mirrors the type of the component it decorates so that it can be used in place of the original component without additional code changes outside the decoration. The decorator forwards requests to the component and may perform additional actions before or after forwarding. The true power of decorators comes from the fact that they can be stacked or chained on top of each other, each one adding its functionality before or after delegating to the original component or the next decorator.</a:t>
            </a:r>
          </a:p>
        </p:txBody>
      </p:sp>
    </p:spTree>
    <p:extLst>
      <p:ext uri="{BB962C8B-B14F-4D97-AF65-F5344CB8AC3E}">
        <p14:creationId xmlns:p14="http://schemas.microsoft.com/office/powerpoint/2010/main" val="1711695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6F8CE-05B0-4EC0-AB6E-1240FAA88A49}"/>
              </a:ext>
            </a:extLst>
          </p:cNvPr>
          <p:cNvSpPr>
            <a:spLocks noGrp="1"/>
          </p:cNvSpPr>
          <p:nvPr>
            <p:ph type="title"/>
          </p:nvPr>
        </p:nvSpPr>
        <p:spPr/>
        <p:txBody>
          <a:bodyPr/>
          <a:lstStyle/>
          <a:p>
            <a:r>
              <a:rPr lang="en-US" dirty="0"/>
              <a:t>Structure</a:t>
            </a:r>
          </a:p>
        </p:txBody>
      </p:sp>
      <p:sp>
        <p:nvSpPr>
          <p:cNvPr id="3" name="Content Placeholder 2">
            <a:extLst>
              <a:ext uri="{FF2B5EF4-FFF2-40B4-BE49-F238E27FC236}">
                <a16:creationId xmlns:a16="http://schemas.microsoft.com/office/drawing/2014/main" id="{7B961DAC-F689-49F9-8E1C-87EE216D2478}"/>
              </a:ext>
            </a:extLst>
          </p:cNvPr>
          <p:cNvSpPr>
            <a:spLocks noGrp="1"/>
          </p:cNvSpPr>
          <p:nvPr>
            <p:ph idx="1"/>
          </p:nvPr>
        </p:nvSpPr>
        <p:spPr/>
        <p:txBody>
          <a:bodyPr/>
          <a:lstStyle/>
          <a:p>
            <a:r>
              <a:rPr lang="en-US" b="1" dirty="0"/>
              <a:t>Component</a:t>
            </a:r>
            <a:r>
              <a:rPr lang="en-US" dirty="0"/>
              <a:t>:</a:t>
            </a:r>
          </a:p>
          <a:p>
            <a:pPr lvl="1"/>
            <a:r>
              <a:rPr lang="en-US" dirty="0"/>
              <a:t>Defines the interface for objects that can have responsibilities added to them dynamically.</a:t>
            </a:r>
          </a:p>
          <a:p>
            <a:r>
              <a:rPr lang="en-US" b="1" dirty="0" err="1"/>
              <a:t>ConcreteComponent</a:t>
            </a:r>
            <a:r>
              <a:rPr lang="en-US" dirty="0"/>
              <a:t>:</a:t>
            </a:r>
          </a:p>
          <a:p>
            <a:pPr lvl="1"/>
            <a:r>
              <a:rPr lang="en-US" dirty="0"/>
              <a:t>Defines an object to which additional responsibilities can be attached.</a:t>
            </a:r>
          </a:p>
          <a:p>
            <a:r>
              <a:rPr lang="en-US" b="1" dirty="0"/>
              <a:t>Decorator</a:t>
            </a:r>
            <a:r>
              <a:rPr lang="en-US" dirty="0"/>
              <a:t>:</a:t>
            </a:r>
          </a:p>
          <a:p>
            <a:pPr lvl="1"/>
            <a:r>
              <a:rPr lang="en-US" dirty="0"/>
              <a:t>Maintains a reference to a Component object and defines an interface that conforms to Component's interface.</a:t>
            </a:r>
          </a:p>
          <a:p>
            <a:r>
              <a:rPr lang="en-US" b="1" dirty="0" err="1"/>
              <a:t>ConcreteDecorator</a:t>
            </a:r>
            <a:r>
              <a:rPr lang="en-US" dirty="0"/>
              <a:t>:</a:t>
            </a:r>
          </a:p>
          <a:p>
            <a:pPr lvl="1"/>
            <a:r>
              <a:rPr lang="en-US" dirty="0"/>
              <a:t>Adds responsibilities to the component.</a:t>
            </a:r>
          </a:p>
          <a:p>
            <a:endParaRPr lang="en-US" dirty="0"/>
          </a:p>
        </p:txBody>
      </p:sp>
    </p:spTree>
    <p:extLst>
      <p:ext uri="{BB962C8B-B14F-4D97-AF65-F5344CB8AC3E}">
        <p14:creationId xmlns:p14="http://schemas.microsoft.com/office/powerpoint/2010/main" val="2022416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E6E33-1248-4D6C-87A9-BB15DC40925E}"/>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FE4A27F6-CF37-4425-BA5E-4C25F4153F3D}"/>
              </a:ext>
            </a:extLst>
          </p:cNvPr>
          <p:cNvSpPr>
            <a:spLocks noGrp="1"/>
          </p:cNvSpPr>
          <p:nvPr>
            <p:ph idx="1"/>
          </p:nvPr>
        </p:nvSpPr>
        <p:spPr/>
        <p:txBody>
          <a:bodyPr/>
          <a:lstStyle/>
          <a:p>
            <a:r>
              <a:rPr lang="en-US" dirty="0"/>
              <a:t>The decorator pattern provides a flexible alternative to </a:t>
            </a:r>
            <a:r>
              <a:rPr lang="en-US" dirty="0" err="1"/>
              <a:t>subclassing</a:t>
            </a:r>
            <a:r>
              <a:rPr lang="en-US" dirty="0"/>
              <a:t> for extending functionality. It allows for adding responsibilities to objects dynamically and can provide a combination of behaviors by combining several decorators. Decorators provide a flexible strategy to "wrap" functionality by maintaining the same interface while altering the object's responsibilities. This is particularly useful in scenarios where class behavior must be added or changed dynamically and when </a:t>
            </a:r>
            <a:r>
              <a:rPr lang="en-US" dirty="0" err="1"/>
              <a:t>subclassing</a:t>
            </a:r>
            <a:r>
              <a:rPr lang="en-US" dirty="0"/>
              <a:t> would result in an overwhelming number of subclasses.</a:t>
            </a:r>
          </a:p>
        </p:txBody>
      </p:sp>
    </p:spTree>
    <p:extLst>
      <p:ext uri="{BB962C8B-B14F-4D97-AF65-F5344CB8AC3E}">
        <p14:creationId xmlns:p14="http://schemas.microsoft.com/office/powerpoint/2010/main" val="1400904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D0-7AEB-C39D-3283-4830D75FE924}"/>
              </a:ext>
            </a:extLst>
          </p:cNvPr>
          <p:cNvSpPr>
            <a:spLocks noGrp="1"/>
          </p:cNvSpPr>
          <p:nvPr>
            <p:ph type="title"/>
          </p:nvPr>
        </p:nvSpPr>
        <p:spPr/>
        <p:txBody>
          <a:bodyPr/>
          <a:lstStyle/>
          <a:p>
            <a:r>
              <a:rPr lang="en-US" dirty="0"/>
              <a:t>SOLID Principles</a:t>
            </a:r>
          </a:p>
        </p:txBody>
      </p:sp>
      <p:sp>
        <p:nvSpPr>
          <p:cNvPr id="3" name="Content Placeholder 2">
            <a:extLst>
              <a:ext uri="{FF2B5EF4-FFF2-40B4-BE49-F238E27FC236}">
                <a16:creationId xmlns:a16="http://schemas.microsoft.com/office/drawing/2014/main" id="{72E8C9FD-27A6-C661-9ED2-519F95838F32}"/>
              </a:ext>
            </a:extLst>
          </p:cNvPr>
          <p:cNvSpPr>
            <a:spLocks noGrp="1"/>
          </p:cNvSpPr>
          <p:nvPr>
            <p:ph idx="1"/>
          </p:nvPr>
        </p:nvSpPr>
        <p:spPr/>
        <p:txBody>
          <a:bodyPr>
            <a:normAutofit/>
          </a:bodyPr>
          <a:lstStyle/>
          <a:p>
            <a:r>
              <a:rPr lang="en-US" sz="3200" b="0" i="0" dirty="0">
                <a:effectLst/>
                <a:highlight>
                  <a:srgbClr val="FFFFFF"/>
                </a:highlight>
                <a:latin typeface="Söhne"/>
              </a:rPr>
              <a:t>The SOLID principles are a set of guidelines for object-oriented design and programming that help developers create more maintainable, understandable, and flexible software. The acronym "SOLID" stands for five specific principles, each aimed at reducing dependencies, managing complexity, and facilitating scalability in software systems.</a:t>
            </a:r>
            <a:endParaRPr lang="en-US" sz="3200" dirty="0"/>
          </a:p>
        </p:txBody>
      </p:sp>
    </p:spTree>
    <p:extLst>
      <p:ext uri="{BB962C8B-B14F-4D97-AF65-F5344CB8AC3E}">
        <p14:creationId xmlns:p14="http://schemas.microsoft.com/office/powerpoint/2010/main" val="218853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01867-5F74-9921-C5F2-534DFFE7F29D}"/>
              </a:ext>
            </a:extLst>
          </p:cNvPr>
          <p:cNvSpPr>
            <a:spLocks noGrp="1"/>
          </p:cNvSpPr>
          <p:nvPr>
            <p:ph type="title"/>
          </p:nvPr>
        </p:nvSpPr>
        <p:spPr/>
        <p:txBody>
          <a:bodyPr/>
          <a:lstStyle/>
          <a:p>
            <a:r>
              <a:rPr lang="en-US" dirty="0"/>
              <a:t>Single Responsibility Principle</a:t>
            </a:r>
          </a:p>
        </p:txBody>
      </p:sp>
      <p:sp>
        <p:nvSpPr>
          <p:cNvPr id="3" name="Content Placeholder 2">
            <a:extLst>
              <a:ext uri="{FF2B5EF4-FFF2-40B4-BE49-F238E27FC236}">
                <a16:creationId xmlns:a16="http://schemas.microsoft.com/office/drawing/2014/main" id="{84A4147F-C30E-B1CC-703A-0AE4942696C0}"/>
              </a:ext>
            </a:extLst>
          </p:cNvPr>
          <p:cNvSpPr>
            <a:spLocks noGrp="1"/>
          </p:cNvSpPr>
          <p:nvPr>
            <p:ph idx="1"/>
          </p:nvPr>
        </p:nvSpPr>
        <p:spPr/>
        <p:txBody>
          <a:bodyPr/>
          <a:lstStyle/>
          <a:p>
            <a:pPr algn="l">
              <a:buFont typeface="Arial" panose="020B0604020202020204" pitchFamily="34" charset="0"/>
              <a:buChar char="•"/>
            </a:pPr>
            <a:r>
              <a:rPr lang="en-US" b="1" i="0" dirty="0">
                <a:effectLst/>
                <a:highlight>
                  <a:srgbClr val="FFFFFF"/>
                </a:highlight>
                <a:latin typeface="Söhne"/>
              </a:rPr>
              <a:t>Definition</a:t>
            </a:r>
            <a:r>
              <a:rPr lang="en-US" b="0" i="0" dirty="0">
                <a:effectLst/>
                <a:highlight>
                  <a:srgbClr val="FFFFFF"/>
                </a:highlight>
                <a:latin typeface="Söhne"/>
              </a:rPr>
              <a:t>: A class should have only one reason to change, meaning it should have only one job or responsibility.</a:t>
            </a:r>
          </a:p>
          <a:p>
            <a:pPr algn="l">
              <a:buFont typeface="Arial" panose="020B0604020202020204" pitchFamily="34" charset="0"/>
              <a:buChar char="•"/>
            </a:pPr>
            <a:r>
              <a:rPr lang="en-US" b="1" i="0" dirty="0">
                <a:effectLst/>
                <a:highlight>
                  <a:srgbClr val="FFFFFF"/>
                </a:highlight>
                <a:latin typeface="Söhne"/>
              </a:rPr>
              <a:t>Benefit</a:t>
            </a:r>
            <a:r>
              <a:rPr lang="en-US" b="0" i="0" dirty="0">
                <a:effectLst/>
                <a:highlight>
                  <a:srgbClr val="FFFFFF"/>
                </a:highlight>
                <a:latin typeface="Söhne"/>
              </a:rPr>
              <a:t>: Simplifies the understanding and maintenance of the class because changes in one part of the system will affect fewer components.</a:t>
            </a:r>
          </a:p>
          <a:p>
            <a:endParaRPr lang="en-US" dirty="0"/>
          </a:p>
        </p:txBody>
      </p:sp>
    </p:spTree>
    <p:extLst>
      <p:ext uri="{BB962C8B-B14F-4D97-AF65-F5344CB8AC3E}">
        <p14:creationId xmlns:p14="http://schemas.microsoft.com/office/powerpoint/2010/main" val="14393207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59FBC-FB41-A8E4-0ED9-4295A891FFC3}"/>
              </a:ext>
            </a:extLst>
          </p:cNvPr>
          <p:cNvSpPr>
            <a:spLocks noGrp="1"/>
          </p:cNvSpPr>
          <p:nvPr>
            <p:ph type="title"/>
          </p:nvPr>
        </p:nvSpPr>
        <p:spPr/>
        <p:txBody>
          <a:bodyPr/>
          <a:lstStyle/>
          <a:p>
            <a:r>
              <a:rPr lang="en-US" b="1" i="0" dirty="0">
                <a:effectLst/>
                <a:highlight>
                  <a:srgbClr val="FFFFFF"/>
                </a:highlight>
                <a:latin typeface="Söhne"/>
              </a:rPr>
              <a:t>Open/Closed Principle (OCP)</a:t>
            </a:r>
            <a:r>
              <a:rPr lang="en-US" b="0" i="0" dirty="0">
                <a:solidFill>
                  <a:srgbClr val="9B9B9B"/>
                </a:solidFill>
                <a:effectLst/>
                <a:highlight>
                  <a:srgbClr val="FFFFFF"/>
                </a:highlight>
                <a:latin typeface="Söhne"/>
              </a:rPr>
              <a:t>:</a:t>
            </a:r>
            <a:endParaRPr lang="en-US" dirty="0"/>
          </a:p>
        </p:txBody>
      </p:sp>
      <p:sp>
        <p:nvSpPr>
          <p:cNvPr id="3" name="Content Placeholder 2">
            <a:extLst>
              <a:ext uri="{FF2B5EF4-FFF2-40B4-BE49-F238E27FC236}">
                <a16:creationId xmlns:a16="http://schemas.microsoft.com/office/drawing/2014/main" id="{79762583-55D7-891F-113F-8661ACDECE62}"/>
              </a:ext>
            </a:extLst>
          </p:cNvPr>
          <p:cNvSpPr>
            <a:spLocks noGrp="1"/>
          </p:cNvSpPr>
          <p:nvPr>
            <p:ph idx="1"/>
          </p:nvPr>
        </p:nvSpPr>
        <p:spPr/>
        <p:txBody>
          <a:bodyPr/>
          <a:lstStyle/>
          <a:p>
            <a:pPr algn="l">
              <a:buFont typeface="Arial" panose="020B0604020202020204" pitchFamily="34" charset="0"/>
              <a:buChar char="•"/>
            </a:pPr>
            <a:r>
              <a:rPr lang="en-US" b="1" i="0" dirty="0">
                <a:effectLst/>
                <a:highlight>
                  <a:srgbClr val="FFFFFF"/>
                </a:highlight>
                <a:latin typeface="Söhne"/>
              </a:rPr>
              <a:t>Definition</a:t>
            </a:r>
            <a:r>
              <a:rPr lang="en-US" b="0" i="0" dirty="0">
                <a:effectLst/>
                <a:highlight>
                  <a:srgbClr val="FFFFFF"/>
                </a:highlight>
                <a:latin typeface="Söhne"/>
              </a:rPr>
              <a:t>: Software entities (classes, modules, functions, etc.) should be open for extension, but closed for modification.</a:t>
            </a:r>
          </a:p>
          <a:p>
            <a:pPr algn="l">
              <a:buFont typeface="Arial" panose="020B0604020202020204" pitchFamily="34" charset="0"/>
              <a:buChar char="•"/>
            </a:pPr>
            <a:r>
              <a:rPr lang="en-US" b="1" i="0" dirty="0">
                <a:effectLst/>
                <a:highlight>
                  <a:srgbClr val="FFFFFF"/>
                </a:highlight>
                <a:latin typeface="Söhne"/>
              </a:rPr>
              <a:t>Benefit</a:t>
            </a:r>
            <a:r>
              <a:rPr lang="en-US" b="0" i="0" dirty="0">
                <a:effectLst/>
                <a:highlight>
                  <a:srgbClr val="FFFFFF"/>
                </a:highlight>
                <a:latin typeface="Söhne"/>
              </a:rPr>
              <a:t>: This allows existing code to run safely without modification while new functionality can be added by extending existing behavior, thereby promoting stability and minimizing bugs introduced by changes.</a:t>
            </a:r>
          </a:p>
          <a:p>
            <a:endParaRPr lang="en-US" dirty="0"/>
          </a:p>
        </p:txBody>
      </p:sp>
    </p:spTree>
    <p:extLst>
      <p:ext uri="{BB962C8B-B14F-4D97-AF65-F5344CB8AC3E}">
        <p14:creationId xmlns:p14="http://schemas.microsoft.com/office/powerpoint/2010/main" val="3125700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44890-37B3-8CEC-2FA6-305149E5C3EA}"/>
              </a:ext>
            </a:extLst>
          </p:cNvPr>
          <p:cNvSpPr>
            <a:spLocks noGrp="1"/>
          </p:cNvSpPr>
          <p:nvPr>
            <p:ph type="title"/>
          </p:nvPr>
        </p:nvSpPr>
        <p:spPr/>
        <p:txBody>
          <a:bodyPr/>
          <a:lstStyle/>
          <a:p>
            <a:r>
              <a:rPr lang="en-US" b="1" i="0" dirty="0" err="1">
                <a:effectLst/>
                <a:highlight>
                  <a:srgbClr val="FFFFFF"/>
                </a:highlight>
                <a:latin typeface="Söhne"/>
              </a:rPr>
              <a:t>Liskov</a:t>
            </a:r>
            <a:r>
              <a:rPr lang="en-US" b="1" i="0" dirty="0">
                <a:effectLst/>
                <a:highlight>
                  <a:srgbClr val="FFFFFF"/>
                </a:highlight>
                <a:latin typeface="Söhne"/>
              </a:rPr>
              <a:t> Substitution Principle (LSP)</a:t>
            </a:r>
            <a:r>
              <a:rPr lang="en-US" b="0" i="0" dirty="0">
                <a:solidFill>
                  <a:srgbClr val="9B9B9B"/>
                </a:solidFill>
                <a:effectLst/>
                <a:highlight>
                  <a:srgbClr val="FFFFFF"/>
                </a:highlight>
                <a:latin typeface="Söhne"/>
              </a:rPr>
              <a:t>:</a:t>
            </a:r>
            <a:endParaRPr lang="en-US" dirty="0"/>
          </a:p>
        </p:txBody>
      </p:sp>
      <p:sp>
        <p:nvSpPr>
          <p:cNvPr id="3" name="Content Placeholder 2">
            <a:extLst>
              <a:ext uri="{FF2B5EF4-FFF2-40B4-BE49-F238E27FC236}">
                <a16:creationId xmlns:a16="http://schemas.microsoft.com/office/drawing/2014/main" id="{500C8176-758A-3B50-2C5A-F84CDA53585B}"/>
              </a:ext>
            </a:extLst>
          </p:cNvPr>
          <p:cNvSpPr>
            <a:spLocks noGrp="1"/>
          </p:cNvSpPr>
          <p:nvPr>
            <p:ph idx="1"/>
          </p:nvPr>
        </p:nvSpPr>
        <p:spPr/>
        <p:txBody>
          <a:bodyPr/>
          <a:lstStyle/>
          <a:p>
            <a:pPr algn="l">
              <a:buFont typeface="Arial" panose="020B0604020202020204" pitchFamily="34" charset="0"/>
              <a:buChar char="•"/>
            </a:pPr>
            <a:r>
              <a:rPr lang="en-US" b="1" i="0" dirty="0">
                <a:effectLst/>
                <a:highlight>
                  <a:srgbClr val="FFFFFF"/>
                </a:highlight>
                <a:latin typeface="Söhne"/>
              </a:rPr>
              <a:t>Definition</a:t>
            </a:r>
            <a:r>
              <a:rPr lang="en-US" b="0" i="0" dirty="0">
                <a:effectLst/>
                <a:highlight>
                  <a:srgbClr val="FFFFFF"/>
                </a:highlight>
                <a:latin typeface="Söhne"/>
              </a:rPr>
              <a:t>: Objects in a program should be replaceable with instances of their subtypes without altering the correctness of the program.</a:t>
            </a:r>
          </a:p>
          <a:p>
            <a:pPr algn="l">
              <a:buFont typeface="Arial" panose="020B0604020202020204" pitchFamily="34" charset="0"/>
              <a:buChar char="•"/>
            </a:pPr>
            <a:r>
              <a:rPr lang="en-US" b="1" i="0" dirty="0">
                <a:effectLst/>
                <a:highlight>
                  <a:srgbClr val="FFFFFF"/>
                </a:highlight>
                <a:latin typeface="Söhne"/>
              </a:rPr>
              <a:t>Benefit</a:t>
            </a:r>
            <a:r>
              <a:rPr lang="en-US" b="0" i="0" dirty="0">
                <a:effectLst/>
                <a:highlight>
                  <a:srgbClr val="FFFFFF"/>
                </a:highlight>
                <a:latin typeface="Söhne"/>
              </a:rPr>
              <a:t>: Enhances the modularity and interoperability of the code, allowing it to be more robust and reusable.</a:t>
            </a:r>
          </a:p>
          <a:p>
            <a:endParaRPr lang="en-US" dirty="0"/>
          </a:p>
        </p:txBody>
      </p:sp>
    </p:spTree>
    <p:extLst>
      <p:ext uri="{BB962C8B-B14F-4D97-AF65-F5344CB8AC3E}">
        <p14:creationId xmlns:p14="http://schemas.microsoft.com/office/powerpoint/2010/main" val="11535234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61799-64B7-BDA4-41AF-631B78BBB586}"/>
              </a:ext>
            </a:extLst>
          </p:cNvPr>
          <p:cNvSpPr>
            <a:spLocks noGrp="1"/>
          </p:cNvSpPr>
          <p:nvPr>
            <p:ph type="title"/>
          </p:nvPr>
        </p:nvSpPr>
        <p:spPr/>
        <p:txBody>
          <a:bodyPr/>
          <a:lstStyle/>
          <a:p>
            <a:r>
              <a:rPr lang="en-US" b="1" i="0" dirty="0">
                <a:effectLst/>
                <a:highlight>
                  <a:srgbClr val="FFFFFF"/>
                </a:highlight>
                <a:latin typeface="Söhne"/>
              </a:rPr>
              <a:t>Interface Segregation Principle (ISP)</a:t>
            </a:r>
            <a:r>
              <a:rPr lang="en-US" b="0" i="0" dirty="0">
                <a:solidFill>
                  <a:srgbClr val="9B9B9B"/>
                </a:solidFill>
                <a:effectLst/>
                <a:highlight>
                  <a:srgbClr val="FFFFFF"/>
                </a:highlight>
                <a:latin typeface="Söhne"/>
              </a:rPr>
              <a:t>:</a:t>
            </a:r>
            <a:endParaRPr lang="en-US" dirty="0"/>
          </a:p>
        </p:txBody>
      </p:sp>
      <p:sp>
        <p:nvSpPr>
          <p:cNvPr id="3" name="Content Placeholder 2">
            <a:extLst>
              <a:ext uri="{FF2B5EF4-FFF2-40B4-BE49-F238E27FC236}">
                <a16:creationId xmlns:a16="http://schemas.microsoft.com/office/drawing/2014/main" id="{9B7149E3-5AA5-E9D3-677A-C371D90581F5}"/>
              </a:ext>
            </a:extLst>
          </p:cNvPr>
          <p:cNvSpPr>
            <a:spLocks noGrp="1"/>
          </p:cNvSpPr>
          <p:nvPr>
            <p:ph idx="1"/>
          </p:nvPr>
        </p:nvSpPr>
        <p:spPr/>
        <p:txBody>
          <a:bodyPr/>
          <a:lstStyle/>
          <a:p>
            <a:pPr algn="l">
              <a:buFont typeface="Arial" panose="020B0604020202020204" pitchFamily="34" charset="0"/>
              <a:buChar char="•"/>
            </a:pPr>
            <a:r>
              <a:rPr lang="en-US" b="1" i="0" dirty="0">
                <a:effectLst/>
                <a:highlight>
                  <a:srgbClr val="FFFFFF"/>
                </a:highlight>
                <a:latin typeface="Söhne"/>
              </a:rPr>
              <a:t>Definition</a:t>
            </a:r>
            <a:r>
              <a:rPr lang="en-US" b="0" i="0" dirty="0">
                <a:effectLst/>
                <a:highlight>
                  <a:srgbClr val="FFFFFF"/>
                </a:highlight>
                <a:latin typeface="Söhne"/>
              </a:rPr>
              <a:t>: Clients should not be forced to depend on interfaces they do not use.</a:t>
            </a:r>
          </a:p>
          <a:p>
            <a:pPr algn="l">
              <a:buFont typeface="Arial" panose="020B0604020202020204" pitchFamily="34" charset="0"/>
              <a:buChar char="•"/>
            </a:pPr>
            <a:r>
              <a:rPr lang="en-US" b="1" i="0" dirty="0">
                <a:effectLst/>
                <a:highlight>
                  <a:srgbClr val="FFFFFF"/>
                </a:highlight>
                <a:latin typeface="Söhne"/>
              </a:rPr>
              <a:t>Benefit</a:t>
            </a:r>
            <a:r>
              <a:rPr lang="en-US" b="0" i="0" dirty="0">
                <a:effectLst/>
                <a:highlight>
                  <a:srgbClr val="FFFFFF"/>
                </a:highlight>
                <a:latin typeface="Söhne"/>
              </a:rPr>
              <a:t>: By creating more targeted interfaces, this principle prevents a class from being forced to implement methods it does not use, which promotes a cleaner, more orthogonal design.</a:t>
            </a:r>
          </a:p>
          <a:p>
            <a:endParaRPr lang="en-US" dirty="0"/>
          </a:p>
        </p:txBody>
      </p:sp>
    </p:spTree>
    <p:extLst>
      <p:ext uri="{BB962C8B-B14F-4D97-AF65-F5344CB8AC3E}">
        <p14:creationId xmlns:p14="http://schemas.microsoft.com/office/powerpoint/2010/main" val="1247428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41AAC-13CC-4681-661C-C875FA04C7FD}"/>
              </a:ext>
            </a:extLst>
          </p:cNvPr>
          <p:cNvSpPr>
            <a:spLocks noGrp="1"/>
          </p:cNvSpPr>
          <p:nvPr>
            <p:ph type="title"/>
          </p:nvPr>
        </p:nvSpPr>
        <p:spPr/>
        <p:txBody>
          <a:bodyPr/>
          <a:lstStyle/>
          <a:p>
            <a:r>
              <a:rPr lang="en-US" b="1" i="0" dirty="0">
                <a:effectLst/>
                <a:highlight>
                  <a:srgbClr val="FFFFFF"/>
                </a:highlight>
                <a:latin typeface="Söhne"/>
              </a:rPr>
              <a:t>Dependency Inversion Principle (DIP)</a:t>
            </a:r>
            <a:r>
              <a:rPr lang="en-US" b="0" i="0" dirty="0">
                <a:solidFill>
                  <a:srgbClr val="9B9B9B"/>
                </a:solidFill>
                <a:effectLst/>
                <a:highlight>
                  <a:srgbClr val="FFFFFF"/>
                </a:highlight>
                <a:latin typeface="Söhne"/>
              </a:rPr>
              <a:t>:</a:t>
            </a:r>
            <a:endParaRPr lang="en-US" dirty="0"/>
          </a:p>
        </p:txBody>
      </p:sp>
      <p:sp>
        <p:nvSpPr>
          <p:cNvPr id="3" name="Content Placeholder 2">
            <a:extLst>
              <a:ext uri="{FF2B5EF4-FFF2-40B4-BE49-F238E27FC236}">
                <a16:creationId xmlns:a16="http://schemas.microsoft.com/office/drawing/2014/main" id="{75BF0698-B17E-5C5B-437B-833C81AAA3FF}"/>
              </a:ext>
            </a:extLst>
          </p:cNvPr>
          <p:cNvSpPr>
            <a:spLocks noGrp="1"/>
          </p:cNvSpPr>
          <p:nvPr>
            <p:ph idx="1"/>
          </p:nvPr>
        </p:nvSpPr>
        <p:spPr/>
        <p:txBody>
          <a:bodyPr/>
          <a:lstStyle/>
          <a:p>
            <a:pPr algn="l">
              <a:buFont typeface="Arial" panose="020B0604020202020204" pitchFamily="34" charset="0"/>
              <a:buChar char="•"/>
            </a:pPr>
            <a:r>
              <a:rPr lang="en-US" b="1" i="0" dirty="0">
                <a:effectLst/>
                <a:highlight>
                  <a:srgbClr val="FFFFFF"/>
                </a:highlight>
                <a:latin typeface="Söhne"/>
              </a:rPr>
              <a:t>Definition</a:t>
            </a:r>
            <a:r>
              <a:rPr lang="en-US" b="0" i="0" dirty="0">
                <a:effectLst/>
                <a:highlight>
                  <a:srgbClr val="FFFFFF"/>
                </a:highlight>
                <a:latin typeface="Söhne"/>
              </a:rPr>
              <a:t>: High-level modules should not depend on low-level modules. Both should depend on abstractions (e.g., interfaces), not on concretions (e.g., classes).</a:t>
            </a:r>
          </a:p>
          <a:p>
            <a:pPr algn="l">
              <a:buFont typeface="Arial" panose="020B0604020202020204" pitchFamily="34" charset="0"/>
              <a:buChar char="•"/>
            </a:pPr>
            <a:r>
              <a:rPr lang="en-US" b="1" i="0" dirty="0">
                <a:effectLst/>
                <a:highlight>
                  <a:srgbClr val="FFFFFF"/>
                </a:highlight>
                <a:latin typeface="Söhne"/>
              </a:rPr>
              <a:t>Benefit</a:t>
            </a:r>
            <a:r>
              <a:rPr lang="en-US" b="0" i="0" dirty="0">
                <a:effectLst/>
                <a:highlight>
                  <a:srgbClr val="FFFFFF"/>
                </a:highlight>
                <a:latin typeface="Söhne"/>
              </a:rPr>
              <a:t>: Decoupling the high-level and low-level components of a system reduces direct dependencies, leading to more reusable and robust code architectures.</a:t>
            </a:r>
          </a:p>
          <a:p>
            <a:endParaRPr lang="en-US" dirty="0"/>
          </a:p>
        </p:txBody>
      </p:sp>
    </p:spTree>
    <p:extLst>
      <p:ext uri="{BB962C8B-B14F-4D97-AF65-F5344CB8AC3E}">
        <p14:creationId xmlns:p14="http://schemas.microsoft.com/office/powerpoint/2010/main" val="22496611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1093</TotalTime>
  <Words>774</Words>
  <Application>Microsoft Office PowerPoint</Application>
  <PresentationFormat>Widescreen</PresentationFormat>
  <Paragraphs>35</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Söhne</vt:lpstr>
      <vt:lpstr>Arial</vt:lpstr>
      <vt:lpstr>Calibri</vt:lpstr>
      <vt:lpstr>Calibri Light</vt:lpstr>
      <vt:lpstr>Office Theme</vt:lpstr>
      <vt:lpstr>The Decorator Pattern</vt:lpstr>
      <vt:lpstr>Single Responsibility Principle (SRP)</vt:lpstr>
      <vt:lpstr>The Decorator Pattern Concept</vt:lpstr>
      <vt:lpstr>Structure</vt:lpstr>
      <vt:lpstr>Conclusion</vt:lpstr>
      <vt:lpstr>SOLID Principles</vt:lpstr>
      <vt:lpstr>Single Responsibility Principle</vt:lpstr>
      <vt:lpstr>Open/Closed Principle (OCP):</vt:lpstr>
      <vt:lpstr>Liskov Substitution Principle (LSP):</vt:lpstr>
      <vt:lpstr>Interface Segregation Principle (ISP):</vt:lpstr>
      <vt:lpstr>Dependency Inversion Principle (DIP):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Decorator Pattern</dc:title>
  <dc:creator>Ben Chen</dc:creator>
  <cp:lastModifiedBy>Ben Chen</cp:lastModifiedBy>
  <cp:revision>6</cp:revision>
  <dcterms:created xsi:type="dcterms:W3CDTF">2024-04-16T20:40:37Z</dcterms:created>
  <dcterms:modified xsi:type="dcterms:W3CDTF">2024-04-17T15:35:28Z</dcterms:modified>
</cp:coreProperties>
</file>