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2"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7" autoAdjust="0"/>
    <p:restoredTop sz="94660"/>
  </p:normalViewPr>
  <p:slideViewPr>
    <p:cSldViewPr snapToGrid="0">
      <p:cViewPr varScale="1">
        <p:scale>
          <a:sx n="121" d="100"/>
          <a:sy n="121" d="100"/>
        </p:scale>
        <p:origin x="12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85050-5B65-43B7-8A58-2D47467920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2657DF-6E9F-4E9B-9435-F0661B14E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A36D99-F064-4AE1-97C9-BCEEB053C906}"/>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5" name="Footer Placeholder 4">
            <a:extLst>
              <a:ext uri="{FF2B5EF4-FFF2-40B4-BE49-F238E27FC236}">
                <a16:creationId xmlns:a16="http://schemas.microsoft.com/office/drawing/2014/main" id="{DE595D6E-894E-465D-9A8C-1DACE38BE7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DB341A-4A4E-4870-A623-B1068B94630E}"/>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2534567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4F9DD-82AF-47B3-81A9-D32BECD5DD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EBDCFB-884E-4A16-84F7-014F23D570B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97E71-B962-4CB8-A154-2F02A0694028}"/>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5" name="Footer Placeholder 4">
            <a:extLst>
              <a:ext uri="{FF2B5EF4-FFF2-40B4-BE49-F238E27FC236}">
                <a16:creationId xmlns:a16="http://schemas.microsoft.com/office/drawing/2014/main" id="{F09219B3-A228-4C46-8928-9F40F17DE8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CAEA6-EA4B-42E4-9B47-B977F5CE2B28}"/>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1757254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4051A-4C6F-4F31-8F2D-7AE3FED3EB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E18B02-5CA2-4156-B67A-9870B62A88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73CFB50-D217-48F7-96FF-746F70801678}"/>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5" name="Footer Placeholder 4">
            <a:extLst>
              <a:ext uri="{FF2B5EF4-FFF2-40B4-BE49-F238E27FC236}">
                <a16:creationId xmlns:a16="http://schemas.microsoft.com/office/drawing/2014/main" id="{F32101F4-6912-4477-84C8-D4797D6B47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B26169-83D1-4315-B39D-A3D92349D367}"/>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911110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6B5CF-E5D1-4660-BA18-ECAA2274B0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17322E-9395-48FC-8438-C8FAA64643A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BA27CB-9740-4F78-886F-EDCC26005BC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3F1119-ABC5-471D-9435-4B9A3C7604C8}"/>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6" name="Footer Placeholder 5">
            <a:extLst>
              <a:ext uri="{FF2B5EF4-FFF2-40B4-BE49-F238E27FC236}">
                <a16:creationId xmlns:a16="http://schemas.microsoft.com/office/drawing/2014/main" id="{11B116D3-8863-4B70-BC3B-A093750FE3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4BA680-BFA4-4E79-9B33-BF8EA2EA2895}"/>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2948995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2776A-D3CB-4EB9-A5F7-02C8126A56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9D08B4-E741-4837-B58F-9C791A8C42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989295D-4AEE-4924-9177-F5209D0094B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93E0FB-BF31-402F-896A-EA652BF5C6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62C2940-D18F-4B57-B96F-16D5BECCDCA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19CC0C-16CF-438E-94E1-7A104E138E45}"/>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8" name="Footer Placeholder 7">
            <a:extLst>
              <a:ext uri="{FF2B5EF4-FFF2-40B4-BE49-F238E27FC236}">
                <a16:creationId xmlns:a16="http://schemas.microsoft.com/office/drawing/2014/main" id="{21169E77-AF70-4D87-B071-1155564B80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FA3AD9-5F3E-4F9B-9AAD-6B18C54D54CE}"/>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3254636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46AA-8CA0-44F6-A8B1-17707D4049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C33FBE-BD96-4954-AC49-537BE91DCB82}"/>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4" name="Footer Placeholder 3">
            <a:extLst>
              <a:ext uri="{FF2B5EF4-FFF2-40B4-BE49-F238E27FC236}">
                <a16:creationId xmlns:a16="http://schemas.microsoft.com/office/drawing/2014/main" id="{C81B3ED7-90E5-4DB6-90B4-1B4FA71B29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49112F-3548-4D2E-9F70-CE49EFEA91D1}"/>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2523340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9C8A4-66E2-424E-9541-241E03E2F26C}"/>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3" name="Footer Placeholder 2">
            <a:extLst>
              <a:ext uri="{FF2B5EF4-FFF2-40B4-BE49-F238E27FC236}">
                <a16:creationId xmlns:a16="http://schemas.microsoft.com/office/drawing/2014/main" id="{F0647E0A-619C-455E-ABC6-50AB07B6A2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212D32-D84F-4D95-B0AD-EC2B0073B34B}"/>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3590158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B47CF-5D53-45BC-90CB-D02B4C0908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EABCF0-AF2A-46E3-8FBA-75617016D8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DC0238-0170-4158-9C45-76149F4321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B6A9BC5-2853-4D7B-BFF2-C67DE4F042BA}"/>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6" name="Footer Placeholder 5">
            <a:extLst>
              <a:ext uri="{FF2B5EF4-FFF2-40B4-BE49-F238E27FC236}">
                <a16:creationId xmlns:a16="http://schemas.microsoft.com/office/drawing/2014/main" id="{53EF1301-66EF-46E1-AE0B-4A7E3752CA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DCB3E6-D480-4C35-B409-1CCF01F76AC9}"/>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440539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E26D4-BE6F-4170-8F63-72C54D102B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0DC903-0CCA-4034-B5E3-D5EA966CA0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F6BC4A-4C98-45A4-8604-FD6D486B6D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C378C49-21B0-4AF8-8ABB-50763DBF116D}"/>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6" name="Footer Placeholder 5">
            <a:extLst>
              <a:ext uri="{FF2B5EF4-FFF2-40B4-BE49-F238E27FC236}">
                <a16:creationId xmlns:a16="http://schemas.microsoft.com/office/drawing/2014/main" id="{BBC91C11-33AC-4C5F-80A5-E49E4BD1A5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D40010-5FA7-4EAB-BD6A-858A654BE6E6}"/>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1384568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9FC3A-B8F9-4C38-8117-2976B26756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7F8F76-949E-4A47-BC79-1ED897998EF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CF743F-9833-4835-B3AA-9AC56C5CDAE9}"/>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5" name="Footer Placeholder 4">
            <a:extLst>
              <a:ext uri="{FF2B5EF4-FFF2-40B4-BE49-F238E27FC236}">
                <a16:creationId xmlns:a16="http://schemas.microsoft.com/office/drawing/2014/main" id="{4F42E745-5F58-4A86-93AE-452E87275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5BA1F-9915-423C-B2B0-26124C3992C4}"/>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2698082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08CD53-3F5C-4369-AA54-F706370416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F75FD4-90F1-4BCF-9F93-142BF7D7382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DF0D35-F5AE-4C46-99EE-795BF668A27B}"/>
              </a:ext>
            </a:extLst>
          </p:cNvPr>
          <p:cNvSpPr>
            <a:spLocks noGrp="1"/>
          </p:cNvSpPr>
          <p:nvPr>
            <p:ph type="dt" sz="half" idx="10"/>
          </p:nvPr>
        </p:nvSpPr>
        <p:spPr/>
        <p:txBody>
          <a:bodyPr/>
          <a:lstStyle/>
          <a:p>
            <a:fld id="{ED6F11AC-F923-4828-A617-B3EC7D5584C2}" type="datetimeFigureOut">
              <a:rPr lang="en-US" smtClean="0"/>
              <a:t>4/22/2024</a:t>
            </a:fld>
            <a:endParaRPr lang="en-US"/>
          </a:p>
        </p:txBody>
      </p:sp>
      <p:sp>
        <p:nvSpPr>
          <p:cNvPr id="5" name="Footer Placeholder 4">
            <a:extLst>
              <a:ext uri="{FF2B5EF4-FFF2-40B4-BE49-F238E27FC236}">
                <a16:creationId xmlns:a16="http://schemas.microsoft.com/office/drawing/2014/main" id="{6C7FCCEA-32A8-4172-95D1-B6FDC2043C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149AFF-5759-443D-A120-11F1300D336F}"/>
              </a:ext>
            </a:extLst>
          </p:cNvPr>
          <p:cNvSpPr>
            <a:spLocks noGrp="1"/>
          </p:cNvSpPr>
          <p:nvPr>
            <p:ph type="sldNum" sz="quarter" idx="12"/>
          </p:nvPr>
        </p:nvSpPr>
        <p:spPr/>
        <p:txBody>
          <a:bodyPr/>
          <a:lstStyle/>
          <a:p>
            <a:fld id="{16D36684-B41D-49EC-B366-A68D964CF747}" type="slidenum">
              <a:rPr lang="en-US" smtClean="0"/>
              <a:t>‹#›</a:t>
            </a:fld>
            <a:endParaRPr lang="en-US"/>
          </a:p>
        </p:txBody>
      </p:sp>
    </p:spTree>
    <p:extLst>
      <p:ext uri="{BB962C8B-B14F-4D97-AF65-F5344CB8AC3E}">
        <p14:creationId xmlns:p14="http://schemas.microsoft.com/office/powerpoint/2010/main" val="4020886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2E284F-3B92-4826-AA6D-5D16D2A621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0BC8A5-4E3A-465F-B719-ABBB8C889E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FDEDEF-5EA2-4392-A89E-44CE610935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6F11AC-F923-4828-A617-B3EC7D5584C2}" type="datetimeFigureOut">
              <a:rPr lang="en-US" smtClean="0"/>
              <a:t>4/22/2024</a:t>
            </a:fld>
            <a:endParaRPr lang="en-US"/>
          </a:p>
        </p:txBody>
      </p:sp>
      <p:sp>
        <p:nvSpPr>
          <p:cNvPr id="5" name="Footer Placeholder 4">
            <a:extLst>
              <a:ext uri="{FF2B5EF4-FFF2-40B4-BE49-F238E27FC236}">
                <a16:creationId xmlns:a16="http://schemas.microsoft.com/office/drawing/2014/main" id="{EEED9100-2F24-4466-86E7-737E4BD86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2A49C3-9C65-418F-AF52-9E4B9AC960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D36684-B41D-49EC-B366-A68D964CF747}" type="slidenum">
              <a:rPr lang="en-US" smtClean="0"/>
              <a:t>‹#›</a:t>
            </a:fld>
            <a:endParaRPr lang="en-US"/>
          </a:p>
        </p:txBody>
      </p:sp>
    </p:spTree>
    <p:extLst>
      <p:ext uri="{BB962C8B-B14F-4D97-AF65-F5344CB8AC3E}">
        <p14:creationId xmlns:p14="http://schemas.microsoft.com/office/powerpoint/2010/main" val="731110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A52E-AB66-4766-8187-E630ECC6A870}"/>
              </a:ext>
            </a:extLst>
          </p:cNvPr>
          <p:cNvSpPr>
            <a:spLocks noGrp="1"/>
          </p:cNvSpPr>
          <p:nvPr>
            <p:ph type="ctrTitle"/>
          </p:nvPr>
        </p:nvSpPr>
        <p:spPr/>
        <p:txBody>
          <a:bodyPr/>
          <a:lstStyle/>
          <a:p>
            <a:r>
              <a:rPr lang="en-US" dirty="0"/>
              <a:t>Strategy Design Pattern </a:t>
            </a:r>
          </a:p>
        </p:txBody>
      </p:sp>
      <p:sp>
        <p:nvSpPr>
          <p:cNvPr id="3" name="Subtitle 2">
            <a:extLst>
              <a:ext uri="{FF2B5EF4-FFF2-40B4-BE49-F238E27FC236}">
                <a16:creationId xmlns:a16="http://schemas.microsoft.com/office/drawing/2014/main" id="{2A0F9306-F900-4EE3-8881-078E8005FE20}"/>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806258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09B05-3853-455E-8034-663803644944}"/>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3C748958-1158-4F57-A5B4-BD628C294AB4}"/>
              </a:ext>
            </a:extLst>
          </p:cNvPr>
          <p:cNvSpPr>
            <a:spLocks noGrp="1"/>
          </p:cNvSpPr>
          <p:nvPr>
            <p:ph idx="1"/>
          </p:nvPr>
        </p:nvSpPr>
        <p:spPr/>
        <p:txBody>
          <a:bodyPr/>
          <a:lstStyle/>
          <a:p>
            <a:r>
              <a:rPr lang="en-US" dirty="0"/>
              <a:t>The Strategy Design Pattern is a behavioral design pattern that enables an object's behavior to be selected at runtime. It's particularly useful in scenarios where you need to dynamically switch between different algorithms or strategies in response to different conditions during the execution of a program.</a:t>
            </a:r>
          </a:p>
          <a:p>
            <a:r>
              <a:rPr lang="en-US" dirty="0"/>
              <a:t>Examples:</a:t>
            </a:r>
          </a:p>
          <a:p>
            <a:pPr lvl="1"/>
            <a:r>
              <a:rPr lang="en-US" dirty="0"/>
              <a:t>Different payment behaviors: </a:t>
            </a:r>
            <a:r>
              <a:rPr lang="en-US" dirty="0" err="1"/>
              <a:t>paypal</a:t>
            </a:r>
            <a:r>
              <a:rPr lang="en-US" dirty="0"/>
              <a:t>, </a:t>
            </a:r>
            <a:r>
              <a:rPr lang="en-US" dirty="0" err="1"/>
              <a:t>venmo</a:t>
            </a:r>
            <a:r>
              <a:rPr lang="en-US" dirty="0"/>
              <a:t>, </a:t>
            </a:r>
            <a:r>
              <a:rPr lang="en-US" dirty="0" err="1"/>
              <a:t>zelle</a:t>
            </a:r>
            <a:r>
              <a:rPr lang="en-US" dirty="0"/>
              <a:t>, check, cash, etc.</a:t>
            </a:r>
          </a:p>
          <a:p>
            <a:pPr lvl="1"/>
            <a:r>
              <a:rPr lang="en-US" dirty="0"/>
              <a:t>Different moving behaviors: fly, drive, walk, bike, </a:t>
            </a:r>
            <a:r>
              <a:rPr lang="en-US" dirty="0" err="1"/>
              <a:t>etc</a:t>
            </a:r>
            <a:endParaRPr lang="en-US" dirty="0"/>
          </a:p>
          <a:p>
            <a:pPr lvl="1"/>
            <a:r>
              <a:rPr lang="en-US" dirty="0"/>
              <a:t>Different sound-making behaviors: squeak, quack, twitter, tweet, cheep, chirp, shriek, hoot</a:t>
            </a:r>
          </a:p>
          <a:p>
            <a:pPr marL="0" indent="0">
              <a:buNone/>
            </a:pPr>
            <a:endParaRPr lang="en-US" dirty="0"/>
          </a:p>
        </p:txBody>
      </p:sp>
    </p:spTree>
    <p:extLst>
      <p:ext uri="{BB962C8B-B14F-4D97-AF65-F5344CB8AC3E}">
        <p14:creationId xmlns:p14="http://schemas.microsoft.com/office/powerpoint/2010/main" val="1376488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BD14-16A3-4354-ABE5-E61F195FA504}"/>
              </a:ext>
            </a:extLst>
          </p:cNvPr>
          <p:cNvSpPr>
            <a:spLocks noGrp="1"/>
          </p:cNvSpPr>
          <p:nvPr>
            <p:ph type="title"/>
          </p:nvPr>
        </p:nvSpPr>
        <p:spPr/>
        <p:txBody>
          <a:bodyPr/>
          <a:lstStyle/>
          <a:p>
            <a:r>
              <a:rPr lang="en-US" dirty="0"/>
              <a:t>Key Components</a:t>
            </a:r>
          </a:p>
        </p:txBody>
      </p:sp>
      <p:sp>
        <p:nvSpPr>
          <p:cNvPr id="3" name="Content Placeholder 2">
            <a:extLst>
              <a:ext uri="{FF2B5EF4-FFF2-40B4-BE49-F238E27FC236}">
                <a16:creationId xmlns:a16="http://schemas.microsoft.com/office/drawing/2014/main" id="{5194AF63-9EF0-4B2E-82A3-86BA0540CDC6}"/>
              </a:ext>
            </a:extLst>
          </p:cNvPr>
          <p:cNvSpPr>
            <a:spLocks noGrp="1"/>
          </p:cNvSpPr>
          <p:nvPr>
            <p:ph idx="1"/>
          </p:nvPr>
        </p:nvSpPr>
        <p:spPr/>
        <p:txBody>
          <a:bodyPr/>
          <a:lstStyle/>
          <a:p>
            <a:r>
              <a:rPr lang="en-US" b="1" dirty="0"/>
              <a:t>Context</a:t>
            </a:r>
            <a:r>
              <a:rPr lang="en-US" dirty="0"/>
              <a:t>: This is the class that has a reference to a Strategy object. It is configured with a </a:t>
            </a:r>
            <a:r>
              <a:rPr lang="en-US" dirty="0" err="1"/>
              <a:t>ConcreteStrategy</a:t>
            </a:r>
            <a:r>
              <a:rPr lang="en-US" dirty="0"/>
              <a:t> object and may define an interface that lets the Strategy access its data.</a:t>
            </a:r>
          </a:p>
          <a:p>
            <a:r>
              <a:rPr lang="en-US" b="1" dirty="0"/>
              <a:t>Strategy Interface</a:t>
            </a:r>
            <a:r>
              <a:rPr lang="en-US" dirty="0"/>
              <a:t>: This interface defines a common operation for all supported algorithms. It is used by the Context object to call the algorithm defined by a </a:t>
            </a:r>
            <a:r>
              <a:rPr lang="en-US" dirty="0" err="1"/>
              <a:t>ConcreteStrategy</a:t>
            </a:r>
            <a:r>
              <a:rPr lang="en-US" dirty="0"/>
              <a:t>.</a:t>
            </a:r>
          </a:p>
          <a:p>
            <a:r>
              <a:rPr lang="en-US" b="1" dirty="0"/>
              <a:t>Concrete Strategies</a:t>
            </a:r>
            <a:r>
              <a:rPr lang="en-US" dirty="0"/>
              <a:t>: These are classes that implement the Strategy interface, each providing a different implementation of the interface method. These classes encapsulate specific algorithms or behaviors.</a:t>
            </a:r>
          </a:p>
          <a:p>
            <a:endParaRPr lang="en-US" dirty="0"/>
          </a:p>
        </p:txBody>
      </p:sp>
    </p:spTree>
    <p:extLst>
      <p:ext uri="{BB962C8B-B14F-4D97-AF65-F5344CB8AC3E}">
        <p14:creationId xmlns:p14="http://schemas.microsoft.com/office/powerpoint/2010/main" val="779996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097DB-A6E8-4B83-88BB-8A0C40A81768}"/>
              </a:ext>
            </a:extLst>
          </p:cNvPr>
          <p:cNvSpPr>
            <a:spLocks noGrp="1"/>
          </p:cNvSpPr>
          <p:nvPr>
            <p:ph type="title"/>
          </p:nvPr>
        </p:nvSpPr>
        <p:spPr/>
        <p:txBody>
          <a:bodyPr/>
          <a:lstStyle/>
          <a:p>
            <a:r>
              <a:rPr lang="en-US" dirty="0"/>
              <a:t>How it works</a:t>
            </a:r>
          </a:p>
        </p:txBody>
      </p:sp>
      <p:sp>
        <p:nvSpPr>
          <p:cNvPr id="3" name="Content Placeholder 2">
            <a:extLst>
              <a:ext uri="{FF2B5EF4-FFF2-40B4-BE49-F238E27FC236}">
                <a16:creationId xmlns:a16="http://schemas.microsoft.com/office/drawing/2014/main" id="{11B0D1A9-DF7F-404A-BB6D-6D9A23CA843A}"/>
              </a:ext>
            </a:extLst>
          </p:cNvPr>
          <p:cNvSpPr>
            <a:spLocks noGrp="1"/>
          </p:cNvSpPr>
          <p:nvPr>
            <p:ph idx="1"/>
          </p:nvPr>
        </p:nvSpPr>
        <p:spPr/>
        <p:txBody>
          <a:bodyPr>
            <a:normAutofit lnSpcReduction="10000"/>
          </a:bodyPr>
          <a:lstStyle/>
          <a:p>
            <a:r>
              <a:rPr lang="en-US" b="1" dirty="0"/>
              <a:t>Decoupling</a:t>
            </a:r>
            <a:r>
              <a:rPr lang="en-US" dirty="0"/>
              <a:t>: The pattern decouples the algorithm from where it is used. This separation of concerns makes managing changes easier, as you can modify or extend algorithms without altering the clients that use them.</a:t>
            </a:r>
          </a:p>
          <a:p>
            <a:r>
              <a:rPr lang="en-US" b="1" dirty="0"/>
              <a:t>Switching Strategies</a:t>
            </a:r>
            <a:r>
              <a:rPr lang="en-US" dirty="0"/>
              <a:t>: The Context class can change its Strategy object as needed at runtime, allowing different algorithms or behaviors to be chosen dynamically based on the situation.</a:t>
            </a:r>
          </a:p>
          <a:p>
            <a:r>
              <a:rPr lang="en-US" b="1" dirty="0"/>
              <a:t>Ease of Extension</a:t>
            </a:r>
            <a:r>
              <a:rPr lang="en-US" dirty="0"/>
              <a:t>: New strategies can easily be added and used by the Context without any changes to its code. This adheres to the "open/closed principle" which states that software entities should be open for extension, but closed for modification.</a:t>
            </a:r>
          </a:p>
          <a:p>
            <a:endParaRPr lang="en-US" dirty="0"/>
          </a:p>
        </p:txBody>
      </p:sp>
    </p:spTree>
    <p:extLst>
      <p:ext uri="{BB962C8B-B14F-4D97-AF65-F5344CB8AC3E}">
        <p14:creationId xmlns:p14="http://schemas.microsoft.com/office/powerpoint/2010/main" val="706468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0A3D-14B3-4BEF-A1DD-21AC9FAC333F}"/>
              </a:ext>
            </a:extLst>
          </p:cNvPr>
          <p:cNvSpPr>
            <a:spLocks noGrp="1"/>
          </p:cNvSpPr>
          <p:nvPr>
            <p:ph type="title"/>
          </p:nvPr>
        </p:nvSpPr>
        <p:spPr/>
        <p:txBody>
          <a:bodyPr/>
          <a:lstStyle/>
          <a:p>
            <a:r>
              <a:rPr lang="en-US" dirty="0"/>
              <a:t>An Implementation Example</a:t>
            </a:r>
          </a:p>
        </p:txBody>
      </p:sp>
      <p:sp>
        <p:nvSpPr>
          <p:cNvPr id="3" name="Content Placeholder 2">
            <a:extLst>
              <a:ext uri="{FF2B5EF4-FFF2-40B4-BE49-F238E27FC236}">
                <a16:creationId xmlns:a16="http://schemas.microsoft.com/office/drawing/2014/main" id="{4F933B4D-9960-4863-B178-A82AAB115B81}"/>
              </a:ext>
            </a:extLst>
          </p:cNvPr>
          <p:cNvSpPr>
            <a:spLocks noGrp="1"/>
          </p:cNvSpPr>
          <p:nvPr>
            <p:ph idx="1"/>
          </p:nvPr>
        </p:nvSpPr>
        <p:spPr/>
        <p:txBody>
          <a:bodyPr/>
          <a:lstStyle/>
          <a:p>
            <a:r>
              <a:rPr lang="en-US" dirty="0"/>
              <a:t>Consider a simple example where a ‘</a:t>
            </a:r>
            <a:r>
              <a:rPr lang="en-US" dirty="0" err="1"/>
              <a:t>PaymentContext</a:t>
            </a:r>
            <a:r>
              <a:rPr lang="en-US" dirty="0"/>
              <a:t>’ class uses different payment strategies (like PayPal, Credit Card, or Cryptocurrency) to handle a transaction</a:t>
            </a:r>
          </a:p>
        </p:txBody>
      </p:sp>
    </p:spTree>
    <p:extLst>
      <p:ext uri="{BB962C8B-B14F-4D97-AF65-F5344CB8AC3E}">
        <p14:creationId xmlns:p14="http://schemas.microsoft.com/office/powerpoint/2010/main" val="2451792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15542-C179-4900-ABE6-7084D14404A2}"/>
              </a:ext>
            </a:extLst>
          </p:cNvPr>
          <p:cNvSpPr>
            <a:spLocks noGrp="1"/>
          </p:cNvSpPr>
          <p:nvPr>
            <p:ph type="title"/>
          </p:nvPr>
        </p:nvSpPr>
        <p:spPr/>
        <p:txBody>
          <a:bodyPr/>
          <a:lstStyle/>
          <a:p>
            <a:r>
              <a:rPr lang="en-US" dirty="0" err="1"/>
              <a:t>PaymentContext</a:t>
            </a:r>
            <a:r>
              <a:rPr lang="en-US" dirty="0"/>
              <a:t> class:</a:t>
            </a:r>
          </a:p>
        </p:txBody>
      </p:sp>
      <p:sp>
        <p:nvSpPr>
          <p:cNvPr id="3" name="Content Placeholder 2">
            <a:extLst>
              <a:ext uri="{FF2B5EF4-FFF2-40B4-BE49-F238E27FC236}">
                <a16:creationId xmlns:a16="http://schemas.microsoft.com/office/drawing/2014/main" id="{30E8D4D1-B5D3-4AC2-90CD-D3D3E6DA9A37}"/>
              </a:ext>
            </a:extLst>
          </p:cNvPr>
          <p:cNvSpPr>
            <a:spLocks noGrp="1"/>
          </p:cNvSpPr>
          <p:nvPr>
            <p:ph idx="1"/>
          </p:nvPr>
        </p:nvSpPr>
        <p:spPr>
          <a:xfrm>
            <a:off x="838200" y="1347952"/>
            <a:ext cx="10515600" cy="4829011"/>
          </a:xfrm>
        </p:spPr>
        <p:txBody>
          <a:bodyPr>
            <a:normAutofit fontScale="92500" lnSpcReduction="20000"/>
          </a:bodyPr>
          <a:lstStyle/>
          <a:p>
            <a:pPr marL="0" indent="0">
              <a:spcBef>
                <a:spcPts val="0"/>
              </a:spcBef>
              <a:buNone/>
            </a:pPr>
            <a:r>
              <a:rPr lang="en-US" dirty="0"/>
              <a:t>// Context</a:t>
            </a:r>
          </a:p>
          <a:p>
            <a:pPr marL="0" indent="0">
              <a:spcBef>
                <a:spcPts val="0"/>
              </a:spcBef>
              <a:buNone/>
            </a:pPr>
            <a:endParaRPr lang="en-US" dirty="0"/>
          </a:p>
          <a:p>
            <a:pPr marL="0" indent="0">
              <a:spcBef>
                <a:spcPts val="0"/>
              </a:spcBef>
              <a:buNone/>
            </a:pPr>
            <a:r>
              <a:rPr lang="en-US" dirty="0"/>
              <a:t>public class </a:t>
            </a:r>
            <a:r>
              <a:rPr lang="en-US" dirty="0" err="1"/>
              <a:t>PaymentContext</a:t>
            </a:r>
            <a:r>
              <a:rPr lang="en-US" dirty="0"/>
              <a:t> {</a:t>
            </a:r>
          </a:p>
          <a:p>
            <a:pPr marL="0" indent="0">
              <a:spcBef>
                <a:spcPts val="0"/>
              </a:spcBef>
              <a:buNone/>
            </a:pPr>
            <a:r>
              <a:rPr lang="en-US" dirty="0"/>
              <a:t>    private </a:t>
            </a:r>
            <a:r>
              <a:rPr lang="en-US" dirty="0" err="1"/>
              <a:t>PaymentStrategy</a:t>
            </a:r>
            <a:r>
              <a:rPr lang="en-US" dirty="0"/>
              <a:t> strategy;</a:t>
            </a:r>
          </a:p>
          <a:p>
            <a:pPr marL="0" indent="0">
              <a:spcBef>
                <a:spcPts val="0"/>
              </a:spcBef>
              <a:buNone/>
            </a:pPr>
            <a:endParaRPr lang="en-US" dirty="0"/>
          </a:p>
          <a:p>
            <a:pPr marL="0" indent="0">
              <a:spcBef>
                <a:spcPts val="0"/>
              </a:spcBef>
              <a:buNone/>
            </a:pPr>
            <a:r>
              <a:rPr lang="en-US" dirty="0"/>
              <a:t>    public </a:t>
            </a:r>
            <a:r>
              <a:rPr lang="en-US" dirty="0" err="1"/>
              <a:t>PaymentContext</a:t>
            </a:r>
            <a:r>
              <a:rPr lang="en-US" dirty="0"/>
              <a:t>(</a:t>
            </a:r>
            <a:r>
              <a:rPr lang="en-US" dirty="0" err="1"/>
              <a:t>PaymentStrategy</a:t>
            </a:r>
            <a:r>
              <a:rPr lang="en-US" dirty="0"/>
              <a:t> strategy) {</a:t>
            </a:r>
          </a:p>
          <a:p>
            <a:pPr marL="0" indent="0">
              <a:spcBef>
                <a:spcPts val="0"/>
              </a:spcBef>
              <a:buNone/>
            </a:pPr>
            <a:r>
              <a:rPr lang="en-US" dirty="0"/>
              <a:t>        </a:t>
            </a:r>
            <a:r>
              <a:rPr lang="en-US" dirty="0" err="1"/>
              <a:t>this.strategy</a:t>
            </a:r>
            <a:r>
              <a:rPr lang="en-US" dirty="0"/>
              <a:t> = strategy;</a:t>
            </a:r>
          </a:p>
          <a:p>
            <a:pPr marL="0" indent="0">
              <a:spcBef>
                <a:spcPts val="0"/>
              </a:spcBef>
              <a:buNone/>
            </a:pPr>
            <a:r>
              <a:rPr lang="en-US" dirty="0"/>
              <a:t>    }</a:t>
            </a:r>
          </a:p>
          <a:p>
            <a:pPr marL="0" indent="0">
              <a:spcBef>
                <a:spcPts val="0"/>
              </a:spcBef>
              <a:buNone/>
            </a:pPr>
            <a:endParaRPr lang="en-US" dirty="0"/>
          </a:p>
          <a:p>
            <a:pPr marL="0" indent="0">
              <a:spcBef>
                <a:spcPts val="0"/>
              </a:spcBef>
              <a:buNone/>
            </a:pPr>
            <a:r>
              <a:rPr lang="en-US" dirty="0"/>
              <a:t>    public void </a:t>
            </a:r>
            <a:r>
              <a:rPr lang="en-US" dirty="0" err="1"/>
              <a:t>executePayment</a:t>
            </a:r>
            <a:r>
              <a:rPr lang="en-US" dirty="0"/>
              <a:t>(int amount) {</a:t>
            </a:r>
          </a:p>
          <a:p>
            <a:pPr marL="0" indent="0">
              <a:spcBef>
                <a:spcPts val="0"/>
              </a:spcBef>
              <a:buNone/>
            </a:pPr>
            <a:r>
              <a:rPr lang="en-US" dirty="0"/>
              <a:t>        </a:t>
            </a:r>
            <a:r>
              <a:rPr lang="en-US" dirty="0" err="1"/>
              <a:t>strategy.pay</a:t>
            </a:r>
            <a:r>
              <a:rPr lang="en-US" dirty="0"/>
              <a:t>(amount);</a:t>
            </a:r>
          </a:p>
          <a:p>
            <a:pPr marL="0" indent="0">
              <a:spcBef>
                <a:spcPts val="0"/>
              </a:spcBef>
              <a:buNone/>
            </a:pPr>
            <a:r>
              <a:rPr lang="en-US" dirty="0"/>
              <a:t>    }</a:t>
            </a:r>
          </a:p>
          <a:p>
            <a:pPr marL="0" indent="0">
              <a:spcBef>
                <a:spcPts val="0"/>
              </a:spcBef>
              <a:buNone/>
            </a:pPr>
            <a:endParaRPr lang="en-US" dirty="0"/>
          </a:p>
          <a:p>
            <a:pPr marL="0" indent="0">
              <a:spcBef>
                <a:spcPts val="0"/>
              </a:spcBef>
              <a:buNone/>
            </a:pPr>
            <a:r>
              <a:rPr lang="en-US" dirty="0"/>
              <a:t>    public void </a:t>
            </a:r>
            <a:r>
              <a:rPr lang="en-US" dirty="0" err="1"/>
              <a:t>setPaymentStrategy</a:t>
            </a:r>
            <a:r>
              <a:rPr lang="en-US" dirty="0"/>
              <a:t>(</a:t>
            </a:r>
            <a:r>
              <a:rPr lang="en-US" dirty="0" err="1"/>
              <a:t>PaymentStrategy</a:t>
            </a:r>
            <a:r>
              <a:rPr lang="en-US" dirty="0"/>
              <a:t> strategy) {</a:t>
            </a:r>
          </a:p>
          <a:p>
            <a:pPr marL="0" indent="0">
              <a:spcBef>
                <a:spcPts val="0"/>
              </a:spcBef>
              <a:buNone/>
            </a:pPr>
            <a:r>
              <a:rPr lang="en-US" dirty="0"/>
              <a:t>        </a:t>
            </a:r>
            <a:r>
              <a:rPr lang="en-US" dirty="0" err="1"/>
              <a:t>this.strategy</a:t>
            </a:r>
            <a:r>
              <a:rPr lang="en-US" dirty="0"/>
              <a:t> = strategy;</a:t>
            </a:r>
          </a:p>
          <a:p>
            <a:pPr marL="0" indent="0">
              <a:spcBef>
                <a:spcPts val="0"/>
              </a:spcBef>
              <a:buNone/>
            </a:pPr>
            <a:r>
              <a:rPr lang="en-US" dirty="0"/>
              <a:t>    }</a:t>
            </a:r>
          </a:p>
          <a:p>
            <a:pPr marL="0" indent="0">
              <a:spcBef>
                <a:spcPts val="0"/>
              </a:spcBef>
              <a:buNone/>
            </a:pPr>
            <a:r>
              <a:rPr lang="en-US" dirty="0"/>
              <a:t>}</a:t>
            </a:r>
          </a:p>
        </p:txBody>
      </p:sp>
    </p:spTree>
    <p:extLst>
      <p:ext uri="{BB962C8B-B14F-4D97-AF65-F5344CB8AC3E}">
        <p14:creationId xmlns:p14="http://schemas.microsoft.com/office/powerpoint/2010/main" val="2322726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2AACF-D0D3-4D03-BAC0-22A1A959AB07}"/>
              </a:ext>
            </a:extLst>
          </p:cNvPr>
          <p:cNvSpPr>
            <a:spLocks noGrp="1"/>
          </p:cNvSpPr>
          <p:nvPr>
            <p:ph type="title"/>
          </p:nvPr>
        </p:nvSpPr>
        <p:spPr/>
        <p:txBody>
          <a:bodyPr/>
          <a:lstStyle/>
          <a:p>
            <a:r>
              <a:rPr lang="en-US" dirty="0"/>
              <a:t>Strategy Interface</a:t>
            </a:r>
          </a:p>
        </p:txBody>
      </p:sp>
      <p:sp>
        <p:nvSpPr>
          <p:cNvPr id="3" name="Content Placeholder 2">
            <a:extLst>
              <a:ext uri="{FF2B5EF4-FFF2-40B4-BE49-F238E27FC236}">
                <a16:creationId xmlns:a16="http://schemas.microsoft.com/office/drawing/2014/main" id="{F82073A0-DD36-48D3-966E-6FBA7A587165}"/>
              </a:ext>
            </a:extLst>
          </p:cNvPr>
          <p:cNvSpPr>
            <a:spLocks noGrp="1"/>
          </p:cNvSpPr>
          <p:nvPr>
            <p:ph idx="1"/>
          </p:nvPr>
        </p:nvSpPr>
        <p:spPr/>
        <p:txBody>
          <a:bodyPr>
            <a:normAutofit/>
          </a:bodyPr>
          <a:lstStyle/>
          <a:p>
            <a:pPr marL="0" indent="0">
              <a:buNone/>
            </a:pPr>
            <a:r>
              <a:rPr lang="en-US" dirty="0"/>
              <a:t>// Strategy Interface</a:t>
            </a:r>
          </a:p>
          <a:p>
            <a:pPr marL="0" indent="0">
              <a:buNone/>
            </a:pPr>
            <a:r>
              <a:rPr lang="en-US" dirty="0"/>
              <a:t>public interface </a:t>
            </a:r>
            <a:r>
              <a:rPr lang="en-US" dirty="0" err="1"/>
              <a:t>PaymentStrategy</a:t>
            </a:r>
            <a:r>
              <a:rPr lang="en-US" dirty="0"/>
              <a:t> {</a:t>
            </a:r>
          </a:p>
          <a:p>
            <a:pPr marL="0" indent="0">
              <a:buNone/>
            </a:pPr>
            <a:r>
              <a:rPr lang="en-US" dirty="0"/>
              <a:t>    void pay(int amount);</a:t>
            </a:r>
          </a:p>
          <a:p>
            <a:pPr marL="0" indent="0">
              <a:buNone/>
            </a:pPr>
            <a:r>
              <a:rPr lang="en-US" dirty="0"/>
              <a:t>}</a:t>
            </a:r>
          </a:p>
          <a:p>
            <a:endParaRPr lang="en-US" dirty="0"/>
          </a:p>
        </p:txBody>
      </p:sp>
    </p:spTree>
    <p:extLst>
      <p:ext uri="{BB962C8B-B14F-4D97-AF65-F5344CB8AC3E}">
        <p14:creationId xmlns:p14="http://schemas.microsoft.com/office/powerpoint/2010/main" val="2986577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BD77A-AF42-4E48-AA09-464CC79E2FAD}"/>
              </a:ext>
            </a:extLst>
          </p:cNvPr>
          <p:cNvSpPr>
            <a:spLocks noGrp="1"/>
          </p:cNvSpPr>
          <p:nvPr>
            <p:ph type="title"/>
          </p:nvPr>
        </p:nvSpPr>
        <p:spPr>
          <a:xfrm>
            <a:off x="838200" y="365126"/>
            <a:ext cx="10515600" cy="1061654"/>
          </a:xfrm>
        </p:spPr>
        <p:txBody>
          <a:bodyPr/>
          <a:lstStyle/>
          <a:p>
            <a:r>
              <a:rPr lang="en-US" dirty="0"/>
              <a:t>Concrete Strategies:</a:t>
            </a:r>
          </a:p>
        </p:txBody>
      </p:sp>
      <p:sp>
        <p:nvSpPr>
          <p:cNvPr id="3" name="Content Placeholder 2">
            <a:extLst>
              <a:ext uri="{FF2B5EF4-FFF2-40B4-BE49-F238E27FC236}">
                <a16:creationId xmlns:a16="http://schemas.microsoft.com/office/drawing/2014/main" id="{F521F033-BEEE-412D-B607-B206D3A65930}"/>
              </a:ext>
            </a:extLst>
          </p:cNvPr>
          <p:cNvSpPr>
            <a:spLocks noGrp="1"/>
          </p:cNvSpPr>
          <p:nvPr>
            <p:ph idx="1"/>
          </p:nvPr>
        </p:nvSpPr>
        <p:spPr>
          <a:xfrm>
            <a:off x="838200" y="1529255"/>
            <a:ext cx="10515600" cy="5068614"/>
          </a:xfrm>
        </p:spPr>
        <p:txBody>
          <a:bodyPr>
            <a:normAutofit fontScale="85000" lnSpcReduction="20000"/>
          </a:bodyPr>
          <a:lstStyle/>
          <a:p>
            <a:pPr marL="0" indent="0">
              <a:buNone/>
            </a:pPr>
            <a:endParaRPr lang="en-US" dirty="0"/>
          </a:p>
          <a:p>
            <a:pPr marL="0" indent="0">
              <a:spcBef>
                <a:spcPts val="0"/>
              </a:spcBef>
              <a:buNone/>
            </a:pPr>
            <a:r>
              <a:rPr lang="en-US" dirty="0"/>
              <a:t>// Concrete Strategies</a:t>
            </a:r>
          </a:p>
          <a:p>
            <a:pPr marL="0" indent="0">
              <a:spcBef>
                <a:spcPts val="0"/>
              </a:spcBef>
              <a:buNone/>
            </a:pPr>
            <a:r>
              <a:rPr lang="en-US" dirty="0"/>
              <a:t>public class </a:t>
            </a:r>
            <a:r>
              <a:rPr lang="en-US" dirty="0" err="1"/>
              <a:t>PayPalStrategy</a:t>
            </a:r>
            <a:r>
              <a:rPr lang="en-US" dirty="0"/>
              <a:t> implements </a:t>
            </a:r>
            <a:r>
              <a:rPr lang="en-US" dirty="0" err="1"/>
              <a:t>PaymentStrategy</a:t>
            </a:r>
            <a:r>
              <a:rPr lang="en-US" dirty="0"/>
              <a:t> {</a:t>
            </a:r>
          </a:p>
          <a:p>
            <a:pPr marL="0" indent="0">
              <a:spcBef>
                <a:spcPts val="0"/>
              </a:spcBef>
              <a:buNone/>
            </a:pPr>
            <a:r>
              <a:rPr lang="en-US" dirty="0"/>
              <a:t>    public void pay(int amount) {</a:t>
            </a:r>
          </a:p>
          <a:p>
            <a:pPr marL="0" indent="0">
              <a:spcBef>
                <a:spcPts val="0"/>
              </a:spcBef>
              <a:buNone/>
            </a:pPr>
            <a:r>
              <a:rPr lang="en-US" dirty="0"/>
              <a:t>        </a:t>
            </a:r>
            <a:r>
              <a:rPr lang="en-US" dirty="0" err="1"/>
              <a:t>System.out.println</a:t>
            </a:r>
            <a:r>
              <a:rPr lang="en-US" dirty="0"/>
              <a:t>("Paying " + amount + " using PayPal.");</a:t>
            </a:r>
          </a:p>
          <a:p>
            <a:pPr marL="0" indent="0">
              <a:spcBef>
                <a:spcPts val="0"/>
              </a:spcBef>
              <a:buNone/>
            </a:pPr>
            <a:r>
              <a:rPr lang="en-US" dirty="0"/>
              <a:t>    }</a:t>
            </a:r>
          </a:p>
          <a:p>
            <a:pPr marL="0" indent="0">
              <a:spcBef>
                <a:spcPts val="0"/>
              </a:spcBef>
              <a:buNone/>
            </a:pPr>
            <a:r>
              <a:rPr lang="en-US" dirty="0"/>
              <a:t>}</a:t>
            </a:r>
          </a:p>
          <a:p>
            <a:pPr marL="0" indent="0">
              <a:spcBef>
                <a:spcPts val="0"/>
              </a:spcBef>
              <a:buNone/>
            </a:pPr>
            <a:endParaRPr lang="en-US" dirty="0"/>
          </a:p>
          <a:p>
            <a:pPr marL="0" indent="0">
              <a:spcBef>
                <a:spcPts val="0"/>
              </a:spcBef>
              <a:buNone/>
            </a:pPr>
            <a:r>
              <a:rPr lang="en-US" dirty="0"/>
              <a:t>public class </a:t>
            </a:r>
            <a:r>
              <a:rPr lang="en-US" dirty="0" err="1"/>
              <a:t>CreditCardStrategy</a:t>
            </a:r>
            <a:r>
              <a:rPr lang="en-US" dirty="0"/>
              <a:t> implements </a:t>
            </a:r>
            <a:r>
              <a:rPr lang="en-US" dirty="0" err="1"/>
              <a:t>PaymentStrategy</a:t>
            </a:r>
            <a:r>
              <a:rPr lang="en-US" dirty="0"/>
              <a:t> {</a:t>
            </a:r>
          </a:p>
          <a:p>
            <a:pPr marL="0" indent="0">
              <a:spcBef>
                <a:spcPts val="0"/>
              </a:spcBef>
              <a:buNone/>
            </a:pPr>
            <a:r>
              <a:rPr lang="en-US" dirty="0"/>
              <a:t>    public void pay(int amount) {</a:t>
            </a:r>
          </a:p>
          <a:p>
            <a:pPr marL="0" indent="0">
              <a:spcBef>
                <a:spcPts val="0"/>
              </a:spcBef>
              <a:buNone/>
            </a:pPr>
            <a:r>
              <a:rPr lang="en-US" dirty="0"/>
              <a:t>        </a:t>
            </a:r>
            <a:r>
              <a:rPr lang="en-US" dirty="0" err="1"/>
              <a:t>System.out.println</a:t>
            </a:r>
            <a:r>
              <a:rPr lang="en-US" dirty="0"/>
              <a:t>("Paying " + amount + " using Credit Card.");</a:t>
            </a:r>
          </a:p>
          <a:p>
            <a:pPr marL="0" indent="0">
              <a:spcBef>
                <a:spcPts val="0"/>
              </a:spcBef>
              <a:buNone/>
            </a:pPr>
            <a:r>
              <a:rPr lang="en-US" dirty="0"/>
              <a:t>    }</a:t>
            </a:r>
          </a:p>
          <a:p>
            <a:pPr marL="0" indent="0">
              <a:spcBef>
                <a:spcPts val="0"/>
              </a:spcBef>
              <a:buNone/>
            </a:pPr>
            <a:r>
              <a:rPr lang="en-US" dirty="0"/>
              <a:t>}</a:t>
            </a:r>
          </a:p>
          <a:p>
            <a:pPr marL="0" indent="0">
              <a:spcBef>
                <a:spcPts val="0"/>
              </a:spcBef>
              <a:buNone/>
            </a:pPr>
            <a:endParaRPr lang="en-US" dirty="0"/>
          </a:p>
          <a:p>
            <a:pPr marL="0" indent="0">
              <a:spcBef>
                <a:spcPts val="0"/>
              </a:spcBef>
              <a:buNone/>
            </a:pPr>
            <a:r>
              <a:rPr lang="en-US" dirty="0"/>
              <a:t>public class </a:t>
            </a:r>
            <a:r>
              <a:rPr lang="en-US" dirty="0" err="1"/>
              <a:t>CryptoStrategy</a:t>
            </a:r>
            <a:r>
              <a:rPr lang="en-US" dirty="0"/>
              <a:t> implements </a:t>
            </a:r>
            <a:r>
              <a:rPr lang="en-US" dirty="0" err="1"/>
              <a:t>PaymentStrategy</a:t>
            </a:r>
            <a:r>
              <a:rPr lang="en-US" dirty="0"/>
              <a:t> {</a:t>
            </a:r>
          </a:p>
          <a:p>
            <a:pPr marL="0" indent="0">
              <a:spcBef>
                <a:spcPts val="0"/>
              </a:spcBef>
              <a:buNone/>
            </a:pPr>
            <a:r>
              <a:rPr lang="en-US" dirty="0"/>
              <a:t>    public void pay(int amount) {</a:t>
            </a:r>
          </a:p>
          <a:p>
            <a:pPr marL="0" indent="0">
              <a:spcBef>
                <a:spcPts val="0"/>
              </a:spcBef>
              <a:buNone/>
            </a:pPr>
            <a:r>
              <a:rPr lang="en-US" dirty="0"/>
              <a:t>        </a:t>
            </a:r>
            <a:r>
              <a:rPr lang="en-US" dirty="0" err="1"/>
              <a:t>System.out.println</a:t>
            </a:r>
            <a:r>
              <a:rPr lang="en-US" dirty="0"/>
              <a:t>("Paying " + amount + " using Cryptocurrency.");</a:t>
            </a:r>
          </a:p>
          <a:p>
            <a:pPr marL="0" indent="0">
              <a:spcBef>
                <a:spcPts val="0"/>
              </a:spcBef>
              <a:buNone/>
            </a:pPr>
            <a:r>
              <a:rPr lang="en-US" dirty="0"/>
              <a:t>    }</a:t>
            </a:r>
          </a:p>
          <a:p>
            <a:pPr marL="0" indent="0">
              <a:spcBef>
                <a:spcPts val="0"/>
              </a:spcBef>
              <a:buNone/>
            </a:pPr>
            <a:r>
              <a:rPr lang="en-US" dirty="0"/>
              <a:t>}</a:t>
            </a:r>
          </a:p>
          <a:p>
            <a:endParaRPr lang="en-US" dirty="0"/>
          </a:p>
        </p:txBody>
      </p:sp>
    </p:spTree>
    <p:extLst>
      <p:ext uri="{BB962C8B-B14F-4D97-AF65-F5344CB8AC3E}">
        <p14:creationId xmlns:p14="http://schemas.microsoft.com/office/powerpoint/2010/main" val="1052241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3DB3C-DF40-4D08-84B3-701F77FAE699}"/>
              </a:ext>
            </a:extLst>
          </p:cNvPr>
          <p:cNvSpPr>
            <a:spLocks noGrp="1"/>
          </p:cNvSpPr>
          <p:nvPr>
            <p:ph type="title"/>
          </p:nvPr>
        </p:nvSpPr>
        <p:spPr/>
        <p:txBody>
          <a:bodyPr/>
          <a:lstStyle/>
          <a:p>
            <a:r>
              <a:rPr lang="en-US" dirty="0"/>
              <a:t>Main class:</a:t>
            </a:r>
          </a:p>
        </p:txBody>
      </p:sp>
      <p:sp>
        <p:nvSpPr>
          <p:cNvPr id="3" name="Content Placeholder 2">
            <a:extLst>
              <a:ext uri="{FF2B5EF4-FFF2-40B4-BE49-F238E27FC236}">
                <a16:creationId xmlns:a16="http://schemas.microsoft.com/office/drawing/2014/main" id="{4EECFA67-35D4-401E-8E12-BFF77F86BCE4}"/>
              </a:ext>
            </a:extLst>
          </p:cNvPr>
          <p:cNvSpPr>
            <a:spLocks noGrp="1"/>
          </p:cNvSpPr>
          <p:nvPr>
            <p:ph idx="1"/>
          </p:nvPr>
        </p:nvSpPr>
        <p:spPr>
          <a:xfrm>
            <a:off x="838200" y="1481959"/>
            <a:ext cx="10515600" cy="4695004"/>
          </a:xfrm>
        </p:spPr>
        <p:txBody>
          <a:bodyPr>
            <a:normAutofit fontScale="85000" lnSpcReduction="20000"/>
          </a:bodyPr>
          <a:lstStyle/>
          <a:p>
            <a:pPr marL="0" indent="0">
              <a:buNone/>
            </a:pPr>
            <a:r>
              <a:rPr lang="en-US" dirty="0"/>
              <a:t>// Usage</a:t>
            </a:r>
          </a:p>
          <a:p>
            <a:pPr marL="0" indent="0">
              <a:buNone/>
            </a:pPr>
            <a:endParaRPr lang="en-US" dirty="0"/>
          </a:p>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PaymentContext</a:t>
            </a:r>
            <a:r>
              <a:rPr lang="en-US" dirty="0"/>
              <a:t> context = new </a:t>
            </a:r>
            <a:r>
              <a:rPr lang="en-US" dirty="0" err="1"/>
              <a:t>PaymentContext</a:t>
            </a:r>
            <a:r>
              <a:rPr lang="en-US" dirty="0"/>
              <a:t>(new </a:t>
            </a:r>
            <a:r>
              <a:rPr lang="en-US" dirty="0" err="1"/>
              <a:t>PayPalStrategy</a:t>
            </a:r>
            <a:r>
              <a:rPr lang="en-US" dirty="0"/>
              <a:t>());</a:t>
            </a:r>
          </a:p>
          <a:p>
            <a:pPr marL="0" indent="0">
              <a:buNone/>
            </a:pPr>
            <a:r>
              <a:rPr lang="en-US" dirty="0"/>
              <a:t>        </a:t>
            </a:r>
            <a:r>
              <a:rPr lang="en-US" dirty="0" err="1"/>
              <a:t>context.executePayment</a:t>
            </a:r>
            <a:r>
              <a:rPr lang="en-US" dirty="0"/>
              <a:t>(500);</a:t>
            </a:r>
          </a:p>
          <a:p>
            <a:pPr marL="0" indent="0">
              <a:buNone/>
            </a:pPr>
            <a:endParaRPr lang="en-US" dirty="0"/>
          </a:p>
          <a:p>
            <a:pPr marL="0" indent="0">
              <a:buNone/>
            </a:pPr>
            <a:r>
              <a:rPr lang="en-US" dirty="0"/>
              <a:t>        // Change strategy dynamically</a:t>
            </a:r>
          </a:p>
          <a:p>
            <a:pPr marL="0" indent="0">
              <a:buNone/>
            </a:pPr>
            <a:r>
              <a:rPr lang="en-US" dirty="0"/>
              <a:t>        </a:t>
            </a:r>
            <a:r>
              <a:rPr lang="en-US" dirty="0" err="1"/>
              <a:t>context.setPaymentStrategy</a:t>
            </a:r>
            <a:r>
              <a:rPr lang="en-US" dirty="0"/>
              <a:t>(new </a:t>
            </a:r>
            <a:r>
              <a:rPr lang="en-US" dirty="0" err="1"/>
              <a:t>CreditCardStrategy</a:t>
            </a:r>
            <a:r>
              <a:rPr lang="en-US" dirty="0"/>
              <a:t>());</a:t>
            </a:r>
          </a:p>
          <a:p>
            <a:pPr marL="0" indent="0">
              <a:buNone/>
            </a:pPr>
            <a:r>
              <a:rPr lang="en-US" dirty="0"/>
              <a:t>        </a:t>
            </a:r>
            <a:r>
              <a:rPr lang="en-US" dirty="0" err="1"/>
              <a:t>context.executePayment</a:t>
            </a:r>
            <a:r>
              <a:rPr lang="en-US" dirty="0"/>
              <a:t>(300);</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3096686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C0F9-4872-456F-A391-189B9D7C729A}"/>
              </a:ext>
            </a:extLst>
          </p:cNvPr>
          <p:cNvSpPr>
            <a:spLocks noGrp="1"/>
          </p:cNvSpPr>
          <p:nvPr>
            <p:ph type="title"/>
          </p:nvPr>
        </p:nvSpPr>
        <p:spPr/>
        <p:txBody>
          <a:bodyPr/>
          <a:lstStyle/>
          <a:p>
            <a:r>
              <a:rPr lang="en-US" dirty="0"/>
              <a:t>Benefits</a:t>
            </a:r>
          </a:p>
        </p:txBody>
      </p:sp>
      <p:sp>
        <p:nvSpPr>
          <p:cNvPr id="3" name="Content Placeholder 2">
            <a:extLst>
              <a:ext uri="{FF2B5EF4-FFF2-40B4-BE49-F238E27FC236}">
                <a16:creationId xmlns:a16="http://schemas.microsoft.com/office/drawing/2014/main" id="{B01F6003-C51B-433F-8C30-9DEABF281CE1}"/>
              </a:ext>
            </a:extLst>
          </p:cNvPr>
          <p:cNvSpPr>
            <a:spLocks noGrp="1"/>
          </p:cNvSpPr>
          <p:nvPr>
            <p:ph idx="1"/>
          </p:nvPr>
        </p:nvSpPr>
        <p:spPr/>
        <p:txBody>
          <a:bodyPr/>
          <a:lstStyle/>
          <a:p>
            <a:r>
              <a:rPr lang="en-US" dirty="0"/>
              <a:t>Flexibility: It provides a way to configure a class with one of many behaviors.</a:t>
            </a:r>
          </a:p>
          <a:p>
            <a:r>
              <a:rPr lang="en-US" dirty="0"/>
              <a:t>Scalability: New behavior can be added without disturbing existing behavior by simply adding new strategies.</a:t>
            </a:r>
          </a:p>
          <a:p>
            <a:r>
              <a:rPr lang="en-US" dirty="0"/>
              <a:t>Isolation: It isolates the concrete implementations of algorithms from the code that uses them, which helps in managing complexity, especially in large applications or frameworks.</a:t>
            </a:r>
          </a:p>
        </p:txBody>
      </p:sp>
    </p:spTree>
    <p:extLst>
      <p:ext uri="{BB962C8B-B14F-4D97-AF65-F5344CB8AC3E}">
        <p14:creationId xmlns:p14="http://schemas.microsoft.com/office/powerpoint/2010/main" val="2389660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BA8A-06FB-400C-B362-3CE01CB65C3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6E4F8FC-669A-4792-85FA-5C5704A34FE6}"/>
              </a:ext>
            </a:extLst>
          </p:cNvPr>
          <p:cNvSpPr>
            <a:spLocks noGrp="1"/>
          </p:cNvSpPr>
          <p:nvPr>
            <p:ph idx="1"/>
          </p:nvPr>
        </p:nvSpPr>
        <p:spPr/>
        <p:txBody>
          <a:bodyPr/>
          <a:lstStyle/>
          <a:p>
            <a:r>
              <a:rPr lang="en-US" dirty="0"/>
              <a:t>The Strategy Pattern is ideal for situations where multiple classes differ only in their behavior. It allows you to configure a class with one of many behaviors, and change the behavior at runtime as needed.</a:t>
            </a:r>
          </a:p>
        </p:txBody>
      </p:sp>
    </p:spTree>
    <p:extLst>
      <p:ext uri="{BB962C8B-B14F-4D97-AF65-F5344CB8AC3E}">
        <p14:creationId xmlns:p14="http://schemas.microsoft.com/office/powerpoint/2010/main" val="2722654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706</Words>
  <Application>Microsoft Office PowerPoint</Application>
  <PresentationFormat>Widescreen</PresentationFormat>
  <Paragraphs>79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Strategy Design Pattern </vt:lpstr>
      <vt:lpstr>Definition:</vt:lpstr>
      <vt:lpstr>Key Components</vt:lpstr>
      <vt:lpstr>How it works</vt:lpstr>
      <vt:lpstr>An Implementation Example</vt:lpstr>
      <vt:lpstr>PaymentContext class:</vt:lpstr>
      <vt:lpstr>Strategy Interface</vt:lpstr>
      <vt:lpstr>Concrete Strategies:</vt:lpstr>
      <vt:lpstr>Main class:</vt:lpstr>
      <vt:lpstr>Benefits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Strategy Design Pattern</dc:title>
  <dc:creator>Ben Chen</dc:creator>
  <cp:lastModifiedBy>Ben Chen</cp:lastModifiedBy>
  <cp:revision>7</cp:revision>
  <dcterms:created xsi:type="dcterms:W3CDTF">2024-04-22T13:20:34Z</dcterms:created>
  <dcterms:modified xsi:type="dcterms:W3CDTF">2024-04-22T13:52:55Z</dcterms:modified>
</cp:coreProperties>
</file>